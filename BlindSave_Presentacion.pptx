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45d696eaf24362" /><Relationship Type="http://schemas.openxmlformats.org/officeDocument/2006/relationships/extended-properties" Target="/docProps/app.xml" Id="R963ac8a6be964137" /><Relationship Type="http://schemas.openxmlformats.org/officeDocument/2006/relationships/officeDocument" Target="/ppt/presentation.xml" Id="Rf45c892bb9f24c03" /></Relationships>
</file>

<file path=ppt/presentation.xml><?xml version="1.0" encoding="utf-8"?>
<p:presentation xmlns:p="http://schemas.openxmlformats.org/presentationml/2006/main">
  <p:sldMasterIdLst>
    <p:sldMasterId xmlns:r="http://schemas.openxmlformats.org/officeDocument/2006/relationships" id="2147483648" r:id="R6f0674d7135a4a96"/>
  </p:sldMasterIdLst>
  <p:notesMasterIdLst>
    <p:notesMasterId xmlns:r="http://schemas.openxmlformats.org/officeDocument/2006/relationships" r:id="Rceacb6e7106d43ee"/>
  </p:notesMasterIdLst>
  <p:sldIdLst>
    <p:sldId xmlns:r="http://schemas.openxmlformats.org/officeDocument/2006/relationships" id="256" r:id="R8c916507c3da4119"/>
    <p:sldId xmlns:r="http://schemas.openxmlformats.org/officeDocument/2006/relationships" id="257" r:id="R816f0decd3284b03"/>
    <p:sldId xmlns:r="http://schemas.openxmlformats.org/officeDocument/2006/relationships" id="258" r:id="Rb795841916054596"/>
    <p:sldId xmlns:r="http://schemas.openxmlformats.org/officeDocument/2006/relationships" id="259" r:id="R3828a8ebcc2d4d64"/>
    <p:sldId xmlns:r="http://schemas.openxmlformats.org/officeDocument/2006/relationships" id="260" r:id="Rc2c9aa05ded24bac"/>
    <p:sldId xmlns:r="http://schemas.openxmlformats.org/officeDocument/2006/relationships" id="261" r:id="R2aac6b64621f4cdf"/>
    <p:sldId xmlns:r="http://schemas.openxmlformats.org/officeDocument/2006/relationships" id="262" r:id="R2045dcb3c3234a40"/>
    <p:sldId xmlns:r="http://schemas.openxmlformats.org/officeDocument/2006/relationships" id="263" r:id="Rc6f0057b7e754116"/>
    <p:sldId xmlns:r="http://schemas.openxmlformats.org/officeDocument/2006/relationships" id="264" r:id="Rddcd7e6d89a643ec"/>
    <p:sldId xmlns:r="http://schemas.openxmlformats.org/officeDocument/2006/relationships" id="265" r:id="R036a2f9217b84645"/>
    <p:sldId xmlns:r="http://schemas.openxmlformats.org/officeDocument/2006/relationships" id="266" r:id="Re9975325efc44be2"/>
    <p:sldId xmlns:r="http://schemas.openxmlformats.org/officeDocument/2006/relationships" id="267" r:id="Ra94ba83cff5646d6"/>
    <p:sldId xmlns:r="http://schemas.openxmlformats.org/officeDocument/2006/relationships" id="268" r:id="R640609ba4a104e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5bde89f9e04f32" /><Relationship Type="http://schemas.openxmlformats.org/officeDocument/2006/relationships/slideMaster" Target="/ppt/slideMasters/slideMaster1.xml" Id="R6f0674d7135a4a96" /><Relationship Type="http://schemas.openxmlformats.org/officeDocument/2006/relationships/notesMaster" Target="/ppt/notesMasters/notesMaster1.xml" Id="Rceacb6e7106d43ee" /><Relationship Type="http://schemas.openxmlformats.org/officeDocument/2006/relationships/presProps" Target="/ppt/presProps.xml" Id="R4af8e99a4b2545e3" /><Relationship Type="http://schemas.openxmlformats.org/officeDocument/2006/relationships/tableStyles" Target="/ppt/tableStyles.xml" Id="Ra498afb9386a458c" /><Relationship Type="http://schemas.openxmlformats.org/officeDocument/2006/relationships/slide" Target="/ppt/slides/slide1.xml" Id="R8c916507c3da4119" /><Relationship Type="http://schemas.openxmlformats.org/officeDocument/2006/relationships/slide" Target="/ppt/slides/slide2.xml" Id="R816f0decd3284b03" /><Relationship Type="http://schemas.openxmlformats.org/officeDocument/2006/relationships/slide" Target="/ppt/slides/slide3.xml" Id="Rb795841916054596" /><Relationship Type="http://schemas.openxmlformats.org/officeDocument/2006/relationships/slide" Target="/ppt/slides/slide4.xml" Id="R3828a8ebcc2d4d64" /><Relationship Type="http://schemas.openxmlformats.org/officeDocument/2006/relationships/slide" Target="/ppt/slides/slide5.xml" Id="Rc2c9aa05ded24bac" /><Relationship Type="http://schemas.openxmlformats.org/officeDocument/2006/relationships/slide" Target="/ppt/slides/slide6.xml" Id="R2aac6b64621f4cdf" /><Relationship Type="http://schemas.openxmlformats.org/officeDocument/2006/relationships/slide" Target="/ppt/slides/slide7.xml" Id="R2045dcb3c3234a40" /><Relationship Type="http://schemas.openxmlformats.org/officeDocument/2006/relationships/slide" Target="/ppt/slides/slide8.xml" Id="Rc6f0057b7e754116" /><Relationship Type="http://schemas.openxmlformats.org/officeDocument/2006/relationships/slide" Target="/ppt/slides/slide9.xml" Id="Rddcd7e6d89a643ec" /><Relationship Type="http://schemas.openxmlformats.org/officeDocument/2006/relationships/slide" Target="/ppt/slides/slide10.xml" Id="R036a2f9217b84645" /><Relationship Type="http://schemas.openxmlformats.org/officeDocument/2006/relationships/slide" Target="/ppt/slides/slide11.xml" Id="Re9975325efc44be2" /><Relationship Type="http://schemas.openxmlformats.org/officeDocument/2006/relationships/slide" Target="/ppt/slides/slide12.xml" Id="Ra94ba83cff5646d6" /><Relationship Type="http://schemas.openxmlformats.org/officeDocument/2006/relationships/slide" Target="/ppt/slides/slide13.xml" Id="R640609ba4a104e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4689d7846148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3f689143e848b4" /><Relationship Type="http://schemas.openxmlformats.org/officeDocument/2006/relationships/notesMaster" Target="/ppt/notesMasters/notesMaster1.xml" Id="Re454c3d0ef1f45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ea0677b92445c2" /><Relationship Type="http://schemas.openxmlformats.org/officeDocument/2006/relationships/notesMaster" Target="/ppt/notesMasters/notesMaster1.xml" Id="R59a744c310dc46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ba484791d4432e" /><Relationship Type="http://schemas.openxmlformats.org/officeDocument/2006/relationships/notesMaster" Target="/ppt/notesMasters/notesMaster1.xml" Id="Rbddff341ac1f4e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33b274661d4f29" /><Relationship Type="http://schemas.openxmlformats.org/officeDocument/2006/relationships/notesMaster" Target="/ppt/notesMasters/notesMaster1.xml" Id="R20c4e3d024c945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178c4b20df4339" /><Relationship Type="http://schemas.openxmlformats.org/officeDocument/2006/relationships/notesMaster" Target="/ppt/notesMasters/notesMaster1.xml" Id="Raa38fca0c89d4d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6d227df3444112" /><Relationship Type="http://schemas.openxmlformats.org/officeDocument/2006/relationships/notesMaster" Target="/ppt/notesMasters/notesMaster1.xml" Id="R2d42459b9be440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14f1274f7d4955" /><Relationship Type="http://schemas.openxmlformats.org/officeDocument/2006/relationships/notesMaster" Target="/ppt/notesMasters/notesMaster1.xml" Id="R6d20c0906b4743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155989e4444502" /><Relationship Type="http://schemas.openxmlformats.org/officeDocument/2006/relationships/notesMaster" Target="/ppt/notesMasters/notesMaster1.xml" Id="R528f0fd5513942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d82181a55643aa" /><Relationship Type="http://schemas.openxmlformats.org/officeDocument/2006/relationships/notesMaster" Target="/ppt/notesMasters/notesMaster1.xml" Id="Rd8d390cd341c45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f8d00a3b1043bb" /><Relationship Type="http://schemas.openxmlformats.org/officeDocument/2006/relationships/notesMaster" Target="/ppt/notesMasters/notesMaster1.xml" Id="R0e595036035e44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095aa1b6af492f" /><Relationship Type="http://schemas.openxmlformats.org/officeDocument/2006/relationships/notesMaster" Target="/ppt/notesMasters/notesMaster1.xml" Id="Rc8551b240262443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c9483a921540f4" /><Relationship Type="http://schemas.openxmlformats.org/officeDocument/2006/relationships/notesMaster" Target="/ppt/notesMasters/notesMaster1.xml" Id="R526adc286a7d4f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e309d431ee43fe" /><Relationship Type="http://schemas.openxmlformats.org/officeDocument/2006/relationships/notesMaster" Target="/ppt/notesMasters/notesMaster1.xml" Id="R92ba6aae483e43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BlindSave es una aplicación para comparar el coste eléctrico según el consumo de cada hogar. La motivación del proyecto combina utilidad cotidiana y privacidad. En esta presentación explico qué hace la primera versión, cómo calcula y qué posibilidades abre. La demostración utiliza ofertas ficticias, no tarifas reales contratables. Fuente: propuesta del proyecto aportada por el autor 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tarifa aparentemente barata puede perder su ventaja al sumar la potencia y las cuotas obligatorias. Además, el coste depende de cuándo se consume electricidad. BlindSave aborda esa comparación desde un conjunto reducido de datos. La propuesta también evita pedir una factura completa, que puede contener identificadores ajenos al cálculo. Fuente: propuesta original y definición funcional de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elegido este proyecto porque permite aplicar la ingeniería a un problema cotidiano: entender si los gastos fijos pueden reducirse. Mi objetivo es ofrecer una comparación que el usuario pueda comprobar y diseñar el flujo para solicitar únicamente los datos necesarios. Además, el proyecto permite construir una aplicación completa con interfaz, lógica de negocio, backend y pruebas. Fuente: especificación proporcionada por el autor.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captura corresponde a la aplicación implementada. El usuario introduce consumos y precios o utiliza un CSV compatible. El panel calcula una referencia de coste y ordena alternativas por coste anual, con desglose de energía, potencia y cuotas. También muestra la permanencia y el reparto del consumo. La primera versión cubre electricidad 2.0TD para Península y Baleares, hasta 15 kW, con tarifas de precio fijo. La captura utiliza datos y ofertas ficticios. Fuentes: src/App.tsx, src/lib/demo.ts y captura local de la aplicación.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recorrido exige cuatro acciones comprensibles. Primero se aportan consumos anuales por periodo o un CSV horario adaptado a la plantilla. Después se añaden las dos potencias contratadas y los precios actuales. El motor compara todas las ofertas válidas del catálogo. Finalmente, el usuario consulta las condiciones y toma su decisión. La aplicación no tramita contratos. Para CSV exige entre 28 y 366 días completos y valida estructura, huecos, duplicados y cambios de hora. Los periodos cortos se extrapolan a 365 días, con advertencia de estacionalidad. Fuentes: src/App.tsx y src/lib/csv.ts.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reproducible con 3.500 kWh al año y potencias de 4,6 kW en ambos periodos. La referencia cuesta 826,78 euros anuales. La alternativa ficticia Equilibrio 24h cuesta 601,90 euros. La diferencia es 224,88 euros al año, aproximadamente el 27,2 %. No es una promesa ni un ahorro observado en clientes. Son precios ficticios de la demostración. Las cifras excluyen impuestos, alquiler del contador y penalizaciones de salida. Fuentes: src/lib/demo.ts, supabase/functions/_shared/engine.ts y tests/engine.test.ts.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expresión Zero-PII describe el objetivo de minimizar los datos del flujo de consumo. La app valida el CSV localmente y rechaza columnas desconocidas. El backend recibe solo totales numéricos, potencias y precios. No se guardan archivos ni análisis del consumidor. Esto no significa que el servicio no procese ningún dato personal: Auth mantiene una identidad anónima y la infraestructura puede generar IP y logs técnicos. El proyecto debe configurar su retención y controles operativos antes de abrirse al público. Fuentes: docs/ARCHITECTURE.md, src/lib/csv.ts y supabase/functions/analyze/handler.ts.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frontend usa React y TypeScript, con Vite para construir la aplicación. La sesión anónima evita pedir un email para comparar. La Edge Function valida el JWT, limita el tamaño de las peticiones y ejecuta el mismo motor de cálculo que la demo local. Postgres contiene el catálogo del mercado. Las políticas RLS permiten leer únicamente ofertas revisadas y vigentes y evitan que los clientes cambien precios. El código ya está preparado, pero el proyecto remoto y sus controles operativos todavía necesitan configuración. Supabase aloja el backend y el frontend compilado requiere alojamiento estático. Fuentes: supabase/config.toml, supabase/migrations/202610040001_initial_market.sql y docs/DEPLOYMENT.md.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clasificación se basa en una fórmula determinista, compartida por navegador y backend. La energía suma los kWh de cada periodo multiplicados por su precio. La potencia suma los dos términos contratados por sus precios diarios y por 365. Las cuotas mensuales obligatorias se multiplican por doce. La diferencia respecto al coste reconstruido del contrato actual es el ahorro potencial. Se mantiene la precisión interna y se redondea para presentar. Solo se comparan precios fijos garantizados durante al menos 12 meses. No se calcula PVPC, indexadas, autoconsumo o promociones variables. Un consumo horario medio tampoco permite inferir picos de potencia. Fuente: supabase/functions/_shared/engine.ts 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una fase futura. La primera versión no incorpora un LLM ni un chatbot. La propuesta utiliza la IA para extraer precios y condiciones de webs y documentos públicos, almacenar evidencia y preparar borradores que deben revisarse. Un asistente podría responder preguntas como si una tarifa tiene permanencia citando la fuente contractual. La base de documentos con pgvector está preparada, pero la extracción, la generación de embeddings y la recuperación con respuestas citadas todavía deben implementarse. El consumo del usuario permanece separado de esas consultas. Fuentes: docs/ROADMAP.md y tabla market_documents de la migración inicial.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arquitectura permite ampliar la propuesta, pero cada servicio necesita su propio esquema de datos, catálogo y lógica. Para telecomunicaciones importan las líneas, los GB, la fibra y el coste al terminar una promoción. Para gas hacen falta el peaje RL y el consumo. Las suscripciones pueden empezar con selección manual de servicios e importes, evitando CSV bancarios. También se contempla guardar análisis de forma opcional con consentimiento y permisos por propietario. Ninguna de estas funciones forma parte del comparador actual. Son posibilidades de evolución, no servicios disponibles ni previsiones de ingresos. Fuentes: propuesta original y docs/ROADMAP.md.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aplicación ya permite introducir datos, analizar un CSV y ver resultados en escritorio o móvil. El trabajo incluye pruebas del motor, importador, políticas SQL y flujos de interfaz, así como validación de la función. Esta evidencia no sustituye la comprobación contra el proyecto Supabase de destino. El siguiente hito es conectar ese proyecto, publicar ofertas reales verificadas, configurar dominio y HTTPS, CAPTCHA y retención. Después debe probarse el recorrido de extremo a extremo. La demo actual utiliza tarifas ficticias y no debe presentarse como un catálogo comercial. Fuentes: README.md, docs/DEPLOYMENT.md, tests/ y resultados de pruebas de la implementación.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valor de BlindSave consiste en que una persona pueda entender qué paga y comparar alternativas de forma comprobable, con un flujo que solicita pocos datos. La primera versión concentra el esfuerzo en electricidad para validar ese recorrido. La visión posterior es ampliar el mismo criterio a otros gastos fijos y añadir inteligencia sobre el mercado con fuentes. El siguiente paso concreto es pasar de la demostración al catálogo real y contrastar la experiencia con usuarios. Fuente: síntesis de la propuesta original, README.md y docs/ROADMAP.md.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af168ccf694e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2d9025b16b4c1d" /><Relationship Type="http://schemas.openxmlformats.org/officeDocument/2006/relationships/slideLayout" Target="/ppt/slideLayouts/slideLayout1.xml" Id="R228261b1988149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8261b1988149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0cb14b9ac743c0" /><Relationship Type="http://schemas.openxmlformats.org/officeDocument/2006/relationships/notesSlide" Target="/ppt/notesSlides/notesSlide1.xml" Id="Rae1b902a55cc43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d517b4edf2438c" /><Relationship Type="http://schemas.openxmlformats.org/officeDocument/2006/relationships/notesSlide" Target="/ppt/notesSlides/notesSlide2.xml" Id="R426030a3f87946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ff370b4a414579" /><Relationship Type="http://schemas.openxmlformats.org/officeDocument/2006/relationships/notesSlide" Target="/ppt/notesSlides/notesSlide3.xml" Id="Rf15fbbf50bc647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ef4ad6bf6a42a8" /><Relationship Type="http://schemas.openxmlformats.org/officeDocument/2006/relationships/image" Target="/ppt/media/image.png" Id="R59e0a57fc9364838" /><Relationship Type="http://schemas.openxmlformats.org/officeDocument/2006/relationships/notesSlide" Target="/ppt/notesSlides/notesSlide4.xml" Id="Rd989ab036c5a48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a0e64fe9a334a73" /><Relationship Type="http://schemas.openxmlformats.org/officeDocument/2006/relationships/notesSlide" Target="/ppt/notesSlides/notesSlide5.xml" Id="R7b1fc8942ddf4e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4823efd61e42e5" /><Relationship Type="http://schemas.openxmlformats.org/officeDocument/2006/relationships/chart" Target="/ppt/slides/charts/chart1.xml" Id="R10c00bfaadc3483a" /><Relationship Type="http://schemas.openxmlformats.org/officeDocument/2006/relationships/notesSlide" Target="/ppt/notesSlides/notesSlide6.xml" Id="Rc918349da4db4c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67eb8a35784f95" /><Relationship Type="http://schemas.openxmlformats.org/officeDocument/2006/relationships/notesSlide" Target="/ppt/notesSlides/notesSlide7.xml" Id="R481cfaedec194a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2ae554755a40ff" /><Relationship Type="http://schemas.openxmlformats.org/officeDocument/2006/relationships/notesSlide" Target="/ppt/notesSlides/notesSlide8.xml" Id="Rad7c941ff1654d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2226a35ba8b46cb" /><Relationship Type="http://schemas.openxmlformats.org/officeDocument/2006/relationships/notesSlide" Target="/ppt/notesSlides/notesSlide9.xml" Id="Ra3374ce5e4094d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7b62f87a624d33" /><Relationship Type="http://schemas.openxmlformats.org/officeDocument/2006/relationships/notesSlide" Target="/ppt/notesSlides/notesSlide10.xml" Id="R7b0a2ce9cf534b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af63abe84d46c3" /><Relationship Type="http://schemas.openxmlformats.org/officeDocument/2006/relationships/notesSlide" Target="/ppt/notesSlides/notesSlide11.xml" Id="R4ce584853e0442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6d81fb2bcf04dbb" /><Relationship Type="http://schemas.openxmlformats.org/officeDocument/2006/relationships/notesSlide" Target="/ppt/notesSlides/notesSlide12.xml" Id="Rf7d02b73ceb2464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b63bb82274f4a20" /><Relationship Type="http://schemas.openxmlformats.org/officeDocument/2006/relationships/notesSlide" Target="/ppt/notesSlides/notesSlide13.xml" Id="Rb8e82bda7aa44cdc" /></Relationships>
</file>

<file path=ppt/slides/charts/chart1.xml><?xml version="1.0" encoding="utf-8"?>
<c:chartSpace xmlns:c="http://schemas.openxmlformats.org/drawingml/2006/chart">
  <c:lang val="en-US"/>
  <c:chart>
    <c:plotArea>
      <c:barChart>
        <c:barDir val="col"/>
        <c:grouping val="clustered"/>
        <c:varyColors val="0"/>
        <c:ser>
          <c:idx val="0"/>
          <c:order val="0"/>
          <c:tx>
            <c:v>Coste anual (€)</c:v>
          </c:tx>
          <c:spPr>
            <a:solidFill xmlns:a="http://schemas.openxmlformats.org/drawingml/2006/main">
              <a:srgbClr val="476C54"/>
            </a:solidFill>
          </c:spPr>
          <c:dPt>
            <c:idx val="0"/>
            <c:invertIfNegative val="0"/>
            <c:spPr>
              <a:solidFill xmlns:a="http://schemas.openxmlformats.org/drawingml/2006/main">
                <a:srgbClr val="95AA93"/>
              </a:solidFill>
            </c:spPr>
          </c:dPt>
          <c:dPt>
            <c:idx val="1"/>
            <c:invertIfNegative val="0"/>
            <c:spPr>
              <a:solidFill xmlns:a="http://schemas.openxmlformats.org/drawingml/2006/main">
                <a:srgbClr val="244E3C"/>
              </a:solidFill>
            </c:spPr>
          </c:dPt>
          <c:dLbls>
            <c:dLbl>
              <c:idx val="0"/>
              <c:tx>
                <c:rich>
                  <a:bodyPr xmlns:a="http://schemas.openxmlformats.org/drawingml/2006/main"/>
                  <a:lstStyle xmlns:a="http://schemas.openxmlformats.org/drawingml/2006/main"/>
                  <a:p xmlns:a="http://schemas.openxmlformats.org/drawingml/2006/main">
                    <a:r>
                      <a:rPr sz="1950" b="1">
                        <a:solidFill>
                          <a:srgbClr val="203B30"/>
                        </a:solidFill>
                        <a:latin typeface="Arial"/>
                        <a:ea typeface="Arial"/>
                        <a:cs typeface="Arial"/>
                      </a:rPr>
                      <a:t>826,78 €</a:t>
                    </a:r>
                  </a:p>
                </c:rich>
              </c:tx>
              <c:txPr>
                <a:bodyPr xmlns:a="http://schemas.openxmlformats.org/drawingml/2006/main" anchorCtr="1"/>
                <a:lstStyle xmlns:a="http://schemas.openxmlformats.org/drawingml/2006/main"/>
                <a:p xmlns:a="http://schemas.openxmlformats.org/drawingml/2006/main">
                  <a:pPr>
                    <a:defRPr sz="1950" b="1">
                      <a:solidFill>
                        <a:srgbClr val="203B30"/>
                      </a:solidFill>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b="1">
                        <a:solidFill>
                          <a:srgbClr val="203B30"/>
                        </a:solidFill>
                        <a:latin typeface="Arial"/>
                        <a:ea typeface="Arial"/>
                        <a:cs typeface="Arial"/>
                      </a:rPr>
                      <a:t>601,90 €</a:t>
                    </a:r>
                  </a:p>
                </c:rich>
              </c:tx>
              <c:txPr>
                <a:bodyPr xmlns:a="http://schemas.openxmlformats.org/drawingml/2006/main" anchorCtr="1"/>
                <a:lstStyle xmlns:a="http://schemas.openxmlformats.org/drawingml/2006/main"/>
                <a:p xmlns:a="http://schemas.openxmlformats.org/drawingml/2006/main">
                  <a:pPr>
                    <a:defRPr sz="1950" b="1">
                      <a:solidFill>
                        <a:srgbClr val="203B30"/>
                      </a:solidFill>
                      <a:latin typeface="Arial"/>
                      <a:ea typeface="Arial"/>
                      <a:cs typeface="Arial"/>
                    </a:defRPr>
                  </a:pPr>
                </a:p>
              </c:txPr>
              <c:dLblPos val="outEnd"/>
              <c:showLegendKey val="0"/>
              <c:showVal val="0"/>
              <c:showCatName val="0"/>
              <c:showSerName val="0"/>
              <c:showPercent val="0"/>
              <c:showBubbleSize val="0"/>
            </c:dLbl>
          </c:dLbls>
          <c:cat>
            <c:strLit>
              <c:ptCount val="2"/>
              <c:pt idx="0">
                <c:v>Tarifa de referencia</c:v>
              </c:pt>
              <c:pt idx="1">
                <c:v>Alternativa demo</c:v>
              </c:pt>
            </c:strLit>
          </c:cat>
          <c:val>
            <c:numLit>
              <c:formatCode>#,##0.00" €"</c:formatCode>
              <c:ptCount val="2"/>
              <c:pt idx="0">
                <c:v>826.78</c:v>
              </c:pt>
              <c:pt idx="1">
                <c:v>601.9</c:v>
              </c:pt>
            </c:numLit>
          </c:val>
        </c:ser>
        <c:dLbls>
          <c:txPr>
            <a:bodyPr xmlns:a="http://schemas.openxmlformats.org/drawingml/2006/main" anchorCtr="1"/>
            <a:lstStyle xmlns:a="http://schemas.openxmlformats.org/drawingml/2006/main"/>
            <a:p xmlns:a="http://schemas.openxmlformats.org/drawingml/2006/main">
              <a:pPr>
                <a:defRPr sz="1950" b="1">
                  <a:solidFill>
                    <a:srgbClr val="203B30"/>
                  </a:solidFill>
                  <a:latin typeface="Arial"/>
                  <a:ea typeface="Arial"/>
                  <a:cs typeface="Arial"/>
                </a:defRPr>
              </a:pPr>
            </a:p>
          </c:txPr>
          <c:dLblPos val="outEnd"/>
          <c:showLegendKey val="0"/>
          <c:showVal val="1"/>
          <c:showCatName val="0"/>
          <c:showSerName val="0"/>
          <c:showPercent val="0"/>
          <c:showBubbleSize val="0"/>
          <c:showLeaderLines val="0"/>
        </c:dLbls>
        <c:gapWidth val="10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2D3"/>
            </a:solidFill>
          </a:ln>
        </c:spPr>
        <c:txPr>
          <a:bodyPr xmlns:a="http://schemas.openxmlformats.org/drawingml/2006/main" anchorCtr="1"/>
          <a:lstStyle xmlns:a="http://schemas.openxmlformats.org/drawingml/2006/main"/>
          <a:p xmlns:a="http://schemas.openxmlformats.org/drawingml/2006/main">
            <a:pPr>
              <a:defRPr sz="1650">
                <a:solidFill>
                  <a:srgbClr val="203B30"/>
                </a:solidFill>
                <a:latin typeface="Arial"/>
                <a:ea typeface="Arial"/>
                <a:cs typeface="Arial"/>
              </a:defRPr>
            </a:pPr>
          </a:p>
        </c:txPr>
        <c:crossAx val="48672768"/>
      </c:catAx>
      <c:valAx>
        <c:axId val="48672768"/>
        <c:scaling>
          <c:orientation val="minMax"/>
          <c:max val="1000"/>
          <c:min val="0"/>
        </c:scaling>
        <c:delete val="0"/>
        <c:axPos val="l"/>
        <c:majorGridlines>
          <c:spPr>
            <a:ln xmlns:a="http://schemas.openxmlformats.org/drawingml/2006/main" w="9525">
              <a:solidFill>
                <a:srgbClr val="D9E2D3"/>
              </a:solidFill>
            </a:ln>
          </c:spPr>
        </c:majorGridlines>
        <c:numFmt formatCode="0&quot; €&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07568"/>
                </a:solidFill>
                <a:latin typeface="Arial"/>
                <a:ea typeface="Arial"/>
                <a:cs typeface="Arial"/>
              </a:defRPr>
            </a:pPr>
          </a:p>
        </c:txPr>
        <c:crossAx val="48650112"/>
        <c:crossBetween val="between"/>
        <c:majorUnit val="250"/>
      </c:valAx>
      <c:spPr>
        <a:solidFill xmlns:a="http://schemas.openxmlformats.org/drawingml/2006/main">
          <a:srgbClr val="F7F8F2"/>
        </a:solidFill>
      </c:spPr>
    </c:plotArea>
    <c:plotVisOnly val="1"/>
  </c:chart>
  <c:spPr>
    <a:solidFill xmlns:a="http://schemas.openxmlformats.org/drawingml/2006/main">
      <a:srgbClr val="F7F8F2"/>
    </a:solidFill>
  </c:spPr>
</c:chartSpace>
</file>

<file path=ppt/slides/slide1.xml><?xml version="1.0" encoding="utf-8"?>
<p:sld xmlns:p="http://schemas.openxmlformats.org/presentationml/2006/main">
  <p:cSld>
    <p:bg>
      <p:bgPr>
        <a:solidFill xmlns:a="http://schemas.openxmlformats.org/drawingml/2006/main">
          <a:srgbClr val="183D30"/>
        </a:solidFill>
      </p:bgPr>
    </p:bg>
    <p:spTree>
      <p:nvGrpSpPr>
        <p:cNvPr id="1" name=""/>
        <p:cNvGrpSpPr/>
        <p:nvPr/>
      </p:nvGrpSpPr>
      <p:grpSpPr>
        <a:xfrm xmlns:a="http://schemas.openxmlformats.org/drawingml/2006/main"/>
      </p:grpSpPr>
      <p:sp>
        <p:nvSpPr>
          <p:cNvPr id="6" name="blindsave.">
            <a:extLst xmlns:a="http://schemas.openxmlformats.org/drawingml/2006/main">
              <a:ext uri="{FF2B5EF4-FFF2-40B4-BE49-F238E27FC236}">
                <a16:creationId xmlns:a16="http://schemas.microsoft.com/office/drawing/2014/main" id="{1CBF3361-5D46-4DF6-8EE7-116E57949590}"/>
              </a:ext>
            </a:extLst>
          </p:cNvPr>
          <p:cNvSpPr>
            <a:spLocks xmlns:a="http://schemas.openxmlformats.org/drawingml/2006/main" noGrp="1"/>
          </p:cNvSpPr>
          <p:nvPr/>
        </p:nvSpPr>
        <p:spPr>
          <a:xfrm xmlns:a="http://schemas.openxmlformats.org/drawingml/2006/main">
            <a:off x="609600" y="64293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D8EEA4"/>
                </a:solidFill>
                <a:latin typeface="Arial"/>
                <a:ea typeface="Arial"/>
                <a:cs typeface="Arial"/>
              </a:defRPr>
            </a:pPr>
            <a:r>
              <a:rPr sz="1200" b="1">
                <a:solidFill>
                  <a:srgbClr val="D8EEA4"/>
                </a:solidFill>
                <a:latin typeface="Arial"/>
                <a:ea typeface="Arial"/>
                <a:cs typeface="Arial"/>
              </a:rPr>
              <a:t>blindsave.</a:t>
            </a:r>
          </a:p>
        </p:txBody>
      </p:sp>
      <p:sp>
        <p:nvSpPr>
          <p:cNvPr id="2" name="01">
            <a:extLst xmlns:a="http://schemas.openxmlformats.org/drawingml/2006/main">
              <a:ext uri="{FF2B5EF4-FFF2-40B4-BE49-F238E27FC236}">
                <a16:creationId xmlns:a16="http://schemas.microsoft.com/office/drawing/2014/main" id="{E370346B-5234-4638-8DCC-8E0E8D103D69}"/>
              </a:ext>
            </a:extLst>
          </p:cNvPr>
          <p:cNvSpPr>
            <a:spLocks xmlns:a="http://schemas.openxmlformats.org/drawingml/2006/main" noGrp="1"/>
          </p:cNvSpPr>
          <p:nvPr/>
        </p:nvSpPr>
        <p:spPr>
          <a:xfrm xmlns:a="http://schemas.openxmlformats.org/drawingml/2006/main">
            <a:off x="1114425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D8EEA4"/>
                </a:solidFill>
                <a:latin typeface="Arial"/>
                <a:ea typeface="Arial"/>
                <a:cs typeface="Arial"/>
              </a:defRPr>
            </a:pPr>
            <a:r>
              <a:rPr sz="1200" b="0">
                <a:solidFill>
                  <a:srgbClr val="D8EEA4"/>
                </a:solidFill>
                <a:latin typeface="Arial"/>
                <a:ea typeface="Arial"/>
                <a:cs typeface="Arial"/>
              </a:rPr>
              <a:t>01</a:t>
            </a:r>
          </a:p>
        </p:txBody>
      </p:sp>
      <p:sp>
        <p:nvSpPr>
          <p:cNvPr id="3" name="BlindSave">
            <a:extLst xmlns:a="http://schemas.openxmlformats.org/drawingml/2006/main">
              <a:ext uri="{FF2B5EF4-FFF2-40B4-BE49-F238E27FC236}">
                <a16:creationId xmlns:a16="http://schemas.microsoft.com/office/drawing/2014/main" id="{523A726E-5131-46AA-90EC-D3E984E19E63}"/>
              </a:ext>
            </a:extLst>
          </p:cNvPr>
          <p:cNvSpPr>
            <a:spLocks xmlns:a="http://schemas.openxmlformats.org/drawingml/2006/main" noGrp="1"/>
          </p:cNvSpPr>
          <p:nvPr/>
        </p:nvSpPr>
        <p:spPr>
          <a:xfrm xmlns:a="http://schemas.openxmlformats.org/drawingml/2006/main">
            <a:off x="609600" y="1619250"/>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BlindSave</a:t>
            </a:r>
          </a:p>
        </p:txBody>
      </p:sp>
      <p:sp>
        <p:nvSpPr>
          <p:cNvPr id="4" name="Comparar el gasto fijo&#10;sin entregar tu factura">
            <a:extLst xmlns:a="http://schemas.openxmlformats.org/drawingml/2006/main">
              <a:ext uri="{FF2B5EF4-FFF2-40B4-BE49-F238E27FC236}">
                <a16:creationId xmlns:a16="http://schemas.microsoft.com/office/drawing/2014/main" id="{3F391D9E-6B33-43CB-8255-FB95EE052568}"/>
              </a:ext>
            </a:extLst>
          </p:cNvPr>
          <p:cNvSpPr>
            <a:spLocks xmlns:a="http://schemas.openxmlformats.org/drawingml/2006/main" noGrp="1"/>
          </p:cNvSpPr>
          <p:nvPr/>
        </p:nvSpPr>
        <p:spPr>
          <a:xfrm xmlns:a="http://schemas.openxmlformats.org/drawingml/2006/main">
            <a:off x="647700" y="3095625"/>
            <a:ext cx="9715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0">
                <a:solidFill>
                  <a:srgbClr val="D8EEA4"/>
                </a:solidFill>
                <a:latin typeface="Arial"/>
                <a:ea typeface="Arial"/>
                <a:cs typeface="Arial"/>
              </a:defRPr>
            </a:pPr>
            <a:r>
              <a:rPr sz="3450" b="0">
                <a:solidFill>
                  <a:srgbClr val="D8EEA4"/>
                </a:solidFill>
                <a:latin typeface="Arial"/>
                <a:ea typeface="Arial"/>
                <a:cs typeface="Arial"/>
              </a:rPr>
              <a:t>Comparar el gasto fijo</a:t>
            </a:r>
          </a:p>
          <a:p xmlns:a="http://schemas.openxmlformats.org/drawingml/2006/main">
            <a:pPr>
              <a:defRPr sz="3450" b="0">
                <a:solidFill>
                  <a:srgbClr val="D8EEA4"/>
                </a:solidFill>
                <a:latin typeface="Arial"/>
                <a:ea typeface="Arial"/>
                <a:cs typeface="Arial"/>
              </a:defRPr>
            </a:pPr>
            <a:r>
              <a:rPr sz="3450" b="0">
                <a:solidFill>
                  <a:srgbClr val="D8EEA4"/>
                </a:solidFill>
                <a:latin typeface="Arial"/>
                <a:ea typeface="Arial"/>
                <a:cs typeface="Arial"/>
              </a:rPr>
              <a:t>sin entregar tu factura</a:t>
            </a:r>
          </a:p>
        </p:txBody>
      </p:sp>
      <p:sp>
        <p:nvSpPr>
          <p:cNvPr id="5" name="Propuesta de valor y primera versión funcional">
            <a:extLst xmlns:a="http://schemas.openxmlformats.org/drawingml/2006/main">
              <a:ext uri="{FF2B5EF4-FFF2-40B4-BE49-F238E27FC236}">
                <a16:creationId xmlns:a16="http://schemas.microsoft.com/office/drawing/2014/main" id="{84C11D07-2950-4DF0-8350-118C35222C51}"/>
              </a:ext>
            </a:extLst>
          </p:cNvPr>
          <p:cNvSpPr>
            <a:spLocks xmlns:a="http://schemas.openxmlformats.org/drawingml/2006/main" noGrp="1"/>
          </p:cNvSpPr>
          <p:nvPr/>
        </p:nvSpPr>
        <p:spPr>
          <a:xfrm xmlns:a="http://schemas.openxmlformats.org/drawingml/2006/main">
            <a:off x="647700" y="5286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C1D1C5"/>
                </a:solidFill>
                <a:latin typeface="Arial"/>
                <a:ea typeface="Arial"/>
                <a:cs typeface="Arial"/>
              </a:defRPr>
            </a:pPr>
            <a:r>
              <a:rPr sz="1875" b="0">
                <a:solidFill>
                  <a:srgbClr val="C1D1C5"/>
                </a:solidFill>
                <a:latin typeface="Arial"/>
                <a:ea typeface="Arial"/>
                <a:cs typeface="Arial"/>
              </a:rPr>
              <a:t>Propuesta de valor y primera versión funcional</a:t>
            </a:r>
          </a:p>
        </p:txBody>
      </p:sp>
    </p:spTree>
    <p:extLst>
      <p:ext uri="{BB962C8B-B14F-4D97-AF65-F5344CB8AC3E}">
        <p14:creationId xmlns:p14="http://schemas.microsoft.com/office/powerpoint/2010/main" val="1978502731"/>
      </p:ext>
    </p:extLst>
  </p:cSld>
</p:sld>
</file>

<file path=ppt/slides/slide2.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3" name="El problema: comparar tarifas lleva trabajo">
            <a:extLst xmlns:a="http://schemas.openxmlformats.org/drawingml/2006/main">
              <a:ext uri="{FF2B5EF4-FFF2-40B4-BE49-F238E27FC236}">
                <a16:creationId xmlns:a16="http://schemas.microsoft.com/office/drawing/2014/main" id="{CAAFDFD6-8CAB-46A0-9C7F-E03C40EE9A0E}"/>
              </a:ext>
            </a:extLst>
          </p:cNvPr>
          <p:cNvSpPr>
            <a:spLocks xmlns:a="http://schemas.openxmlformats.org/drawingml/2006/main" noGrp="1"/>
          </p:cNvSpPr>
          <p:nvPr/>
        </p:nvSpPr>
        <p:spPr>
          <a:xfrm xmlns:a="http://schemas.openxmlformats.org/drawingml/2006/main">
            <a:off x="609600" y="5715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03B30"/>
                </a:solidFill>
                <a:latin typeface="Arial"/>
                <a:ea typeface="Arial"/>
                <a:cs typeface="Arial"/>
              </a:defRPr>
            </a:pPr>
            <a:r>
              <a:rPr sz="3450" b="1">
                <a:solidFill>
                  <a:srgbClr val="203B30"/>
                </a:solidFill>
                <a:latin typeface="Arial"/>
                <a:ea typeface="Arial"/>
                <a:cs typeface="Arial"/>
              </a:rPr>
              <a:t>El problema: comparar tarifas lleva trabajo</a:t>
            </a:r>
          </a:p>
        </p:txBody>
      </p:sp>
      <p:sp>
        <p:nvSpPr>
          <p:cNvPr id="2" name="blindsave.">
            <a:extLst xmlns:a="http://schemas.openxmlformats.org/drawingml/2006/main">
              <a:ext uri="{FF2B5EF4-FFF2-40B4-BE49-F238E27FC236}">
                <a16:creationId xmlns:a16="http://schemas.microsoft.com/office/drawing/2014/main" id="{27C6E72F-0CF4-452B-8DBB-F7855AAB9820}"/>
              </a:ext>
            </a:extLst>
          </p:cNvPr>
          <p:cNvSpPr>
            <a:spLocks xmlns:a="http://schemas.openxmlformats.org/drawingml/2006/main" noGrp="1"/>
          </p:cNvSpPr>
          <p:nvPr/>
        </p:nvSpPr>
        <p:spPr>
          <a:xfrm xmlns:a="http://schemas.openxmlformats.org/drawingml/2006/main">
            <a:off x="609600" y="64293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607568"/>
                </a:solidFill>
                <a:latin typeface="Arial"/>
                <a:ea typeface="Arial"/>
                <a:cs typeface="Arial"/>
              </a:defRPr>
            </a:pPr>
            <a:r>
              <a:rPr sz="1200" b="1">
                <a:solidFill>
                  <a:srgbClr val="607568"/>
                </a:solidFill>
                <a:latin typeface="Arial"/>
                <a:ea typeface="Arial"/>
                <a:cs typeface="Arial"/>
              </a:rPr>
              <a:t>blindsave.</a:t>
            </a:r>
          </a:p>
        </p:txBody>
      </p:sp>
      <p:sp>
        <p:nvSpPr>
          <p:cNvPr id="3" name="02">
            <a:extLst xmlns:a="http://schemas.openxmlformats.org/drawingml/2006/main">
              <a:ext uri="{FF2B5EF4-FFF2-40B4-BE49-F238E27FC236}">
                <a16:creationId xmlns:a16="http://schemas.microsoft.com/office/drawing/2014/main" id="{8513187A-B442-4893-91EA-11720AA79FBD}"/>
              </a:ext>
            </a:extLst>
          </p:cNvPr>
          <p:cNvSpPr>
            <a:spLocks xmlns:a="http://schemas.openxmlformats.org/drawingml/2006/main" noGrp="1"/>
          </p:cNvSpPr>
          <p:nvPr/>
        </p:nvSpPr>
        <p:spPr>
          <a:xfrm xmlns:a="http://schemas.openxmlformats.org/drawingml/2006/main">
            <a:off x="1114425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7568"/>
                </a:solidFill>
                <a:latin typeface="Arial"/>
                <a:ea typeface="Arial"/>
                <a:cs typeface="Arial"/>
              </a:defRPr>
            </a:pPr>
            <a:r>
              <a:rPr sz="1200" b="0">
                <a:solidFill>
                  <a:srgbClr val="607568"/>
                </a:solidFill>
                <a:latin typeface="Arial"/>
                <a:ea typeface="Arial"/>
                <a:cs typeface="Arial"/>
              </a:rPr>
              <a:t>02</a:t>
            </a:r>
          </a:p>
        </p:txBody>
      </p:sp>
      <p:sp>
        <p:nvSpPr>
          <p:cNvPr id="4" name="01">
            <a:extLst xmlns:a="http://schemas.openxmlformats.org/drawingml/2006/main">
              <a:ext uri="{FF2B5EF4-FFF2-40B4-BE49-F238E27FC236}">
                <a16:creationId xmlns:a16="http://schemas.microsoft.com/office/drawing/2014/main" id="{78F6FDF2-A29F-4BF2-9442-42429070D99D}"/>
              </a:ext>
            </a:extLst>
          </p:cNvPr>
          <p:cNvSpPr>
            <a:spLocks xmlns:a="http://schemas.openxmlformats.org/drawingml/2006/main" noGrp="1"/>
          </p:cNvSpPr>
          <p:nvPr/>
        </p:nvSpPr>
        <p:spPr>
          <a:xfrm xmlns:a="http://schemas.openxmlformats.org/drawingml/2006/main">
            <a:off x="609600" y="1981200"/>
            <a:ext cx="328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0">
                <a:solidFill>
                  <a:srgbClr val="607568"/>
                </a:solidFill>
                <a:latin typeface="Arial"/>
                <a:ea typeface="Arial"/>
                <a:cs typeface="Arial"/>
              </a:defRPr>
            </a:pPr>
            <a:r>
              <a:rPr sz="3600" b="0">
                <a:solidFill>
                  <a:srgbClr val="607568"/>
                </a:solidFill>
                <a:latin typeface="Arial"/>
                <a:ea typeface="Arial"/>
                <a:cs typeface="Arial"/>
              </a:rPr>
              <a:t>01</a:t>
            </a:r>
          </a:p>
        </p:txBody>
      </p:sp>
      <p:sp>
        <p:nvSpPr>
          <p:cNvPr id="5" name="El precio anunciado&#10;es solo una parte">
            <a:extLst xmlns:a="http://schemas.openxmlformats.org/drawingml/2006/main">
              <a:ext uri="{FF2B5EF4-FFF2-40B4-BE49-F238E27FC236}">
                <a16:creationId xmlns:a16="http://schemas.microsoft.com/office/drawing/2014/main" id="{F16466CE-B84B-4EDF-8B9F-A1D8DE523959}"/>
              </a:ext>
            </a:extLst>
          </p:cNvPr>
          <p:cNvSpPr>
            <a:spLocks xmlns:a="http://schemas.openxmlformats.org/drawingml/2006/main" noGrp="1"/>
          </p:cNvSpPr>
          <p:nvPr/>
        </p:nvSpPr>
        <p:spPr>
          <a:xfrm xmlns:a="http://schemas.openxmlformats.org/drawingml/2006/main">
            <a:off x="609600" y="27336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03B30"/>
                </a:solidFill>
                <a:latin typeface="Arial"/>
                <a:ea typeface="Arial"/>
                <a:cs typeface="Arial"/>
              </a:defRPr>
            </a:pPr>
            <a:r>
              <a:rPr sz="2175" b="1">
                <a:solidFill>
                  <a:srgbClr val="203B30"/>
                </a:solidFill>
                <a:latin typeface="Arial"/>
                <a:ea typeface="Arial"/>
                <a:cs typeface="Arial"/>
              </a:rPr>
              <a:t>El precio anunciado</a:t>
            </a:r>
          </a:p>
          <a:p xmlns:a="http://schemas.openxmlformats.org/drawingml/2006/main">
            <a:pPr>
              <a:defRPr sz="2175" b="1">
                <a:solidFill>
                  <a:srgbClr val="203B30"/>
                </a:solidFill>
                <a:latin typeface="Arial"/>
                <a:ea typeface="Arial"/>
                <a:cs typeface="Arial"/>
              </a:defRPr>
            </a:pPr>
            <a:r>
              <a:rPr sz="2175" b="1">
                <a:solidFill>
                  <a:srgbClr val="203B30"/>
                </a:solidFill>
                <a:latin typeface="Arial"/>
                <a:ea typeface="Arial"/>
                <a:cs typeface="Arial"/>
              </a:rPr>
              <a:t>es solo una parte</a:t>
            </a:r>
          </a:p>
        </p:txBody>
      </p:sp>
      <p:sp>
        <p:nvSpPr>
          <p:cNvPr id="6" name="La energía, la potencia y los servicios asociados influyen en el ">
            <a:extLst xmlns:a="http://schemas.openxmlformats.org/drawingml/2006/main">
              <a:ext uri="{FF2B5EF4-FFF2-40B4-BE49-F238E27FC236}">
                <a16:creationId xmlns:a16="http://schemas.microsoft.com/office/drawing/2014/main" id="{3E4DC473-CB72-4529-A071-8C42173A5AA9}"/>
              </a:ext>
            </a:extLst>
          </p:cNvPr>
          <p:cNvSpPr>
            <a:spLocks xmlns:a="http://schemas.openxmlformats.org/drawingml/2006/main" noGrp="1"/>
          </p:cNvSpPr>
          <p:nvPr/>
        </p:nvSpPr>
        <p:spPr>
          <a:xfrm xmlns:a="http://schemas.openxmlformats.org/drawingml/2006/main">
            <a:off x="609600" y="3495675"/>
            <a:ext cx="3286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La energía, la potencia y los servicios asociados influyen en el coste anual.</a:t>
            </a:r>
          </a:p>
        </p:txBody>
      </p:sp>
      <p:sp>
        <p:nvSpPr>
          <p:cNvPr id="7" name="02">
            <a:extLst xmlns:a="http://schemas.openxmlformats.org/drawingml/2006/main">
              <a:ext uri="{FF2B5EF4-FFF2-40B4-BE49-F238E27FC236}">
                <a16:creationId xmlns:a16="http://schemas.microsoft.com/office/drawing/2014/main" id="{1D0892F3-DD36-4811-A704-971C03F7AA52}"/>
              </a:ext>
            </a:extLst>
          </p:cNvPr>
          <p:cNvSpPr>
            <a:spLocks xmlns:a="http://schemas.openxmlformats.org/drawingml/2006/main" noGrp="1"/>
          </p:cNvSpPr>
          <p:nvPr/>
        </p:nvSpPr>
        <p:spPr>
          <a:xfrm xmlns:a="http://schemas.openxmlformats.org/drawingml/2006/main">
            <a:off x="4448175" y="1981200"/>
            <a:ext cx="328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0">
                <a:solidFill>
                  <a:srgbClr val="607568"/>
                </a:solidFill>
                <a:latin typeface="Arial"/>
                <a:ea typeface="Arial"/>
                <a:cs typeface="Arial"/>
              </a:defRPr>
            </a:pPr>
            <a:r>
              <a:rPr sz="3600" b="0">
                <a:solidFill>
                  <a:srgbClr val="607568"/>
                </a:solidFill>
                <a:latin typeface="Arial"/>
                <a:ea typeface="Arial"/>
                <a:cs typeface="Arial"/>
              </a:rPr>
              <a:t>02</a:t>
            </a:r>
          </a:p>
        </p:txBody>
      </p:sp>
      <p:sp>
        <p:nvSpPr>
          <p:cNvPr id="8" name="Cada consumo&#10;es diferente">
            <a:extLst xmlns:a="http://schemas.openxmlformats.org/drawingml/2006/main">
              <a:ext uri="{FF2B5EF4-FFF2-40B4-BE49-F238E27FC236}">
                <a16:creationId xmlns:a16="http://schemas.microsoft.com/office/drawing/2014/main" id="{6DDC4792-0401-42A8-A377-4A124C65D333}"/>
              </a:ext>
            </a:extLst>
          </p:cNvPr>
          <p:cNvSpPr>
            <a:spLocks xmlns:a="http://schemas.openxmlformats.org/drawingml/2006/main" noGrp="1"/>
          </p:cNvSpPr>
          <p:nvPr/>
        </p:nvSpPr>
        <p:spPr>
          <a:xfrm xmlns:a="http://schemas.openxmlformats.org/drawingml/2006/main">
            <a:off x="4448175" y="27336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03B30"/>
                </a:solidFill>
                <a:latin typeface="Arial"/>
                <a:ea typeface="Arial"/>
                <a:cs typeface="Arial"/>
              </a:defRPr>
            </a:pPr>
            <a:r>
              <a:rPr sz="2175" b="1">
                <a:solidFill>
                  <a:srgbClr val="203B30"/>
                </a:solidFill>
                <a:latin typeface="Arial"/>
                <a:ea typeface="Arial"/>
                <a:cs typeface="Arial"/>
              </a:rPr>
              <a:t>Cada consumo</a:t>
            </a:r>
          </a:p>
          <a:p xmlns:a="http://schemas.openxmlformats.org/drawingml/2006/main">
            <a:pPr>
              <a:defRPr sz="2175" b="1">
                <a:solidFill>
                  <a:srgbClr val="203B30"/>
                </a:solidFill>
                <a:latin typeface="Arial"/>
                <a:ea typeface="Arial"/>
                <a:cs typeface="Arial"/>
              </a:defRPr>
            </a:pPr>
            <a:r>
              <a:rPr sz="2175" b="1">
                <a:solidFill>
                  <a:srgbClr val="203B30"/>
                </a:solidFill>
                <a:latin typeface="Arial"/>
                <a:ea typeface="Arial"/>
                <a:cs typeface="Arial"/>
              </a:rPr>
              <a:t>es diferente</a:t>
            </a:r>
          </a:p>
        </p:txBody>
      </p:sp>
      <p:sp>
        <p:nvSpPr>
          <p:cNvPr id="9" name="Una misma oferta puede encajar de forma distinta según el reparto">
            <a:extLst xmlns:a="http://schemas.openxmlformats.org/drawingml/2006/main">
              <a:ext uri="{FF2B5EF4-FFF2-40B4-BE49-F238E27FC236}">
                <a16:creationId xmlns:a16="http://schemas.microsoft.com/office/drawing/2014/main" id="{54B33FF3-70B1-40DA-93AF-0D22754E862F}"/>
              </a:ext>
            </a:extLst>
          </p:cNvPr>
          <p:cNvSpPr>
            <a:spLocks xmlns:a="http://schemas.openxmlformats.org/drawingml/2006/main" noGrp="1"/>
          </p:cNvSpPr>
          <p:nvPr/>
        </p:nvSpPr>
        <p:spPr>
          <a:xfrm xmlns:a="http://schemas.openxmlformats.org/drawingml/2006/main">
            <a:off x="4448175" y="3495675"/>
            <a:ext cx="3286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Una misma oferta puede encajar de forma distinta según el reparto por periodos.</a:t>
            </a:r>
          </a:p>
        </p:txBody>
      </p:sp>
      <p:sp>
        <p:nvSpPr>
          <p:cNvPr id="10" name="03">
            <a:extLst xmlns:a="http://schemas.openxmlformats.org/drawingml/2006/main">
              <a:ext uri="{FF2B5EF4-FFF2-40B4-BE49-F238E27FC236}">
                <a16:creationId xmlns:a16="http://schemas.microsoft.com/office/drawing/2014/main" id="{7107DE07-A5BE-4088-9EF3-4F9BF34146DC}"/>
              </a:ext>
            </a:extLst>
          </p:cNvPr>
          <p:cNvSpPr>
            <a:spLocks xmlns:a="http://schemas.openxmlformats.org/drawingml/2006/main" noGrp="1"/>
          </p:cNvSpPr>
          <p:nvPr/>
        </p:nvSpPr>
        <p:spPr>
          <a:xfrm xmlns:a="http://schemas.openxmlformats.org/drawingml/2006/main">
            <a:off x="8286750" y="1981200"/>
            <a:ext cx="323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0">
                <a:solidFill>
                  <a:srgbClr val="607568"/>
                </a:solidFill>
                <a:latin typeface="Arial"/>
                <a:ea typeface="Arial"/>
                <a:cs typeface="Arial"/>
              </a:defRPr>
            </a:pPr>
            <a:r>
              <a:rPr sz="3600" b="0">
                <a:solidFill>
                  <a:srgbClr val="607568"/>
                </a:solidFill>
                <a:latin typeface="Arial"/>
                <a:ea typeface="Arial"/>
                <a:cs typeface="Arial"/>
              </a:rPr>
              <a:t>03</a:t>
            </a:r>
          </a:p>
        </p:txBody>
      </p:sp>
      <p:sp>
        <p:nvSpPr>
          <p:cNvPr id="11" name="Una factura contiene&#10;datos personales">
            <a:extLst xmlns:a="http://schemas.openxmlformats.org/drawingml/2006/main">
              <a:ext uri="{FF2B5EF4-FFF2-40B4-BE49-F238E27FC236}">
                <a16:creationId xmlns:a16="http://schemas.microsoft.com/office/drawing/2014/main" id="{8CEF5970-DBE8-4025-8862-550DC3BF6DEA}"/>
              </a:ext>
            </a:extLst>
          </p:cNvPr>
          <p:cNvSpPr>
            <a:spLocks xmlns:a="http://schemas.openxmlformats.org/drawingml/2006/main" noGrp="1"/>
          </p:cNvSpPr>
          <p:nvPr/>
        </p:nvSpPr>
        <p:spPr>
          <a:xfrm xmlns:a="http://schemas.openxmlformats.org/drawingml/2006/main">
            <a:off x="8286750" y="2733675"/>
            <a:ext cx="323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03B30"/>
                </a:solidFill>
                <a:latin typeface="Arial"/>
                <a:ea typeface="Arial"/>
                <a:cs typeface="Arial"/>
              </a:defRPr>
            </a:pPr>
            <a:r>
              <a:rPr sz="2175" b="1">
                <a:solidFill>
                  <a:srgbClr val="203B30"/>
                </a:solidFill>
                <a:latin typeface="Arial"/>
                <a:ea typeface="Arial"/>
                <a:cs typeface="Arial"/>
              </a:rPr>
              <a:t>Una factura contiene</a:t>
            </a:r>
          </a:p>
          <a:p xmlns:a="http://schemas.openxmlformats.org/drawingml/2006/main">
            <a:pPr>
              <a:defRPr sz="2175" b="1">
                <a:solidFill>
                  <a:srgbClr val="203B30"/>
                </a:solidFill>
                <a:latin typeface="Arial"/>
                <a:ea typeface="Arial"/>
                <a:cs typeface="Arial"/>
              </a:defRPr>
            </a:pPr>
            <a:r>
              <a:rPr sz="2175" b="1">
                <a:solidFill>
                  <a:srgbClr val="203B30"/>
                </a:solidFill>
                <a:latin typeface="Arial"/>
                <a:ea typeface="Arial"/>
                <a:cs typeface="Arial"/>
              </a:rPr>
              <a:t>datos personales</a:t>
            </a:r>
          </a:p>
        </p:txBody>
      </p:sp>
      <p:sp>
        <p:nvSpPr>
          <p:cNvPr id="12" name="Una factura completa añade nombres, direcciones o identificadores">
            <a:extLst xmlns:a="http://schemas.openxmlformats.org/drawingml/2006/main">
              <a:ext uri="{FF2B5EF4-FFF2-40B4-BE49-F238E27FC236}">
                <a16:creationId xmlns:a16="http://schemas.microsoft.com/office/drawing/2014/main" id="{AAA8EAA8-ACD6-4B1E-83D9-E07C96BD3F04}"/>
              </a:ext>
            </a:extLst>
          </p:cNvPr>
          <p:cNvSpPr>
            <a:spLocks xmlns:a="http://schemas.openxmlformats.org/drawingml/2006/main" noGrp="1"/>
          </p:cNvSpPr>
          <p:nvPr/>
        </p:nvSpPr>
        <p:spPr>
          <a:xfrm xmlns:a="http://schemas.openxmlformats.org/drawingml/2006/main">
            <a:off x="8286750" y="3495675"/>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Una factura completa añade nombres, direcciones o identificadores que el cálculo no necesita.</a:t>
            </a:r>
          </a:p>
        </p:txBody>
      </p:sp>
    </p:spTree>
    <p:extLst>
      <p:ext uri="{BB962C8B-B14F-4D97-AF65-F5344CB8AC3E}">
        <p14:creationId xmlns:p14="http://schemas.microsoft.com/office/powerpoint/2010/main" val="755857961"/>
      </p:ext>
    </p:extLst>
  </p:cSld>
</p:sld>
</file>

<file path=ppt/slides/slide3.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9" name="Por qué decidí crear BlindSave">
            <a:extLst xmlns:a="http://schemas.openxmlformats.org/drawingml/2006/main">
              <a:ext uri="{FF2B5EF4-FFF2-40B4-BE49-F238E27FC236}">
                <a16:creationId xmlns:a16="http://schemas.microsoft.com/office/drawing/2014/main" id="{CD23995C-20D7-4642-9138-4F0A1B8C9FAC}"/>
              </a:ext>
            </a:extLst>
          </p:cNvPr>
          <p:cNvSpPr>
            <a:spLocks xmlns:a="http://schemas.openxmlformats.org/drawingml/2006/main" noGrp="1"/>
          </p:cNvSpPr>
          <p:nvPr/>
        </p:nvSpPr>
        <p:spPr>
          <a:xfrm xmlns:a="http://schemas.openxmlformats.org/drawingml/2006/main">
            <a:off x="609600" y="5715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03B30"/>
                </a:solidFill>
                <a:latin typeface="Arial"/>
                <a:ea typeface="Arial"/>
                <a:cs typeface="Arial"/>
              </a:defRPr>
            </a:pPr>
            <a:r>
              <a:rPr sz="3450" b="1">
                <a:solidFill>
                  <a:srgbClr val="203B30"/>
                </a:solidFill>
                <a:latin typeface="Arial"/>
                <a:ea typeface="Arial"/>
                <a:cs typeface="Arial"/>
              </a:rPr>
              <a:t>Por qué decidí crear BlindSave</a:t>
            </a:r>
          </a:p>
        </p:txBody>
      </p:sp>
      <p:sp>
        <p:nvSpPr>
          <p:cNvPr id="2" name="blindsave.">
            <a:extLst xmlns:a="http://schemas.openxmlformats.org/drawingml/2006/main">
              <a:ext uri="{FF2B5EF4-FFF2-40B4-BE49-F238E27FC236}">
                <a16:creationId xmlns:a16="http://schemas.microsoft.com/office/drawing/2014/main" id="{C35DD5EA-B374-497C-A4F1-49C37651F03E}"/>
              </a:ext>
            </a:extLst>
          </p:cNvPr>
          <p:cNvSpPr>
            <a:spLocks xmlns:a="http://schemas.openxmlformats.org/drawingml/2006/main" noGrp="1"/>
          </p:cNvSpPr>
          <p:nvPr/>
        </p:nvSpPr>
        <p:spPr>
          <a:xfrm xmlns:a="http://schemas.openxmlformats.org/drawingml/2006/main">
            <a:off x="609600" y="64293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607568"/>
                </a:solidFill>
                <a:latin typeface="Arial"/>
                <a:ea typeface="Arial"/>
                <a:cs typeface="Arial"/>
              </a:defRPr>
            </a:pPr>
            <a:r>
              <a:rPr sz="1200" b="1">
                <a:solidFill>
                  <a:srgbClr val="607568"/>
                </a:solidFill>
                <a:latin typeface="Arial"/>
                <a:ea typeface="Arial"/>
                <a:cs typeface="Arial"/>
              </a:rPr>
              <a:t>blindsave.</a:t>
            </a:r>
          </a:p>
        </p:txBody>
      </p:sp>
      <p:sp>
        <p:nvSpPr>
          <p:cNvPr id="3" name="03">
            <a:extLst xmlns:a="http://schemas.openxmlformats.org/drawingml/2006/main">
              <a:ext uri="{FF2B5EF4-FFF2-40B4-BE49-F238E27FC236}">
                <a16:creationId xmlns:a16="http://schemas.microsoft.com/office/drawing/2014/main" id="{0F0727C3-8862-4FCD-A329-3E7362F5D7DD}"/>
              </a:ext>
            </a:extLst>
          </p:cNvPr>
          <p:cNvSpPr>
            <a:spLocks xmlns:a="http://schemas.openxmlformats.org/drawingml/2006/main" noGrp="1"/>
          </p:cNvSpPr>
          <p:nvPr/>
        </p:nvSpPr>
        <p:spPr>
          <a:xfrm xmlns:a="http://schemas.openxmlformats.org/drawingml/2006/main">
            <a:off x="1114425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7568"/>
                </a:solidFill>
                <a:latin typeface="Arial"/>
                <a:ea typeface="Arial"/>
                <a:cs typeface="Arial"/>
              </a:defRPr>
            </a:pPr>
            <a:r>
              <a:rPr sz="1200" b="0">
                <a:solidFill>
                  <a:srgbClr val="607568"/>
                </a:solidFill>
                <a:latin typeface="Arial"/>
                <a:ea typeface="Arial"/>
                <a:cs typeface="Arial"/>
              </a:rPr>
              <a:t>03</a:t>
            </a:r>
          </a:p>
        </p:txBody>
      </p:sp>
      <p:sp>
        <p:nvSpPr>
          <p:cNvPr id="4" name="Quería que una decisión de ahorro&#10;fuera fácil de entender y compr">
            <a:extLst xmlns:a="http://schemas.openxmlformats.org/drawingml/2006/main">
              <a:ext uri="{FF2B5EF4-FFF2-40B4-BE49-F238E27FC236}">
                <a16:creationId xmlns:a16="http://schemas.microsoft.com/office/drawing/2014/main" id="{0568BBCB-EBDC-4552-95FB-1F6E0A6B4AF6}"/>
              </a:ext>
            </a:extLst>
          </p:cNvPr>
          <p:cNvSpPr>
            <a:spLocks xmlns:a="http://schemas.openxmlformats.org/drawingml/2006/main" noGrp="1"/>
          </p:cNvSpPr>
          <p:nvPr/>
        </p:nvSpPr>
        <p:spPr>
          <a:xfrm xmlns:a="http://schemas.openxmlformats.org/drawingml/2006/main">
            <a:off x="609600" y="1905000"/>
            <a:ext cx="10858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525" b="1">
                <a:solidFill>
                  <a:srgbClr val="203B30"/>
                </a:solidFill>
                <a:latin typeface="Arial"/>
                <a:ea typeface="Arial"/>
                <a:cs typeface="Arial"/>
              </a:defRPr>
            </a:pPr>
            <a:r>
              <a:rPr sz="3525" b="1">
                <a:solidFill>
                  <a:srgbClr val="203B30"/>
                </a:solidFill>
                <a:latin typeface="Arial"/>
                <a:ea typeface="Arial"/>
                <a:cs typeface="Arial"/>
              </a:rPr>
              <a:t>Quería que una decisión de ahorro</a:t>
            </a:r>
          </a:p>
          <a:p xmlns:a="http://schemas.openxmlformats.org/drawingml/2006/main">
            <a:pPr>
              <a:defRPr sz="3525" b="1">
                <a:solidFill>
                  <a:srgbClr val="203B30"/>
                </a:solidFill>
                <a:latin typeface="Arial"/>
                <a:ea typeface="Arial"/>
                <a:cs typeface="Arial"/>
              </a:defRPr>
            </a:pPr>
            <a:r>
              <a:rPr sz="3525" b="1">
                <a:solidFill>
                  <a:srgbClr val="203B30"/>
                </a:solidFill>
                <a:latin typeface="Arial"/>
                <a:ea typeface="Arial"/>
                <a:cs typeface="Arial"/>
              </a:rPr>
              <a:t>fuera fácil de entender y comprobar.</a:t>
            </a:r>
          </a:p>
        </p:txBody>
      </p:sp>
      <p:sp>
        <p:nvSpPr>
          <p:cNvPr id="5" name="Utilidad cotidiana">
            <a:extLst xmlns:a="http://schemas.openxmlformats.org/drawingml/2006/main">
              <a:ext uri="{FF2B5EF4-FFF2-40B4-BE49-F238E27FC236}">
                <a16:creationId xmlns:a16="http://schemas.microsoft.com/office/drawing/2014/main" id="{E1E7F17C-C7C0-4AD5-B3D8-2331C718E6B5}"/>
              </a:ext>
            </a:extLst>
          </p:cNvPr>
          <p:cNvSpPr>
            <a:spLocks xmlns:a="http://schemas.openxmlformats.org/drawingml/2006/main" noGrp="1"/>
          </p:cNvSpPr>
          <p:nvPr/>
        </p:nvSpPr>
        <p:spPr>
          <a:xfrm xmlns:a="http://schemas.openxmlformats.org/drawingml/2006/main">
            <a:off x="609600" y="397192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03B30"/>
                </a:solidFill>
                <a:latin typeface="Arial"/>
                <a:ea typeface="Arial"/>
                <a:cs typeface="Arial"/>
              </a:defRPr>
            </a:pPr>
            <a:r>
              <a:rPr sz="2100" b="1">
                <a:solidFill>
                  <a:srgbClr val="203B30"/>
                </a:solidFill>
                <a:latin typeface="Arial"/>
                <a:ea typeface="Arial"/>
                <a:cs typeface="Arial"/>
              </a:rPr>
              <a:t>Utilidad cotidiana</a:t>
            </a:r>
          </a:p>
        </p:txBody>
      </p:sp>
      <p:sp>
        <p:nvSpPr>
          <p:cNvPr id="6" name="Convertir consumos y precios dispersos en una comparación que ayu">
            <a:extLst xmlns:a="http://schemas.openxmlformats.org/drawingml/2006/main">
              <a:ext uri="{FF2B5EF4-FFF2-40B4-BE49-F238E27FC236}">
                <a16:creationId xmlns:a16="http://schemas.microsoft.com/office/drawing/2014/main" id="{8A6F3915-C8CC-4C79-B382-EF711977843D}"/>
              </a:ext>
            </a:extLst>
          </p:cNvPr>
          <p:cNvSpPr>
            <a:spLocks xmlns:a="http://schemas.openxmlformats.org/drawingml/2006/main" noGrp="1"/>
          </p:cNvSpPr>
          <p:nvPr/>
        </p:nvSpPr>
        <p:spPr>
          <a:xfrm xmlns:a="http://schemas.openxmlformats.org/drawingml/2006/main">
            <a:off x="609600" y="4533900"/>
            <a:ext cx="4762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607568"/>
                </a:solidFill>
                <a:latin typeface="Arial"/>
                <a:ea typeface="Arial"/>
                <a:cs typeface="Arial"/>
              </a:defRPr>
            </a:pPr>
            <a:r>
              <a:rPr sz="1950" b="0">
                <a:solidFill>
                  <a:srgbClr val="607568"/>
                </a:solidFill>
                <a:latin typeface="Arial"/>
                <a:ea typeface="Arial"/>
                <a:cs typeface="Arial"/>
              </a:rPr>
              <a:t>Convertir consumos y precios dispersos en una comparación que ayude a decidir.</a:t>
            </a:r>
          </a:p>
        </p:txBody>
      </p:sp>
      <p:sp>
        <p:nvSpPr>
          <p:cNvPr id="7" name="Criterio de ingeniería">
            <a:extLst xmlns:a="http://schemas.openxmlformats.org/drawingml/2006/main">
              <a:ext uri="{FF2B5EF4-FFF2-40B4-BE49-F238E27FC236}">
                <a16:creationId xmlns:a16="http://schemas.microsoft.com/office/drawing/2014/main" id="{47FE2D2E-C2CE-4B1F-8E9C-F546A3D987AE}"/>
              </a:ext>
            </a:extLst>
          </p:cNvPr>
          <p:cNvSpPr>
            <a:spLocks xmlns:a="http://schemas.openxmlformats.org/drawingml/2006/main" noGrp="1"/>
          </p:cNvSpPr>
          <p:nvPr/>
        </p:nvSpPr>
        <p:spPr>
          <a:xfrm xmlns:a="http://schemas.openxmlformats.org/drawingml/2006/main">
            <a:off x="6496050" y="397192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03B30"/>
                </a:solidFill>
                <a:latin typeface="Arial"/>
                <a:ea typeface="Arial"/>
                <a:cs typeface="Arial"/>
              </a:defRPr>
            </a:pPr>
            <a:r>
              <a:rPr sz="2100" b="1">
                <a:solidFill>
                  <a:srgbClr val="203B30"/>
                </a:solidFill>
                <a:latin typeface="Arial"/>
                <a:ea typeface="Arial"/>
                <a:cs typeface="Arial"/>
              </a:rPr>
              <a:t>Criterio de ingeniería</a:t>
            </a:r>
          </a:p>
        </p:txBody>
      </p:sp>
      <p:sp>
        <p:nvSpPr>
          <p:cNvPr id="8" name="Demostrar que la privacidad puede formar parte de la arquitectura">
            <a:extLst xmlns:a="http://schemas.openxmlformats.org/drawingml/2006/main">
              <a:ext uri="{FF2B5EF4-FFF2-40B4-BE49-F238E27FC236}">
                <a16:creationId xmlns:a16="http://schemas.microsoft.com/office/drawing/2014/main" id="{9F54BA18-6D7A-4B5B-877A-D7C4F88C3509}"/>
              </a:ext>
            </a:extLst>
          </p:cNvPr>
          <p:cNvSpPr>
            <a:spLocks xmlns:a="http://schemas.openxmlformats.org/drawingml/2006/main" noGrp="1"/>
          </p:cNvSpPr>
          <p:nvPr/>
        </p:nvSpPr>
        <p:spPr>
          <a:xfrm xmlns:a="http://schemas.openxmlformats.org/drawingml/2006/main">
            <a:off x="6496050" y="4533900"/>
            <a:ext cx="4762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607568"/>
                </a:solidFill>
                <a:latin typeface="Arial"/>
                <a:ea typeface="Arial"/>
                <a:cs typeface="Arial"/>
              </a:defRPr>
            </a:pPr>
            <a:r>
              <a:rPr sz="1950" b="0">
                <a:solidFill>
                  <a:srgbClr val="607568"/>
                </a:solidFill>
                <a:latin typeface="Arial"/>
                <a:ea typeface="Arial"/>
                <a:cs typeface="Arial"/>
              </a:rPr>
              <a:t>Demostrar que la privacidad puede formar parte de la arquitectura desde el inicio.</a:t>
            </a:r>
          </a:p>
        </p:txBody>
      </p:sp>
    </p:spTree>
    <p:extLst>
      <p:ext uri="{BB962C8B-B14F-4D97-AF65-F5344CB8AC3E}">
        <p14:creationId xmlns:p14="http://schemas.microsoft.com/office/powerpoint/2010/main" val="606341881"/>
      </p:ext>
    </p:extLst>
  </p:cSld>
</p:sld>
</file>

<file path=ppt/slides/slide4.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9" name="Qué hace BlindSave hoy">
            <a:extLst xmlns:a="http://schemas.openxmlformats.org/drawingml/2006/main">
              <a:ext uri="{FF2B5EF4-FFF2-40B4-BE49-F238E27FC236}">
                <a16:creationId xmlns:a16="http://schemas.microsoft.com/office/drawing/2014/main" id="{EEA59BCE-A167-48E2-82DF-B9A4E32680DB}"/>
              </a:ext>
            </a:extLst>
          </p:cNvPr>
          <p:cNvSpPr>
            <a:spLocks xmlns:a="http://schemas.openxmlformats.org/drawingml/2006/main" noGrp="1"/>
          </p:cNvSpPr>
          <p:nvPr/>
        </p:nvSpPr>
        <p:spPr>
          <a:xfrm xmlns:a="http://schemas.openxmlformats.org/drawingml/2006/main">
            <a:off x="609600" y="5715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03B30"/>
                </a:solidFill>
                <a:latin typeface="Arial"/>
                <a:ea typeface="Arial"/>
                <a:cs typeface="Arial"/>
              </a:defRPr>
            </a:pPr>
            <a:r>
              <a:rPr sz="3450" b="1">
                <a:solidFill>
                  <a:srgbClr val="203B30"/>
                </a:solidFill>
                <a:latin typeface="Arial"/>
                <a:ea typeface="Arial"/>
                <a:cs typeface="Arial"/>
              </a:rPr>
              <a:t>Qué hace BlindSave hoy</a:t>
            </a:r>
          </a:p>
        </p:txBody>
      </p:sp>
      <p:sp>
        <p:nvSpPr>
          <p:cNvPr id="2" name="blindsave.">
            <a:extLst xmlns:a="http://schemas.openxmlformats.org/drawingml/2006/main">
              <a:ext uri="{FF2B5EF4-FFF2-40B4-BE49-F238E27FC236}">
                <a16:creationId xmlns:a16="http://schemas.microsoft.com/office/drawing/2014/main" id="{515D9A8E-E811-45AC-B0E4-62A7A62E6641}"/>
              </a:ext>
            </a:extLst>
          </p:cNvPr>
          <p:cNvSpPr>
            <a:spLocks xmlns:a="http://schemas.openxmlformats.org/drawingml/2006/main" noGrp="1"/>
          </p:cNvSpPr>
          <p:nvPr/>
        </p:nvSpPr>
        <p:spPr>
          <a:xfrm xmlns:a="http://schemas.openxmlformats.org/drawingml/2006/main">
            <a:off x="609600" y="64293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607568"/>
                </a:solidFill>
                <a:latin typeface="Arial"/>
                <a:ea typeface="Arial"/>
                <a:cs typeface="Arial"/>
              </a:defRPr>
            </a:pPr>
            <a:r>
              <a:rPr sz="1200" b="1">
                <a:solidFill>
                  <a:srgbClr val="607568"/>
                </a:solidFill>
                <a:latin typeface="Arial"/>
                <a:ea typeface="Arial"/>
                <a:cs typeface="Arial"/>
              </a:rPr>
              <a:t>blindsave.</a:t>
            </a:r>
          </a:p>
        </p:txBody>
      </p:sp>
      <p:sp>
        <p:nvSpPr>
          <p:cNvPr id="3" name="04">
            <a:extLst xmlns:a="http://schemas.openxmlformats.org/drawingml/2006/main">
              <a:ext uri="{FF2B5EF4-FFF2-40B4-BE49-F238E27FC236}">
                <a16:creationId xmlns:a16="http://schemas.microsoft.com/office/drawing/2014/main" id="{92447C5A-55FA-4855-807F-0759E0C8A3C3}"/>
              </a:ext>
            </a:extLst>
          </p:cNvPr>
          <p:cNvSpPr>
            <a:spLocks xmlns:a="http://schemas.openxmlformats.org/drawingml/2006/main" noGrp="1"/>
          </p:cNvSpPr>
          <p:nvPr/>
        </p:nvSpPr>
        <p:spPr>
          <a:xfrm xmlns:a="http://schemas.openxmlformats.org/drawingml/2006/main">
            <a:off x="1114425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7568"/>
                </a:solidFill>
                <a:latin typeface="Arial"/>
                <a:ea typeface="Arial"/>
                <a:cs typeface="Arial"/>
              </a:defRPr>
            </a:pPr>
            <a:r>
              <a:rPr sz="1200" b="0">
                <a:solidFill>
                  <a:srgbClr val="607568"/>
                </a:solidFill>
                <a:latin typeface="Arial"/>
                <a:ea typeface="Arial"/>
                <a:cs typeface="Arial"/>
              </a:rPr>
              <a:t>04</a:t>
            </a:r>
          </a:p>
        </p:txBody>
      </p:sp>
      <p:sp>
        <p:nvSpPr>
          <p:cNvPr id="4" name="Compara tarifas eléctricas&#10;con tu consumo.">
            <a:extLst xmlns:a="http://schemas.openxmlformats.org/drawingml/2006/main">
              <a:ext uri="{FF2B5EF4-FFF2-40B4-BE49-F238E27FC236}">
                <a16:creationId xmlns:a16="http://schemas.microsoft.com/office/drawing/2014/main" id="{59E04664-26AC-445A-B2CE-65C1EC12B4A3}"/>
              </a:ext>
            </a:extLst>
          </p:cNvPr>
          <p:cNvSpPr>
            <a:spLocks xmlns:a="http://schemas.openxmlformats.org/drawingml/2006/main" noGrp="1"/>
          </p:cNvSpPr>
          <p:nvPr/>
        </p:nvSpPr>
        <p:spPr>
          <a:xfrm xmlns:a="http://schemas.openxmlformats.org/drawingml/2006/main">
            <a:off x="609600" y="2009775"/>
            <a:ext cx="4143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203B30"/>
                </a:solidFill>
                <a:latin typeface="Arial"/>
                <a:ea typeface="Arial"/>
                <a:cs typeface="Arial"/>
              </a:defRPr>
            </a:pPr>
            <a:r>
              <a:rPr sz="2550" b="1">
                <a:solidFill>
                  <a:srgbClr val="203B30"/>
                </a:solidFill>
                <a:latin typeface="Arial"/>
                <a:ea typeface="Arial"/>
                <a:cs typeface="Arial"/>
              </a:rPr>
              <a:t>Compara tarifas eléctricas</a:t>
            </a:r>
          </a:p>
          <a:p xmlns:a="http://schemas.openxmlformats.org/drawingml/2006/main">
            <a:pPr>
              <a:defRPr sz="2550" b="1">
                <a:solidFill>
                  <a:srgbClr val="203B30"/>
                </a:solidFill>
                <a:latin typeface="Arial"/>
                <a:ea typeface="Arial"/>
                <a:cs typeface="Arial"/>
              </a:defRPr>
            </a:pPr>
            <a:r>
              <a:rPr sz="2550" b="1">
                <a:solidFill>
                  <a:srgbClr val="203B30"/>
                </a:solidFill>
                <a:latin typeface="Arial"/>
                <a:ea typeface="Arial"/>
                <a:cs typeface="Arial"/>
              </a:rPr>
              <a:t>con tu consumo.</a:t>
            </a:r>
          </a:p>
        </p:txBody>
      </p:sp>
      <p:sp>
        <p:nvSpPr>
          <p:cNvPr id="5" name="Muestra el coste anual,&#10;el ahorro potencial y&#10;las condiciones de ">
            <a:extLst xmlns:a="http://schemas.openxmlformats.org/drawingml/2006/main">
              <a:ext uri="{FF2B5EF4-FFF2-40B4-BE49-F238E27FC236}">
                <a16:creationId xmlns:a16="http://schemas.microsoft.com/office/drawing/2014/main" id="{2387F900-DF69-4838-80D8-B5155D16BF7F}"/>
              </a:ext>
            </a:extLst>
          </p:cNvPr>
          <p:cNvSpPr>
            <a:spLocks xmlns:a="http://schemas.openxmlformats.org/drawingml/2006/main" noGrp="1"/>
          </p:cNvSpPr>
          <p:nvPr/>
        </p:nvSpPr>
        <p:spPr>
          <a:xfrm xmlns:a="http://schemas.openxmlformats.org/drawingml/2006/main">
            <a:off x="609600" y="3381375"/>
            <a:ext cx="3810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607568"/>
                </a:solidFill>
                <a:latin typeface="Arial"/>
                <a:ea typeface="Arial"/>
                <a:cs typeface="Arial"/>
              </a:defRPr>
            </a:pPr>
            <a:r>
              <a:rPr sz="2025" b="0">
                <a:solidFill>
                  <a:srgbClr val="607568"/>
                </a:solidFill>
                <a:latin typeface="Arial"/>
                <a:ea typeface="Arial"/>
                <a:cs typeface="Arial"/>
              </a:rPr>
              <a:t>Muestra el coste anual,</a:t>
            </a:r>
          </a:p>
          <a:p xmlns:a="http://schemas.openxmlformats.org/drawingml/2006/main">
            <a:pPr>
              <a:defRPr sz="2025" b="0">
                <a:solidFill>
                  <a:srgbClr val="607568"/>
                </a:solidFill>
                <a:latin typeface="Arial"/>
                <a:ea typeface="Arial"/>
                <a:cs typeface="Arial"/>
              </a:defRPr>
            </a:pPr>
            <a:r>
              <a:rPr sz="2025" b="0">
                <a:solidFill>
                  <a:srgbClr val="607568"/>
                </a:solidFill>
                <a:latin typeface="Arial"/>
                <a:ea typeface="Arial"/>
                <a:cs typeface="Arial"/>
              </a:rPr>
              <a:t>el ahorro potencial y</a:t>
            </a:r>
          </a:p>
          <a:p xmlns:a="http://schemas.openxmlformats.org/drawingml/2006/main">
            <a:pPr>
              <a:defRPr sz="2025" b="0">
                <a:solidFill>
                  <a:srgbClr val="607568"/>
                </a:solidFill>
                <a:latin typeface="Arial"/>
                <a:ea typeface="Arial"/>
                <a:cs typeface="Arial"/>
              </a:defRPr>
            </a:pPr>
            <a:r>
              <a:rPr sz="2025" b="0">
                <a:solidFill>
                  <a:srgbClr val="607568"/>
                </a:solidFill>
                <a:latin typeface="Arial"/>
                <a:ea typeface="Arial"/>
                <a:cs typeface="Arial"/>
              </a:rPr>
              <a:t>las condiciones de cada opción.</a:t>
            </a:r>
          </a:p>
        </p:txBody>
      </p:sp>
      <p:sp>
        <p:nvSpPr>
          <p:cNvPr id="6" name="Electricidad 2.0TD&#10;Península y Baleares&#10;Hasta 15 kW">
            <a:extLst xmlns:a="http://schemas.openxmlformats.org/drawingml/2006/main">
              <a:ext uri="{FF2B5EF4-FFF2-40B4-BE49-F238E27FC236}">
                <a16:creationId xmlns:a16="http://schemas.microsoft.com/office/drawing/2014/main" id="{C195D7F2-872D-4132-8AD1-1DC631BA8BAB}"/>
              </a:ext>
            </a:extLst>
          </p:cNvPr>
          <p:cNvSpPr>
            <a:spLocks xmlns:a="http://schemas.openxmlformats.org/drawingml/2006/main" noGrp="1"/>
          </p:cNvSpPr>
          <p:nvPr/>
        </p:nvSpPr>
        <p:spPr>
          <a:xfrm xmlns:a="http://schemas.openxmlformats.org/drawingml/2006/main">
            <a:off x="609600" y="5095875"/>
            <a:ext cx="4000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203B30"/>
                </a:solidFill>
                <a:latin typeface="Arial"/>
                <a:ea typeface="Arial"/>
                <a:cs typeface="Arial"/>
              </a:defRPr>
            </a:pPr>
            <a:r>
              <a:rPr sz="1725" b="0">
                <a:solidFill>
                  <a:srgbClr val="203B30"/>
                </a:solidFill>
                <a:latin typeface="Arial"/>
                <a:ea typeface="Arial"/>
                <a:cs typeface="Arial"/>
              </a:rPr>
              <a:t>Electricidad 2.0TD</a:t>
            </a:r>
          </a:p>
          <a:p xmlns:a="http://schemas.openxmlformats.org/drawingml/2006/main">
            <a:pPr>
              <a:defRPr sz="1725" b="0">
                <a:solidFill>
                  <a:srgbClr val="203B30"/>
                </a:solidFill>
                <a:latin typeface="Arial"/>
                <a:ea typeface="Arial"/>
                <a:cs typeface="Arial"/>
              </a:defRPr>
            </a:pPr>
            <a:r>
              <a:rPr sz="1725" b="0">
                <a:solidFill>
                  <a:srgbClr val="203B30"/>
                </a:solidFill>
                <a:latin typeface="Arial"/>
                <a:ea typeface="Arial"/>
                <a:cs typeface="Arial"/>
              </a:rPr>
              <a:t>Península y Baleares</a:t>
            </a:r>
          </a:p>
          <a:p xmlns:a="http://schemas.openxmlformats.org/drawingml/2006/main">
            <a:pPr>
              <a:defRPr sz="1725" b="0">
                <a:solidFill>
                  <a:srgbClr val="203B30"/>
                </a:solidFill>
                <a:latin typeface="Arial"/>
                <a:ea typeface="Arial"/>
                <a:cs typeface="Arial"/>
              </a:defRPr>
            </a:pPr>
            <a:r>
              <a:rPr sz="1725" b="0">
                <a:solidFill>
                  <a:srgbClr val="203B30"/>
                </a:solidFill>
                <a:latin typeface="Arial"/>
                <a:ea typeface="Arial"/>
                <a:cs typeface="Arial"/>
              </a:rPr>
              <a:t>Hasta 15 kW</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9e0a57fc9364838"/>
          <a:stretch xmlns:a="http://schemas.openxmlformats.org/drawingml/2006/main"/>
        </p:blipFill>
        <p:spPr>
          <a:xfrm xmlns:a="http://schemas.openxmlformats.org/drawingml/2006/main">
            <a:off x="5629912" y="1714500"/>
            <a:ext cx="5266051" cy="4429125"/>
          </a:xfrm>
          <a:prstGeom xmlns:a="http://schemas.openxmlformats.org/drawingml/2006/main" prst="rect">
            <a:avLst/>
          </a:prstGeom>
        </p:spPr>
      </p:pic>
      <p:sp>
        <p:nvSpPr>
          <p:cNvPr id="8" name="Captura real de la app. Tarifas ficticias de demostración.">
            <a:extLst xmlns:a="http://schemas.openxmlformats.org/drawingml/2006/main">
              <a:ext uri="{FF2B5EF4-FFF2-40B4-BE49-F238E27FC236}">
                <a16:creationId xmlns:a16="http://schemas.microsoft.com/office/drawing/2014/main" id="{06A8D3B6-AE23-4A98-A6ED-67A7D7E79C68}"/>
              </a:ext>
            </a:extLst>
          </p:cNvPr>
          <p:cNvSpPr>
            <a:spLocks xmlns:a="http://schemas.openxmlformats.org/drawingml/2006/main" noGrp="1"/>
          </p:cNvSpPr>
          <p:nvPr/>
        </p:nvSpPr>
        <p:spPr>
          <a:xfrm xmlns:a="http://schemas.openxmlformats.org/drawingml/2006/main">
            <a:off x="5143500" y="6124575"/>
            <a:ext cx="633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607568"/>
                </a:solidFill>
                <a:latin typeface="Arial"/>
                <a:ea typeface="Arial"/>
                <a:cs typeface="Arial"/>
              </a:defRPr>
            </a:pPr>
            <a:r>
              <a:rPr sz="1125" b="0">
                <a:solidFill>
                  <a:srgbClr val="607568"/>
                </a:solidFill>
                <a:latin typeface="Arial"/>
                <a:ea typeface="Arial"/>
                <a:cs typeface="Arial"/>
              </a:rPr>
              <a:t>Captura real de la app. Tarifas ficticias de demostración.</a:t>
            </a:r>
          </a:p>
        </p:txBody>
      </p:sp>
    </p:spTree>
    <p:extLst>
      <p:ext uri="{BB962C8B-B14F-4D97-AF65-F5344CB8AC3E}">
        <p14:creationId xmlns:p14="http://schemas.microsoft.com/office/powerpoint/2010/main" val="691971647"/>
      </p:ext>
    </p:extLst>
  </p:cSld>
</p:sld>
</file>

<file path=ppt/slides/slide5.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7" name="La experiencia de uso">
            <a:extLst xmlns:a="http://schemas.openxmlformats.org/drawingml/2006/main">
              <a:ext uri="{FF2B5EF4-FFF2-40B4-BE49-F238E27FC236}">
                <a16:creationId xmlns:a16="http://schemas.microsoft.com/office/drawing/2014/main" id="{F3DA1DF6-3F9D-46F1-8B75-CD537318879D}"/>
              </a:ext>
            </a:extLst>
          </p:cNvPr>
          <p:cNvSpPr>
            <a:spLocks xmlns:a="http://schemas.openxmlformats.org/drawingml/2006/main" noGrp="1"/>
          </p:cNvSpPr>
          <p:nvPr/>
        </p:nvSpPr>
        <p:spPr>
          <a:xfrm xmlns:a="http://schemas.openxmlformats.org/drawingml/2006/main">
            <a:off x="609600" y="5715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03B30"/>
                </a:solidFill>
                <a:latin typeface="Arial"/>
                <a:ea typeface="Arial"/>
                <a:cs typeface="Arial"/>
              </a:defRPr>
            </a:pPr>
            <a:r>
              <a:rPr sz="3450" b="1">
                <a:solidFill>
                  <a:srgbClr val="203B30"/>
                </a:solidFill>
                <a:latin typeface="Arial"/>
                <a:ea typeface="Arial"/>
                <a:cs typeface="Arial"/>
              </a:rPr>
              <a:t>La experiencia de uso</a:t>
            </a:r>
          </a:p>
        </p:txBody>
      </p:sp>
      <p:sp>
        <p:nvSpPr>
          <p:cNvPr id="2" name="blindsave.">
            <a:extLst xmlns:a="http://schemas.openxmlformats.org/drawingml/2006/main">
              <a:ext uri="{FF2B5EF4-FFF2-40B4-BE49-F238E27FC236}">
                <a16:creationId xmlns:a16="http://schemas.microsoft.com/office/drawing/2014/main" id="{9B09D983-2827-443E-9D3D-310F317FFDC9}"/>
              </a:ext>
            </a:extLst>
          </p:cNvPr>
          <p:cNvSpPr>
            <a:spLocks xmlns:a="http://schemas.openxmlformats.org/drawingml/2006/main" noGrp="1"/>
          </p:cNvSpPr>
          <p:nvPr/>
        </p:nvSpPr>
        <p:spPr>
          <a:xfrm xmlns:a="http://schemas.openxmlformats.org/drawingml/2006/main">
            <a:off x="609600" y="64293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607568"/>
                </a:solidFill>
                <a:latin typeface="Arial"/>
                <a:ea typeface="Arial"/>
                <a:cs typeface="Arial"/>
              </a:defRPr>
            </a:pPr>
            <a:r>
              <a:rPr sz="1200" b="1">
                <a:solidFill>
                  <a:srgbClr val="607568"/>
                </a:solidFill>
                <a:latin typeface="Arial"/>
                <a:ea typeface="Arial"/>
                <a:cs typeface="Arial"/>
              </a:rPr>
              <a:t>blindsave.</a:t>
            </a:r>
          </a:p>
        </p:txBody>
      </p:sp>
      <p:sp>
        <p:nvSpPr>
          <p:cNvPr id="3" name="05">
            <a:extLst xmlns:a="http://schemas.openxmlformats.org/drawingml/2006/main">
              <a:ext uri="{FF2B5EF4-FFF2-40B4-BE49-F238E27FC236}">
                <a16:creationId xmlns:a16="http://schemas.microsoft.com/office/drawing/2014/main" id="{2F78F07A-370C-480A-B523-194B6D0E5AC8}"/>
              </a:ext>
            </a:extLst>
          </p:cNvPr>
          <p:cNvSpPr>
            <a:spLocks xmlns:a="http://schemas.openxmlformats.org/drawingml/2006/main" noGrp="1"/>
          </p:cNvSpPr>
          <p:nvPr/>
        </p:nvSpPr>
        <p:spPr>
          <a:xfrm xmlns:a="http://schemas.openxmlformats.org/drawingml/2006/main">
            <a:off x="1114425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7568"/>
                </a:solidFill>
                <a:latin typeface="Arial"/>
                <a:ea typeface="Arial"/>
                <a:cs typeface="Arial"/>
              </a:defRPr>
            </a:pPr>
            <a:r>
              <a:rPr sz="1200" b="0">
                <a:solidFill>
                  <a:srgbClr val="607568"/>
                </a:solidFill>
                <a:latin typeface="Arial"/>
                <a:ea typeface="Arial"/>
                <a:cs typeface="Arial"/>
              </a:rPr>
              <a:t>05</a:t>
            </a:r>
          </a:p>
        </p:txBody>
      </p:sp>
      <p:sp>
        <p:nvSpPr>
          <p:cNvPr id="4" name="01">
            <a:extLst xmlns:a="http://schemas.openxmlformats.org/drawingml/2006/main">
              <a:ext uri="{FF2B5EF4-FFF2-40B4-BE49-F238E27FC236}">
                <a16:creationId xmlns:a16="http://schemas.microsoft.com/office/drawing/2014/main" id="{13979B9E-993C-450E-A6D8-C3B6F650B6D7}"/>
              </a:ext>
            </a:extLst>
          </p:cNvPr>
          <p:cNvSpPr>
            <a:spLocks xmlns:a="http://schemas.openxmlformats.org/drawingml/2006/main" noGrp="1"/>
          </p:cNvSpPr>
          <p:nvPr/>
        </p:nvSpPr>
        <p:spPr>
          <a:xfrm xmlns:a="http://schemas.openxmlformats.org/drawingml/2006/main">
            <a:off x="609600" y="2000250"/>
            <a:ext cx="2457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0">
                <a:solidFill>
                  <a:srgbClr val="607568"/>
                </a:solidFill>
                <a:latin typeface="Arial"/>
                <a:ea typeface="Arial"/>
                <a:cs typeface="Arial"/>
              </a:defRPr>
            </a:pPr>
            <a:r>
              <a:rPr sz="3600" b="0">
                <a:solidFill>
                  <a:srgbClr val="607568"/>
                </a:solidFill>
                <a:latin typeface="Arial"/>
                <a:ea typeface="Arial"/>
                <a:cs typeface="Arial"/>
              </a:rPr>
              <a:t>01</a:t>
            </a:r>
          </a:p>
        </p:txBody>
      </p:sp>
      <p:sp>
        <p:nvSpPr>
          <p:cNvPr id="5" name="Aportar consumo">
            <a:extLst xmlns:a="http://schemas.openxmlformats.org/drawingml/2006/main">
              <a:ext uri="{FF2B5EF4-FFF2-40B4-BE49-F238E27FC236}">
                <a16:creationId xmlns:a16="http://schemas.microsoft.com/office/drawing/2014/main" id="{03DB1ED2-2591-4B49-86D8-26517129FEAF}"/>
              </a:ext>
            </a:extLst>
          </p:cNvPr>
          <p:cNvSpPr>
            <a:spLocks xmlns:a="http://schemas.openxmlformats.org/drawingml/2006/main" noGrp="1"/>
          </p:cNvSpPr>
          <p:nvPr/>
        </p:nvSpPr>
        <p:spPr>
          <a:xfrm xmlns:a="http://schemas.openxmlformats.org/drawingml/2006/main">
            <a:off x="609600" y="2752725"/>
            <a:ext cx="2457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03B30"/>
                </a:solidFill>
                <a:latin typeface="Arial"/>
                <a:ea typeface="Arial"/>
                <a:cs typeface="Arial"/>
              </a:defRPr>
            </a:pPr>
            <a:r>
              <a:rPr sz="2175" b="1">
                <a:solidFill>
                  <a:srgbClr val="203B30"/>
                </a:solidFill>
                <a:latin typeface="Arial"/>
                <a:ea typeface="Arial"/>
                <a:cs typeface="Arial"/>
              </a:rPr>
              <a:t>Aportar consumo</a:t>
            </a:r>
          </a:p>
        </p:txBody>
      </p:sp>
      <p:sp>
        <p:nvSpPr>
          <p:cNvPr id="6" name="Entrada manual&#10;por periodos o&#10;CSV compatible.">
            <a:extLst xmlns:a="http://schemas.openxmlformats.org/drawingml/2006/main">
              <a:ext uri="{FF2B5EF4-FFF2-40B4-BE49-F238E27FC236}">
                <a16:creationId xmlns:a16="http://schemas.microsoft.com/office/drawing/2014/main" id="{1AC1F972-5330-4230-B17C-4508C8B39A7D}"/>
              </a:ext>
            </a:extLst>
          </p:cNvPr>
          <p:cNvSpPr>
            <a:spLocks xmlns:a="http://schemas.openxmlformats.org/drawingml/2006/main" noGrp="1"/>
          </p:cNvSpPr>
          <p:nvPr/>
        </p:nvSpPr>
        <p:spPr>
          <a:xfrm xmlns:a="http://schemas.openxmlformats.org/drawingml/2006/main">
            <a:off x="609600" y="3514725"/>
            <a:ext cx="24574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Entrada manual</a:t>
            </a:r>
          </a:p>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por periodos o</a:t>
            </a:r>
          </a:p>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CSV compatible.</a:t>
            </a:r>
          </a:p>
        </p:txBody>
      </p:sp>
      <p:sp>
        <p:nvSpPr>
          <p:cNvPr id="7" name="02">
            <a:extLst xmlns:a="http://schemas.openxmlformats.org/drawingml/2006/main">
              <a:ext uri="{FF2B5EF4-FFF2-40B4-BE49-F238E27FC236}">
                <a16:creationId xmlns:a16="http://schemas.microsoft.com/office/drawing/2014/main" id="{5B6B5662-5FF2-4EDF-9AE5-2A8C225EC2AC}"/>
              </a:ext>
            </a:extLst>
          </p:cNvPr>
          <p:cNvSpPr>
            <a:spLocks xmlns:a="http://schemas.openxmlformats.org/drawingml/2006/main" noGrp="1"/>
          </p:cNvSpPr>
          <p:nvPr/>
        </p:nvSpPr>
        <p:spPr>
          <a:xfrm xmlns:a="http://schemas.openxmlformats.org/drawingml/2006/main">
            <a:off x="3438525" y="2000250"/>
            <a:ext cx="2457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0">
                <a:solidFill>
                  <a:srgbClr val="607568"/>
                </a:solidFill>
                <a:latin typeface="Arial"/>
                <a:ea typeface="Arial"/>
                <a:cs typeface="Arial"/>
              </a:defRPr>
            </a:pPr>
            <a:r>
              <a:rPr sz="3600" b="0">
                <a:solidFill>
                  <a:srgbClr val="607568"/>
                </a:solidFill>
                <a:latin typeface="Arial"/>
                <a:ea typeface="Arial"/>
                <a:cs typeface="Arial"/>
              </a:rPr>
              <a:t>02</a:t>
            </a:r>
          </a:p>
        </p:txBody>
      </p:sp>
      <p:sp>
        <p:nvSpPr>
          <p:cNvPr id="8" name="Añadir precios">
            <a:extLst xmlns:a="http://schemas.openxmlformats.org/drawingml/2006/main">
              <a:ext uri="{FF2B5EF4-FFF2-40B4-BE49-F238E27FC236}">
                <a16:creationId xmlns:a16="http://schemas.microsoft.com/office/drawing/2014/main" id="{2598C50D-3180-469F-B8B7-A643F2DA981A}"/>
              </a:ext>
            </a:extLst>
          </p:cNvPr>
          <p:cNvSpPr>
            <a:spLocks xmlns:a="http://schemas.openxmlformats.org/drawingml/2006/main" noGrp="1"/>
          </p:cNvSpPr>
          <p:nvPr/>
        </p:nvSpPr>
        <p:spPr>
          <a:xfrm xmlns:a="http://schemas.openxmlformats.org/drawingml/2006/main">
            <a:off x="3438525" y="2752725"/>
            <a:ext cx="2457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03B30"/>
                </a:solidFill>
                <a:latin typeface="Arial"/>
                <a:ea typeface="Arial"/>
                <a:cs typeface="Arial"/>
              </a:defRPr>
            </a:pPr>
            <a:r>
              <a:rPr sz="2175" b="1">
                <a:solidFill>
                  <a:srgbClr val="203B30"/>
                </a:solidFill>
                <a:latin typeface="Arial"/>
                <a:ea typeface="Arial"/>
                <a:cs typeface="Arial"/>
              </a:rPr>
              <a:t>Añadir precios</a:t>
            </a:r>
          </a:p>
        </p:txBody>
      </p:sp>
      <p:sp>
        <p:nvSpPr>
          <p:cNvPr id="9" name="Potencias contratadas&#10;y precios de la&#10;tarifa actual.">
            <a:extLst xmlns:a="http://schemas.openxmlformats.org/drawingml/2006/main">
              <a:ext uri="{FF2B5EF4-FFF2-40B4-BE49-F238E27FC236}">
                <a16:creationId xmlns:a16="http://schemas.microsoft.com/office/drawing/2014/main" id="{4C067308-A10A-4784-A4E9-398A376F9292}"/>
              </a:ext>
            </a:extLst>
          </p:cNvPr>
          <p:cNvSpPr>
            <a:spLocks xmlns:a="http://schemas.openxmlformats.org/drawingml/2006/main" noGrp="1"/>
          </p:cNvSpPr>
          <p:nvPr/>
        </p:nvSpPr>
        <p:spPr>
          <a:xfrm xmlns:a="http://schemas.openxmlformats.org/drawingml/2006/main">
            <a:off x="3438525" y="3514725"/>
            <a:ext cx="24574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Potencias contratadas</a:t>
            </a:r>
          </a:p>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y precios de la</a:t>
            </a:r>
          </a:p>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tarifa actual.</a:t>
            </a:r>
          </a:p>
        </p:txBody>
      </p:sp>
      <p:sp>
        <p:nvSpPr>
          <p:cNvPr id="10" name="03">
            <a:extLst xmlns:a="http://schemas.openxmlformats.org/drawingml/2006/main">
              <a:ext uri="{FF2B5EF4-FFF2-40B4-BE49-F238E27FC236}">
                <a16:creationId xmlns:a16="http://schemas.microsoft.com/office/drawing/2014/main" id="{192A00B8-F9BB-4677-8D7C-CF2CC11C1636}"/>
              </a:ext>
            </a:extLst>
          </p:cNvPr>
          <p:cNvSpPr>
            <a:spLocks xmlns:a="http://schemas.openxmlformats.org/drawingml/2006/main" noGrp="1"/>
          </p:cNvSpPr>
          <p:nvPr/>
        </p:nvSpPr>
        <p:spPr>
          <a:xfrm xmlns:a="http://schemas.openxmlformats.org/drawingml/2006/main">
            <a:off x="6267450" y="2000250"/>
            <a:ext cx="2457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0">
                <a:solidFill>
                  <a:srgbClr val="607568"/>
                </a:solidFill>
                <a:latin typeface="Arial"/>
                <a:ea typeface="Arial"/>
                <a:cs typeface="Arial"/>
              </a:defRPr>
            </a:pPr>
            <a:r>
              <a:rPr sz="3600" b="0">
                <a:solidFill>
                  <a:srgbClr val="607568"/>
                </a:solidFill>
                <a:latin typeface="Arial"/>
                <a:ea typeface="Arial"/>
                <a:cs typeface="Arial"/>
              </a:rPr>
              <a:t>03</a:t>
            </a:r>
          </a:p>
        </p:txBody>
      </p:sp>
      <p:sp>
        <p:nvSpPr>
          <p:cNvPr id="11" name="Comparar">
            <a:extLst xmlns:a="http://schemas.openxmlformats.org/drawingml/2006/main">
              <a:ext uri="{FF2B5EF4-FFF2-40B4-BE49-F238E27FC236}">
                <a16:creationId xmlns:a16="http://schemas.microsoft.com/office/drawing/2014/main" id="{D97338D9-6F60-4F82-93AB-69EF5200F940}"/>
              </a:ext>
            </a:extLst>
          </p:cNvPr>
          <p:cNvSpPr>
            <a:spLocks xmlns:a="http://schemas.openxmlformats.org/drawingml/2006/main" noGrp="1"/>
          </p:cNvSpPr>
          <p:nvPr/>
        </p:nvSpPr>
        <p:spPr>
          <a:xfrm xmlns:a="http://schemas.openxmlformats.org/drawingml/2006/main">
            <a:off x="6267450" y="2752725"/>
            <a:ext cx="2457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03B30"/>
                </a:solidFill>
                <a:latin typeface="Arial"/>
                <a:ea typeface="Arial"/>
                <a:cs typeface="Arial"/>
              </a:defRPr>
            </a:pPr>
            <a:r>
              <a:rPr sz="2175" b="1">
                <a:solidFill>
                  <a:srgbClr val="203B30"/>
                </a:solidFill>
                <a:latin typeface="Arial"/>
                <a:ea typeface="Arial"/>
                <a:cs typeface="Arial"/>
              </a:rPr>
              <a:t>Comparar</a:t>
            </a:r>
          </a:p>
        </p:txBody>
      </p:sp>
      <p:sp>
        <p:nvSpPr>
          <p:cNvPr id="12" name="Coste anual completo&#10;y ahorro frente&#10;a cada alternativa.">
            <a:extLst xmlns:a="http://schemas.openxmlformats.org/drawingml/2006/main">
              <a:ext uri="{FF2B5EF4-FFF2-40B4-BE49-F238E27FC236}">
                <a16:creationId xmlns:a16="http://schemas.microsoft.com/office/drawing/2014/main" id="{C0FE17E0-E19D-41C5-A30A-B4A4331649AC}"/>
              </a:ext>
            </a:extLst>
          </p:cNvPr>
          <p:cNvSpPr>
            <a:spLocks xmlns:a="http://schemas.openxmlformats.org/drawingml/2006/main" noGrp="1"/>
          </p:cNvSpPr>
          <p:nvPr/>
        </p:nvSpPr>
        <p:spPr>
          <a:xfrm xmlns:a="http://schemas.openxmlformats.org/drawingml/2006/main">
            <a:off x="6267450" y="3514725"/>
            <a:ext cx="24574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Coste anual completo</a:t>
            </a:r>
          </a:p>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y ahorro frente</a:t>
            </a:r>
          </a:p>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a cada alternativa.</a:t>
            </a:r>
          </a:p>
        </p:txBody>
      </p:sp>
      <p:sp>
        <p:nvSpPr>
          <p:cNvPr id="13" name="04">
            <a:extLst xmlns:a="http://schemas.openxmlformats.org/drawingml/2006/main">
              <a:ext uri="{FF2B5EF4-FFF2-40B4-BE49-F238E27FC236}">
                <a16:creationId xmlns:a16="http://schemas.microsoft.com/office/drawing/2014/main" id="{C7A01BFD-665B-4953-AD87-B41E719730BE}"/>
              </a:ext>
            </a:extLst>
          </p:cNvPr>
          <p:cNvSpPr>
            <a:spLocks xmlns:a="http://schemas.openxmlformats.org/drawingml/2006/main" noGrp="1"/>
          </p:cNvSpPr>
          <p:nvPr/>
        </p:nvSpPr>
        <p:spPr>
          <a:xfrm xmlns:a="http://schemas.openxmlformats.org/drawingml/2006/main">
            <a:off x="9096375" y="2000250"/>
            <a:ext cx="2457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0">
                <a:solidFill>
                  <a:srgbClr val="607568"/>
                </a:solidFill>
                <a:latin typeface="Arial"/>
                <a:ea typeface="Arial"/>
                <a:cs typeface="Arial"/>
              </a:defRPr>
            </a:pPr>
            <a:r>
              <a:rPr sz="3600" b="0">
                <a:solidFill>
                  <a:srgbClr val="607568"/>
                </a:solidFill>
                <a:latin typeface="Arial"/>
                <a:ea typeface="Arial"/>
                <a:cs typeface="Arial"/>
              </a:rPr>
              <a:t>04</a:t>
            </a:r>
          </a:p>
        </p:txBody>
      </p:sp>
      <p:sp>
        <p:nvSpPr>
          <p:cNvPr id="14" name="Decidir">
            <a:extLst xmlns:a="http://schemas.openxmlformats.org/drawingml/2006/main">
              <a:ext uri="{FF2B5EF4-FFF2-40B4-BE49-F238E27FC236}">
                <a16:creationId xmlns:a16="http://schemas.microsoft.com/office/drawing/2014/main" id="{ED25EE9E-0F90-477A-9CC9-D2DED9F20B10}"/>
              </a:ext>
            </a:extLst>
          </p:cNvPr>
          <p:cNvSpPr>
            <a:spLocks xmlns:a="http://schemas.openxmlformats.org/drawingml/2006/main" noGrp="1"/>
          </p:cNvSpPr>
          <p:nvPr/>
        </p:nvSpPr>
        <p:spPr>
          <a:xfrm xmlns:a="http://schemas.openxmlformats.org/drawingml/2006/main">
            <a:off x="9096375" y="2752725"/>
            <a:ext cx="2457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03B30"/>
                </a:solidFill>
                <a:latin typeface="Arial"/>
                <a:ea typeface="Arial"/>
                <a:cs typeface="Arial"/>
              </a:defRPr>
            </a:pPr>
            <a:r>
              <a:rPr sz="2175" b="1">
                <a:solidFill>
                  <a:srgbClr val="203B30"/>
                </a:solidFill>
                <a:latin typeface="Arial"/>
                <a:ea typeface="Arial"/>
                <a:cs typeface="Arial"/>
              </a:rPr>
              <a:t>Decidir</a:t>
            </a:r>
          </a:p>
        </p:txBody>
      </p:sp>
      <p:sp>
        <p:nvSpPr>
          <p:cNvPr id="15" name="Desglose, condiciones&#10;y filtro de&#10;permanencia.">
            <a:extLst xmlns:a="http://schemas.openxmlformats.org/drawingml/2006/main">
              <a:ext uri="{FF2B5EF4-FFF2-40B4-BE49-F238E27FC236}">
                <a16:creationId xmlns:a16="http://schemas.microsoft.com/office/drawing/2014/main" id="{F343D604-2911-4F20-B2CF-48CFE6462D68}"/>
              </a:ext>
            </a:extLst>
          </p:cNvPr>
          <p:cNvSpPr>
            <a:spLocks xmlns:a="http://schemas.openxmlformats.org/drawingml/2006/main" noGrp="1"/>
          </p:cNvSpPr>
          <p:nvPr/>
        </p:nvSpPr>
        <p:spPr>
          <a:xfrm xmlns:a="http://schemas.openxmlformats.org/drawingml/2006/main">
            <a:off x="9096375" y="3514725"/>
            <a:ext cx="24574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Desglose, condiciones</a:t>
            </a:r>
          </a:p>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y filtro de</a:t>
            </a:r>
          </a:p>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permanencia.</a:t>
            </a:r>
          </a:p>
        </p:txBody>
      </p:sp>
      <p:sp>
        <p:nvSpPr>
          <p:cNvPr id="16" name="El usuario conserva la decisión. BlindSave no tramita la contrata">
            <a:extLst xmlns:a="http://schemas.openxmlformats.org/drawingml/2006/main">
              <a:ext uri="{FF2B5EF4-FFF2-40B4-BE49-F238E27FC236}">
                <a16:creationId xmlns:a16="http://schemas.microsoft.com/office/drawing/2014/main" id="{3F690CF3-24B8-4EF6-8039-51462CEBCA58}"/>
              </a:ext>
            </a:extLst>
          </p:cNvPr>
          <p:cNvSpPr>
            <a:spLocks xmlns:a="http://schemas.openxmlformats.org/drawingml/2006/main" noGrp="1"/>
          </p:cNvSpPr>
          <p:nvPr/>
        </p:nvSpPr>
        <p:spPr>
          <a:xfrm xmlns:a="http://schemas.openxmlformats.org/drawingml/2006/main">
            <a:off x="609600" y="567690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203B30"/>
                </a:solidFill>
                <a:latin typeface="Arial"/>
                <a:ea typeface="Arial"/>
                <a:cs typeface="Arial"/>
              </a:defRPr>
            </a:pPr>
            <a:r>
              <a:rPr sz="1875" b="1">
                <a:solidFill>
                  <a:srgbClr val="203B30"/>
                </a:solidFill>
                <a:latin typeface="Arial"/>
                <a:ea typeface="Arial"/>
                <a:cs typeface="Arial"/>
              </a:rPr>
              <a:t>El usuario conserva la decisión. BlindSave no tramita la contratación.</a:t>
            </a:r>
          </a:p>
        </p:txBody>
      </p:sp>
    </p:spTree>
    <p:extLst>
      <p:ext uri="{BB962C8B-B14F-4D97-AF65-F5344CB8AC3E}">
        <p14:creationId xmlns:p14="http://schemas.microsoft.com/office/powerpoint/2010/main" val="1418441138"/>
      </p:ext>
    </p:extLst>
  </p:cSld>
</p:sld>
</file>

<file path=ppt/slides/slide6.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0" name="El ahorro potencial se puede comprobar">
            <a:extLst xmlns:a="http://schemas.openxmlformats.org/drawingml/2006/main">
              <a:ext uri="{FF2B5EF4-FFF2-40B4-BE49-F238E27FC236}">
                <a16:creationId xmlns:a16="http://schemas.microsoft.com/office/drawing/2014/main" id="{AE3F7F68-D95D-4E19-B582-57A5DDE6F873}"/>
              </a:ext>
            </a:extLst>
          </p:cNvPr>
          <p:cNvSpPr>
            <a:spLocks xmlns:a="http://schemas.openxmlformats.org/drawingml/2006/main" noGrp="1"/>
          </p:cNvSpPr>
          <p:nvPr/>
        </p:nvSpPr>
        <p:spPr>
          <a:xfrm xmlns:a="http://schemas.openxmlformats.org/drawingml/2006/main">
            <a:off x="609600" y="5715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03B30"/>
                </a:solidFill>
                <a:latin typeface="Arial"/>
                <a:ea typeface="Arial"/>
                <a:cs typeface="Arial"/>
              </a:defRPr>
            </a:pPr>
            <a:r>
              <a:rPr sz="3450" b="1">
                <a:solidFill>
                  <a:srgbClr val="203B30"/>
                </a:solidFill>
                <a:latin typeface="Arial"/>
                <a:ea typeface="Arial"/>
                <a:cs typeface="Arial"/>
              </a:rPr>
              <a:t>El ahorro potencial se puede comprobar</a:t>
            </a:r>
          </a:p>
        </p:txBody>
      </p:sp>
      <p:sp>
        <p:nvSpPr>
          <p:cNvPr id="2" name="blindsave.">
            <a:extLst xmlns:a="http://schemas.openxmlformats.org/drawingml/2006/main">
              <a:ext uri="{FF2B5EF4-FFF2-40B4-BE49-F238E27FC236}">
                <a16:creationId xmlns:a16="http://schemas.microsoft.com/office/drawing/2014/main" id="{AA7D5CC5-117B-42DF-AEFE-9B2CB006646F}"/>
              </a:ext>
            </a:extLst>
          </p:cNvPr>
          <p:cNvSpPr>
            <a:spLocks xmlns:a="http://schemas.openxmlformats.org/drawingml/2006/main" noGrp="1"/>
          </p:cNvSpPr>
          <p:nvPr/>
        </p:nvSpPr>
        <p:spPr>
          <a:xfrm xmlns:a="http://schemas.openxmlformats.org/drawingml/2006/main">
            <a:off x="609600" y="64293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607568"/>
                </a:solidFill>
                <a:latin typeface="Arial"/>
                <a:ea typeface="Arial"/>
                <a:cs typeface="Arial"/>
              </a:defRPr>
            </a:pPr>
            <a:r>
              <a:rPr sz="1200" b="1">
                <a:solidFill>
                  <a:srgbClr val="607568"/>
                </a:solidFill>
                <a:latin typeface="Arial"/>
                <a:ea typeface="Arial"/>
                <a:cs typeface="Arial"/>
              </a:rPr>
              <a:t>blindsave.</a:t>
            </a:r>
          </a:p>
        </p:txBody>
      </p:sp>
      <p:sp>
        <p:nvSpPr>
          <p:cNvPr id="3" name="06">
            <a:extLst xmlns:a="http://schemas.openxmlformats.org/drawingml/2006/main">
              <a:ext uri="{FF2B5EF4-FFF2-40B4-BE49-F238E27FC236}">
                <a16:creationId xmlns:a16="http://schemas.microsoft.com/office/drawing/2014/main" id="{96408D8B-675B-4C15-9678-F0435F937C56}"/>
              </a:ext>
            </a:extLst>
          </p:cNvPr>
          <p:cNvSpPr>
            <a:spLocks xmlns:a="http://schemas.openxmlformats.org/drawingml/2006/main" noGrp="1"/>
          </p:cNvSpPr>
          <p:nvPr/>
        </p:nvSpPr>
        <p:spPr>
          <a:xfrm xmlns:a="http://schemas.openxmlformats.org/drawingml/2006/main">
            <a:off x="1114425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7568"/>
                </a:solidFill>
                <a:latin typeface="Arial"/>
                <a:ea typeface="Arial"/>
                <a:cs typeface="Arial"/>
              </a:defRPr>
            </a:pPr>
            <a:r>
              <a:rPr sz="1200" b="0">
                <a:solidFill>
                  <a:srgbClr val="607568"/>
                </a:solidFill>
                <a:latin typeface="Arial"/>
                <a:ea typeface="Arial"/>
                <a:cs typeface="Arial"/>
              </a:rPr>
              <a:t>06</a:t>
            </a:r>
          </a:p>
        </p:txBody>
      </p:sp>
      <p:graphicFrame>
        <p:nvGraphicFramePr>
          <p:cNvPr id="13" name="Chart"/>
          <p:cNvGraphicFramePr/>
          <p:nvPr/>
        </p:nvGraphicFramePr>
        <p:xfrm>
          <a:off xmlns:a="http://schemas.openxmlformats.org/drawingml/2006/main" x="571500" y="1809750"/>
          <a:ext xmlns:a="http://schemas.openxmlformats.org/drawingml/2006/main" cx="6800850" cy="3810000"/>
        </p:xfrm>
        <a:graphic xmlns:a="http://schemas.openxmlformats.org/drawingml/2006/main">
          <a:graphicData uri="http://schemas.openxmlformats.org/drawingml/2006/chart">
            <c:chart xmlns:r="http://schemas.openxmlformats.org/officeDocument/2006/relationships" xmlns:c="http://schemas.openxmlformats.org/drawingml/2006/chart" r:id="R10c00bfaadc3483a"/>
          </a:graphicData>
        </a:graphic>
      </p:graphicFrame>
      <p:sp>
        <p:nvSpPr>
          <p:cNvPr id="5" name="224,88 €">
            <a:extLst xmlns:a="http://schemas.openxmlformats.org/drawingml/2006/main">
              <a:ext uri="{FF2B5EF4-FFF2-40B4-BE49-F238E27FC236}">
                <a16:creationId xmlns:a16="http://schemas.microsoft.com/office/drawing/2014/main" id="{DAF6C0A1-F5AF-442C-8D68-C1EA4664CEDD}"/>
              </a:ext>
            </a:extLst>
          </p:cNvPr>
          <p:cNvSpPr>
            <a:spLocks xmlns:a="http://schemas.openxmlformats.org/drawingml/2006/main" noGrp="1"/>
          </p:cNvSpPr>
          <p:nvPr/>
        </p:nvSpPr>
        <p:spPr>
          <a:xfrm xmlns:a="http://schemas.openxmlformats.org/drawingml/2006/main">
            <a:off x="7905750" y="2238375"/>
            <a:ext cx="3619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650" b="1">
                <a:solidFill>
                  <a:srgbClr val="203B30"/>
                </a:solidFill>
                <a:latin typeface="Arial"/>
                <a:ea typeface="Arial"/>
                <a:cs typeface="Arial"/>
              </a:defRPr>
            </a:pPr>
            <a:r>
              <a:rPr sz="4650" b="1">
                <a:solidFill>
                  <a:srgbClr val="203B30"/>
                </a:solidFill>
                <a:latin typeface="Arial"/>
                <a:ea typeface="Arial"/>
                <a:cs typeface="Arial"/>
              </a:rPr>
              <a:t>224,88 €</a:t>
            </a:r>
          </a:p>
        </p:txBody>
      </p:sp>
      <p:sp>
        <p:nvSpPr>
          <p:cNvPr id="6" name="de diferencia anual">
            <a:extLst xmlns:a="http://schemas.openxmlformats.org/drawingml/2006/main">
              <a:ext uri="{FF2B5EF4-FFF2-40B4-BE49-F238E27FC236}">
                <a16:creationId xmlns:a16="http://schemas.microsoft.com/office/drawing/2014/main" id="{EDE5B89C-D587-4E18-938B-29710D122AE9}"/>
              </a:ext>
            </a:extLst>
          </p:cNvPr>
          <p:cNvSpPr>
            <a:spLocks xmlns:a="http://schemas.openxmlformats.org/drawingml/2006/main" noGrp="1"/>
          </p:cNvSpPr>
          <p:nvPr/>
        </p:nvSpPr>
        <p:spPr>
          <a:xfrm xmlns:a="http://schemas.openxmlformats.org/drawingml/2006/main">
            <a:off x="7953375" y="3352800"/>
            <a:ext cx="3619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607568"/>
                </a:solidFill>
                <a:latin typeface="Arial"/>
                <a:ea typeface="Arial"/>
                <a:cs typeface="Arial"/>
              </a:defRPr>
            </a:pPr>
            <a:r>
              <a:rPr sz="2025" b="0">
                <a:solidFill>
                  <a:srgbClr val="607568"/>
                </a:solidFill>
                <a:latin typeface="Arial"/>
                <a:ea typeface="Arial"/>
                <a:cs typeface="Arial"/>
              </a:rPr>
              <a:t>de diferencia anual</a:t>
            </a:r>
          </a:p>
        </p:txBody>
      </p:sp>
      <p:sp>
        <p:nvSpPr>
          <p:cNvPr id="7" name="27,2 % menos">
            <a:extLst xmlns:a="http://schemas.openxmlformats.org/drawingml/2006/main">
              <a:ext uri="{FF2B5EF4-FFF2-40B4-BE49-F238E27FC236}">
                <a16:creationId xmlns:a16="http://schemas.microsoft.com/office/drawing/2014/main" id="{F4D6E118-BB89-4D4E-86DD-C6C4C5ACE9B1}"/>
              </a:ext>
            </a:extLst>
          </p:cNvPr>
          <p:cNvSpPr>
            <a:spLocks xmlns:a="http://schemas.openxmlformats.org/drawingml/2006/main" noGrp="1"/>
          </p:cNvSpPr>
          <p:nvPr/>
        </p:nvSpPr>
        <p:spPr>
          <a:xfrm xmlns:a="http://schemas.openxmlformats.org/drawingml/2006/main">
            <a:off x="7953375" y="4010025"/>
            <a:ext cx="3619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203B30"/>
                </a:solidFill>
                <a:latin typeface="Arial"/>
                <a:ea typeface="Arial"/>
                <a:cs typeface="Arial"/>
              </a:defRPr>
            </a:pPr>
            <a:r>
              <a:rPr sz="2550" b="1">
                <a:solidFill>
                  <a:srgbClr val="203B30"/>
                </a:solidFill>
                <a:latin typeface="Arial"/>
                <a:ea typeface="Arial"/>
                <a:cs typeface="Arial"/>
              </a:rPr>
              <a:t>27,2 % menos</a:t>
            </a:r>
          </a:p>
        </p:txBody>
      </p:sp>
      <p:sp>
        <p:nvSpPr>
          <p:cNvPr id="8" name="Con el mismo consumo&#10;y la misma potencia.">
            <a:extLst xmlns:a="http://schemas.openxmlformats.org/drawingml/2006/main">
              <a:ext uri="{FF2B5EF4-FFF2-40B4-BE49-F238E27FC236}">
                <a16:creationId xmlns:a16="http://schemas.microsoft.com/office/drawing/2014/main" id="{23744AAB-B1C8-4326-A2F2-37644CB51A4B}"/>
              </a:ext>
            </a:extLst>
          </p:cNvPr>
          <p:cNvSpPr>
            <a:spLocks xmlns:a="http://schemas.openxmlformats.org/drawingml/2006/main" noGrp="1"/>
          </p:cNvSpPr>
          <p:nvPr/>
        </p:nvSpPr>
        <p:spPr>
          <a:xfrm xmlns:a="http://schemas.openxmlformats.org/drawingml/2006/main">
            <a:off x="7953375" y="4838700"/>
            <a:ext cx="3524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Con el mismo consumo</a:t>
            </a:r>
          </a:p>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y la misma potencia.</a:t>
            </a:r>
          </a:p>
        </p:txBody>
      </p:sp>
      <p:sp>
        <p:nvSpPr>
          <p:cNvPr id="9" name="Ejemplo con tarifas ficticias. Sin impuestos, alquiler del contad">
            <a:extLst xmlns:a="http://schemas.openxmlformats.org/drawingml/2006/main">
              <a:ext uri="{FF2B5EF4-FFF2-40B4-BE49-F238E27FC236}">
                <a16:creationId xmlns:a16="http://schemas.microsoft.com/office/drawing/2014/main" id="{FBA119A6-127C-4BB0-B1AE-0BDF3C827129}"/>
              </a:ext>
            </a:extLst>
          </p:cNvPr>
          <p:cNvSpPr>
            <a:spLocks xmlns:a="http://schemas.openxmlformats.org/drawingml/2006/main" noGrp="1"/>
          </p:cNvSpPr>
          <p:nvPr/>
        </p:nvSpPr>
        <p:spPr>
          <a:xfrm xmlns:a="http://schemas.openxmlformats.org/drawingml/2006/main">
            <a:off x="609600" y="594360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607568"/>
                </a:solidFill>
                <a:latin typeface="Arial"/>
                <a:ea typeface="Arial"/>
                <a:cs typeface="Arial"/>
              </a:defRPr>
            </a:pPr>
            <a:r>
              <a:rPr sz="1350" b="0">
                <a:solidFill>
                  <a:srgbClr val="607568"/>
                </a:solidFill>
                <a:latin typeface="Arial"/>
                <a:ea typeface="Arial"/>
                <a:cs typeface="Arial"/>
              </a:rPr>
              <a:t>Ejemplo con tarifas ficticias. Sin impuestos, alquiler del contador ni penalizaciones de salida.</a:t>
            </a:r>
          </a:p>
        </p:txBody>
      </p:sp>
    </p:spTree>
    <p:extLst>
      <p:ext uri="{BB962C8B-B14F-4D97-AF65-F5344CB8AC3E}">
        <p14:creationId xmlns:p14="http://schemas.microsoft.com/office/powerpoint/2010/main" val="797014436"/>
      </p:ext>
    </p:extLst>
  </p:cSld>
</p:sld>
</file>

<file path=ppt/slides/slide7.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6" name="La privacidad empieza en el navegador">
            <a:extLst xmlns:a="http://schemas.openxmlformats.org/drawingml/2006/main">
              <a:ext uri="{FF2B5EF4-FFF2-40B4-BE49-F238E27FC236}">
                <a16:creationId xmlns:a16="http://schemas.microsoft.com/office/drawing/2014/main" id="{75F981E8-1B71-4204-91D8-9B146A04D36B}"/>
              </a:ext>
            </a:extLst>
          </p:cNvPr>
          <p:cNvSpPr>
            <a:spLocks xmlns:a="http://schemas.openxmlformats.org/drawingml/2006/main" noGrp="1"/>
          </p:cNvSpPr>
          <p:nvPr/>
        </p:nvSpPr>
        <p:spPr>
          <a:xfrm xmlns:a="http://schemas.openxmlformats.org/drawingml/2006/main">
            <a:off x="609600" y="5715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03B30"/>
                </a:solidFill>
                <a:latin typeface="Arial"/>
                <a:ea typeface="Arial"/>
                <a:cs typeface="Arial"/>
              </a:defRPr>
            </a:pPr>
            <a:r>
              <a:rPr sz="3450" b="1">
                <a:solidFill>
                  <a:srgbClr val="203B30"/>
                </a:solidFill>
                <a:latin typeface="Arial"/>
                <a:ea typeface="Arial"/>
                <a:cs typeface="Arial"/>
              </a:rPr>
              <a:t>La privacidad empieza en el navegador</a:t>
            </a:r>
          </a:p>
        </p:txBody>
      </p:sp>
      <p:sp>
        <p:nvSpPr>
          <p:cNvPr id="2" name="blindsave.">
            <a:extLst xmlns:a="http://schemas.openxmlformats.org/drawingml/2006/main">
              <a:ext uri="{FF2B5EF4-FFF2-40B4-BE49-F238E27FC236}">
                <a16:creationId xmlns:a16="http://schemas.microsoft.com/office/drawing/2014/main" id="{C1B0D730-6FCF-4DB6-9289-59EDA01BBA65}"/>
              </a:ext>
            </a:extLst>
          </p:cNvPr>
          <p:cNvSpPr>
            <a:spLocks xmlns:a="http://schemas.openxmlformats.org/drawingml/2006/main" noGrp="1"/>
          </p:cNvSpPr>
          <p:nvPr/>
        </p:nvSpPr>
        <p:spPr>
          <a:xfrm xmlns:a="http://schemas.openxmlformats.org/drawingml/2006/main">
            <a:off x="609600" y="64293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607568"/>
                </a:solidFill>
                <a:latin typeface="Arial"/>
                <a:ea typeface="Arial"/>
                <a:cs typeface="Arial"/>
              </a:defRPr>
            </a:pPr>
            <a:r>
              <a:rPr sz="1200" b="1">
                <a:solidFill>
                  <a:srgbClr val="607568"/>
                </a:solidFill>
                <a:latin typeface="Arial"/>
                <a:ea typeface="Arial"/>
                <a:cs typeface="Arial"/>
              </a:rPr>
              <a:t>blindsave.</a:t>
            </a:r>
          </a:p>
        </p:txBody>
      </p:sp>
      <p:sp>
        <p:nvSpPr>
          <p:cNvPr id="3" name="07">
            <a:extLst xmlns:a="http://schemas.openxmlformats.org/drawingml/2006/main">
              <a:ext uri="{FF2B5EF4-FFF2-40B4-BE49-F238E27FC236}">
                <a16:creationId xmlns:a16="http://schemas.microsoft.com/office/drawing/2014/main" id="{90FD17E5-0052-4A1B-8EB6-82B78FD22F64}"/>
              </a:ext>
            </a:extLst>
          </p:cNvPr>
          <p:cNvSpPr>
            <a:spLocks xmlns:a="http://schemas.openxmlformats.org/drawingml/2006/main" noGrp="1"/>
          </p:cNvSpPr>
          <p:nvPr/>
        </p:nvSpPr>
        <p:spPr>
          <a:xfrm xmlns:a="http://schemas.openxmlformats.org/drawingml/2006/main">
            <a:off x="1114425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7568"/>
                </a:solidFill>
                <a:latin typeface="Arial"/>
                <a:ea typeface="Arial"/>
                <a:cs typeface="Arial"/>
              </a:defRPr>
            </a:pPr>
            <a:r>
              <a:rPr sz="1200" b="0">
                <a:solidFill>
                  <a:srgbClr val="607568"/>
                </a:solidFill>
                <a:latin typeface="Arial"/>
                <a:ea typeface="Arial"/>
                <a:cs typeface="Arial"/>
              </a:rPr>
              <a:t>07</a:t>
            </a:r>
          </a:p>
        </p:txBody>
      </p:sp>
      <p:graphicFrame>
        <p:nvGraphicFramePr>
          <p:cNvPr id="9" name=""/>
          <p:cNvGraphicFramePr/>
          <p:nvPr/>
        </p:nvGraphicFramePr>
        <p:xfrm>
          <a:off xmlns:a="http://schemas.openxmlformats.org/drawingml/2006/main" x="609600" y="1828800"/>
          <a:ext xmlns:a="http://schemas.openxmlformats.org/drawingml/2006/main" cx="10953750" cy="3486150"/>
        </p:xfrm>
        <a:graphic xmlns:a="http://schemas.openxmlformats.org/drawingml/2006/main">
          <a:graphicData uri="http://schemas.openxmlformats.org/drawingml/2006/table">
            <a:tbl>
              <a:tblPr/>
              <a:tblGrid>
                <a:gridCol w="3905250"/>
                <a:gridCol w="7048500"/>
              </a:tblGrid>
              <a:tr h="533400">
                <a:tc>
                  <a:txBody>
                    <a:bodyPr lIns="142875" tIns="95250" rIns="142875" bIns="95250">
                      <a:noAutofit/>
                    </a:bodyPr>
                    <a:lstStyle/>
                    <a:p>
                      <a:r>
                        <a:rPr sz="1725" b="1">
                          <a:solidFill>
                            <a:srgbClr val="FFFFFF"/>
                          </a:solidFill>
                          <a:latin typeface="Arial"/>
                          <a:ea typeface="Arial"/>
                          <a:cs typeface="Arial"/>
                        </a:rPr>
                        <a:t>Información</a:t>
                      </a:r>
                    </a:p>
                  </a:txBody>
                  <a:tcPr marL="91440" marR="91440" marT="45720" marB="45720" anchor="ctr">
                    <a:solidFill>
                      <a:srgbClr val="183D30"/>
                    </a:solidFill>
                  </a:tcPr>
                </a:tc>
                <a:tc>
                  <a:txBody>
                    <a:bodyPr lIns="142875" tIns="95250" rIns="142875" bIns="95250">
                      <a:noAutofit/>
                    </a:bodyPr>
                    <a:lstStyle/>
                    <a:p>
                      <a:r>
                        <a:rPr sz="1725" b="1">
                          <a:solidFill>
                            <a:srgbClr val="FFFFFF"/>
                          </a:solidFill>
                          <a:latin typeface="Arial"/>
                          <a:ea typeface="Arial"/>
                          <a:cs typeface="Arial"/>
                        </a:rPr>
                        <a:t>Tratamiento</a:t>
                      </a:r>
                    </a:p>
                  </a:txBody>
                  <a:tcPr marL="91440" marR="91440" marT="45720" marB="45720" anchor="ctr">
                    <a:solidFill>
                      <a:srgbClr val="183D30"/>
                    </a:solidFill>
                  </a:tcPr>
                </a:tc>
              </a:tr>
              <a:tr h="738188">
                <a:tc>
                  <a:txBody>
                    <a:bodyPr lIns="142875" tIns="95250" rIns="142875" bIns="95250">
                      <a:noAutofit/>
                    </a:bodyPr>
                    <a:lstStyle/>
                    <a:p>
                      <a:r>
                        <a:rPr sz="1725" b="0">
                          <a:solidFill>
                            <a:srgbClr val="203B30"/>
                          </a:solidFill>
                          <a:latin typeface="Arial"/>
                          <a:ea typeface="Arial"/>
                          <a:cs typeface="Arial"/>
                        </a:rPr>
                        <a:t>CSV y lecturas horarias</a:t>
                      </a:r>
                    </a:p>
                  </a:txBody>
                  <a:tcPr marL="91440" marR="91440" marT="45720" marB="45720" anchor="ctr">
                    <a:solidFill>
                      <a:srgbClr val="FFFFFF"/>
                    </a:solidFill>
                  </a:tcPr>
                </a:tc>
                <a:tc>
                  <a:txBody>
                    <a:bodyPr lIns="142875" tIns="95250" rIns="142875" bIns="95250">
                      <a:noAutofit/>
                    </a:bodyPr>
                    <a:lstStyle/>
                    <a:p>
                      <a:r>
                        <a:rPr sz="1725" b="0">
                          <a:solidFill>
                            <a:srgbClr val="203B30"/>
                          </a:solidFill>
                          <a:latin typeface="Arial"/>
                          <a:ea typeface="Arial"/>
                          <a:cs typeface="Arial"/>
                        </a:rPr>
                        <a:t>Validación local. El archivo no se sube.</a:t>
                      </a:r>
                    </a:p>
                  </a:txBody>
                  <a:tcPr marL="91440" marR="91440" marT="45720" marB="45720" anchor="ctr">
                    <a:solidFill>
                      <a:srgbClr val="FFFFFF"/>
                    </a:solidFill>
                  </a:tcPr>
                </a:tc>
              </a:tr>
              <a:tr h="738188">
                <a:tc>
                  <a:txBody>
                    <a:bodyPr lIns="142875" tIns="95250" rIns="142875" bIns="95250">
                      <a:noAutofit/>
                    </a:bodyPr>
                    <a:lstStyle/>
                    <a:p>
                      <a:r>
                        <a:rPr sz="1725" b="0">
                          <a:solidFill>
                            <a:srgbClr val="203B30"/>
                          </a:solidFill>
                          <a:latin typeface="Arial"/>
                          <a:ea typeface="Arial"/>
                          <a:cs typeface="Arial"/>
                        </a:rPr>
                        <a:t>Totales, potencias y precios</a:t>
                      </a:r>
                    </a:p>
                  </a:txBody>
                  <a:tcPr marL="91440" marR="91440" marT="45720" marB="45720" anchor="ctr">
                    <a:solidFill>
                      <a:srgbClr val="EEF2E8"/>
                    </a:solidFill>
                  </a:tcPr>
                </a:tc>
                <a:tc>
                  <a:txBody>
                    <a:bodyPr lIns="142875" tIns="95250" rIns="142875" bIns="95250">
                      <a:noAutofit/>
                    </a:bodyPr>
                    <a:lstStyle/>
                    <a:p>
                      <a:r>
                        <a:rPr sz="1725" b="0">
                          <a:solidFill>
                            <a:srgbClr val="203B30"/>
                          </a:solidFill>
                          <a:latin typeface="Arial"/>
                          <a:ea typeface="Arial"/>
                          <a:cs typeface="Arial"/>
                        </a:rPr>
                        <a:t>Cálculo en memoria. Sin historial persistente.</a:t>
                      </a:r>
                    </a:p>
                  </a:txBody>
                  <a:tcPr marL="91440" marR="91440" marT="45720" marB="45720" anchor="ctr">
                    <a:solidFill>
                      <a:srgbClr val="EEF2E8"/>
                    </a:solidFill>
                  </a:tcPr>
                </a:tc>
              </a:tr>
              <a:tr h="738188">
                <a:tc>
                  <a:txBody>
                    <a:bodyPr lIns="142875" tIns="95250" rIns="142875" bIns="95250">
                      <a:noAutofit/>
                    </a:bodyPr>
                    <a:lstStyle/>
                    <a:p>
                      <a:r>
                        <a:rPr sz="1725" b="0">
                          <a:solidFill>
                            <a:srgbClr val="203B30"/>
                          </a:solidFill>
                          <a:latin typeface="Arial"/>
                          <a:ea typeface="Arial"/>
                          <a:cs typeface="Arial"/>
                        </a:rPr>
                        <a:t>Facturas, CUPS y datos bancarios</a:t>
                      </a:r>
                    </a:p>
                  </a:txBody>
                  <a:tcPr marL="91440" marR="91440" marT="45720" marB="45720" anchor="ctr">
                    <a:solidFill>
                      <a:srgbClr val="FFFFFF"/>
                    </a:solidFill>
                  </a:tcPr>
                </a:tc>
                <a:tc>
                  <a:txBody>
                    <a:bodyPr lIns="142875" tIns="95250" rIns="142875" bIns="95250">
                      <a:noAutofit/>
                    </a:bodyPr>
                    <a:lstStyle/>
                    <a:p>
                      <a:r>
                        <a:rPr sz="1725" b="0">
                          <a:solidFill>
                            <a:srgbClr val="203B30"/>
                          </a:solidFill>
                          <a:latin typeface="Arial"/>
                          <a:ea typeface="Arial"/>
                          <a:cs typeface="Arial"/>
                        </a:rPr>
                        <a:t>Fuera del formato admitido.</a:t>
                      </a:r>
                    </a:p>
                  </a:txBody>
                  <a:tcPr marL="91440" marR="91440" marT="45720" marB="45720" anchor="ctr">
                    <a:solidFill>
                      <a:srgbClr val="FFFFFF"/>
                    </a:solidFill>
                  </a:tcPr>
                </a:tc>
              </a:tr>
              <a:tr h="738188">
                <a:tc>
                  <a:txBody>
                    <a:bodyPr lIns="142875" tIns="95250" rIns="142875" bIns="95250">
                      <a:noAutofit/>
                    </a:bodyPr>
                    <a:lstStyle/>
                    <a:p>
                      <a:r>
                        <a:rPr sz="1725" b="0">
                          <a:solidFill>
                            <a:srgbClr val="203B30"/>
                          </a:solidFill>
                          <a:latin typeface="Arial"/>
                          <a:ea typeface="Arial"/>
                          <a:cs typeface="Arial"/>
                        </a:rPr>
                        <a:t>Sesión e infraestructura</a:t>
                      </a:r>
                    </a:p>
                  </a:txBody>
                  <a:tcPr marL="91440" marR="91440" marT="45720" marB="45720" anchor="ctr">
                    <a:solidFill>
                      <a:srgbClr val="EEF2E8"/>
                    </a:solidFill>
                  </a:tcPr>
                </a:tc>
                <a:tc>
                  <a:txBody>
                    <a:bodyPr lIns="142875" tIns="95250" rIns="142875" bIns="95250">
                      <a:noAutofit/>
                    </a:bodyPr>
                    <a:lstStyle/>
                    <a:p>
                      <a:r>
                        <a:rPr sz="1725" b="0">
                          <a:solidFill>
                            <a:srgbClr val="203B30"/>
                          </a:solidFill>
                          <a:latin typeface="Arial"/>
                          <a:ea typeface="Arial"/>
                          <a:cs typeface="Arial"/>
                        </a:rPr>
                        <a:t>Auth anónimo y metadatos técnicos con retención por configurar.</a:t>
                      </a:r>
                    </a:p>
                  </a:txBody>
                  <a:tcPr marL="91440" marR="91440" marT="45720" marB="45720" anchor="ctr">
                    <a:solidFill>
                      <a:srgbClr val="EEF2E8"/>
                    </a:solidFill>
                  </a:tcPr>
                </a:tc>
              </a:tr>
            </a:tbl>
          </a:graphicData>
        </a:graphic>
      </p:graphicFrame>
      <p:sp>
        <p:nvSpPr>
          <p:cNvPr id="5" name="“Zero-PII” expresa minimización de datos, no una garantía de anon">
            <a:extLst xmlns:a="http://schemas.openxmlformats.org/drawingml/2006/main">
              <a:ext uri="{FF2B5EF4-FFF2-40B4-BE49-F238E27FC236}">
                <a16:creationId xmlns:a16="http://schemas.microsoft.com/office/drawing/2014/main" id="{A5C4269A-E7EF-4C00-8225-34DB1EE9BE22}"/>
              </a:ext>
            </a:extLst>
          </p:cNvPr>
          <p:cNvSpPr>
            <a:spLocks xmlns:a="http://schemas.openxmlformats.org/drawingml/2006/main" noGrp="1"/>
          </p:cNvSpPr>
          <p:nvPr/>
        </p:nvSpPr>
        <p:spPr>
          <a:xfrm xmlns:a="http://schemas.openxmlformats.org/drawingml/2006/main">
            <a:off x="609600" y="56197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607568"/>
                </a:solidFill>
                <a:latin typeface="Arial"/>
                <a:ea typeface="Arial"/>
                <a:cs typeface="Arial"/>
              </a:defRPr>
            </a:pPr>
            <a:r>
              <a:rPr sz="1800" b="0">
                <a:solidFill>
                  <a:srgbClr val="607568"/>
                </a:solidFill>
                <a:latin typeface="Arial"/>
                <a:ea typeface="Arial"/>
                <a:cs typeface="Arial"/>
              </a:rPr>
              <a:t>“Zero-PII” expresa minimización de datos, no una garantía de anonimato absoluto.</a:t>
            </a:r>
          </a:p>
        </p:txBody>
      </p:sp>
    </p:spTree>
    <p:extLst>
      <p:ext uri="{BB962C8B-B14F-4D97-AF65-F5344CB8AC3E}">
        <p14:creationId xmlns:p14="http://schemas.microsoft.com/office/powerpoint/2010/main" val="486676427"/>
      </p:ext>
    </p:extLst>
  </p:cSld>
</p:sld>
</file>

<file path=ppt/slides/slide8.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6" name="Arquitectura preparada para Supabase">
            <a:extLst xmlns:a="http://schemas.openxmlformats.org/drawingml/2006/main">
              <a:ext uri="{FF2B5EF4-FFF2-40B4-BE49-F238E27FC236}">
                <a16:creationId xmlns:a16="http://schemas.microsoft.com/office/drawing/2014/main" id="{45CE70F4-9FCE-4F33-B68E-2B0B3626F53D}"/>
              </a:ext>
            </a:extLst>
          </p:cNvPr>
          <p:cNvSpPr>
            <a:spLocks xmlns:a="http://schemas.openxmlformats.org/drawingml/2006/main" noGrp="1"/>
          </p:cNvSpPr>
          <p:nvPr/>
        </p:nvSpPr>
        <p:spPr>
          <a:xfrm xmlns:a="http://schemas.openxmlformats.org/drawingml/2006/main">
            <a:off x="609600" y="5715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03B30"/>
                </a:solidFill>
                <a:latin typeface="Arial"/>
                <a:ea typeface="Arial"/>
                <a:cs typeface="Arial"/>
              </a:defRPr>
            </a:pPr>
            <a:r>
              <a:rPr sz="3450" b="1">
                <a:solidFill>
                  <a:srgbClr val="203B30"/>
                </a:solidFill>
                <a:latin typeface="Arial"/>
                <a:ea typeface="Arial"/>
                <a:cs typeface="Arial"/>
              </a:rPr>
              <a:t>Arquitectura preparada para Supabase</a:t>
            </a:r>
          </a:p>
        </p:txBody>
      </p:sp>
      <p:sp>
        <p:nvSpPr>
          <p:cNvPr id="2" name="blindsave.">
            <a:extLst xmlns:a="http://schemas.openxmlformats.org/drawingml/2006/main">
              <a:ext uri="{FF2B5EF4-FFF2-40B4-BE49-F238E27FC236}">
                <a16:creationId xmlns:a16="http://schemas.microsoft.com/office/drawing/2014/main" id="{3FCB94B8-3D13-4648-8E09-0CE521A70DC1}"/>
              </a:ext>
            </a:extLst>
          </p:cNvPr>
          <p:cNvSpPr>
            <a:spLocks xmlns:a="http://schemas.openxmlformats.org/drawingml/2006/main" noGrp="1"/>
          </p:cNvSpPr>
          <p:nvPr/>
        </p:nvSpPr>
        <p:spPr>
          <a:xfrm xmlns:a="http://schemas.openxmlformats.org/drawingml/2006/main">
            <a:off x="609600" y="64293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607568"/>
                </a:solidFill>
                <a:latin typeface="Arial"/>
                <a:ea typeface="Arial"/>
                <a:cs typeface="Arial"/>
              </a:defRPr>
            </a:pPr>
            <a:r>
              <a:rPr sz="1200" b="1">
                <a:solidFill>
                  <a:srgbClr val="607568"/>
                </a:solidFill>
                <a:latin typeface="Arial"/>
                <a:ea typeface="Arial"/>
                <a:cs typeface="Arial"/>
              </a:rPr>
              <a:t>blindsave.</a:t>
            </a:r>
          </a:p>
        </p:txBody>
      </p:sp>
      <p:sp>
        <p:nvSpPr>
          <p:cNvPr id="3" name="08">
            <a:extLst xmlns:a="http://schemas.openxmlformats.org/drawingml/2006/main">
              <a:ext uri="{FF2B5EF4-FFF2-40B4-BE49-F238E27FC236}">
                <a16:creationId xmlns:a16="http://schemas.microsoft.com/office/drawing/2014/main" id="{7EC09659-1545-488D-9911-A61B88D74224}"/>
              </a:ext>
            </a:extLst>
          </p:cNvPr>
          <p:cNvSpPr>
            <a:spLocks xmlns:a="http://schemas.openxmlformats.org/drawingml/2006/main" noGrp="1"/>
          </p:cNvSpPr>
          <p:nvPr/>
        </p:nvSpPr>
        <p:spPr>
          <a:xfrm xmlns:a="http://schemas.openxmlformats.org/drawingml/2006/main">
            <a:off x="1114425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7568"/>
                </a:solidFill>
                <a:latin typeface="Arial"/>
                <a:ea typeface="Arial"/>
                <a:cs typeface="Arial"/>
              </a:defRPr>
            </a:pPr>
            <a:r>
              <a:rPr sz="1200" b="0">
                <a:solidFill>
                  <a:srgbClr val="607568"/>
                </a:solidFill>
                <a:latin typeface="Arial"/>
                <a:ea typeface="Arial"/>
                <a:cs typeface="Arial"/>
              </a:rPr>
              <a:t>08</a:t>
            </a:r>
          </a:p>
        </p:txBody>
      </p:sp>
      <p:graphicFrame>
        <p:nvGraphicFramePr>
          <p:cNvPr id="9" name=""/>
          <p:cNvGraphicFramePr/>
          <p:nvPr/>
        </p:nvGraphicFramePr>
        <p:xfrm>
          <a:off xmlns:a="http://schemas.openxmlformats.org/drawingml/2006/main" x="609600" y="1771650"/>
          <a:ext xmlns:a="http://schemas.openxmlformats.org/drawingml/2006/main" cx="10953750" cy="3429000"/>
        </p:xfrm>
        <a:graphic xmlns:a="http://schemas.openxmlformats.org/drawingml/2006/main">
          <a:graphicData uri="http://schemas.openxmlformats.org/drawingml/2006/table">
            <a:tbl>
              <a:tblPr/>
              <a:tblGrid>
                <a:gridCol w="2343150"/>
                <a:gridCol w="3228975"/>
                <a:gridCol w="5381625"/>
              </a:tblGrid>
              <a:tr h="533400">
                <a:tc>
                  <a:txBody>
                    <a:bodyPr lIns="142875" tIns="95250" rIns="142875" bIns="95250">
                      <a:noAutofit/>
                    </a:bodyPr>
                    <a:lstStyle/>
                    <a:p>
                      <a:r>
                        <a:rPr sz="1725" b="1">
                          <a:solidFill>
                            <a:srgbClr val="FFFFFF"/>
                          </a:solidFill>
                          <a:latin typeface="Arial"/>
                          <a:ea typeface="Arial"/>
                          <a:cs typeface="Arial"/>
                        </a:rPr>
                        <a:t>Capa</a:t>
                      </a:r>
                    </a:p>
                  </a:txBody>
                  <a:tcPr marL="91440" marR="91440" marT="45720" marB="45720" anchor="ctr">
                    <a:solidFill>
                      <a:srgbClr val="183D30"/>
                    </a:solidFill>
                  </a:tcPr>
                </a:tc>
                <a:tc>
                  <a:txBody>
                    <a:bodyPr lIns="142875" tIns="95250" rIns="142875" bIns="95250">
                      <a:noAutofit/>
                    </a:bodyPr>
                    <a:lstStyle/>
                    <a:p>
                      <a:r>
                        <a:rPr sz="1725" b="1">
                          <a:solidFill>
                            <a:srgbClr val="FFFFFF"/>
                          </a:solidFill>
                          <a:latin typeface="Arial"/>
                          <a:ea typeface="Arial"/>
                          <a:cs typeface="Arial"/>
                        </a:rPr>
                        <a:t>Tecnología</a:t>
                      </a:r>
                    </a:p>
                  </a:txBody>
                  <a:tcPr marL="91440" marR="91440" marT="45720" marB="45720" anchor="ctr">
                    <a:solidFill>
                      <a:srgbClr val="183D30"/>
                    </a:solidFill>
                  </a:tcPr>
                </a:tc>
                <a:tc>
                  <a:txBody>
                    <a:bodyPr lIns="142875" tIns="95250" rIns="142875" bIns="95250">
                      <a:noAutofit/>
                    </a:bodyPr>
                    <a:lstStyle/>
                    <a:p>
                      <a:r>
                        <a:rPr sz="1725" b="1">
                          <a:solidFill>
                            <a:srgbClr val="FFFFFF"/>
                          </a:solidFill>
                          <a:latin typeface="Arial"/>
                          <a:ea typeface="Arial"/>
                          <a:cs typeface="Arial"/>
                        </a:rPr>
                        <a:t>Responsabilidad</a:t>
                      </a:r>
                    </a:p>
                  </a:txBody>
                  <a:tcPr marL="91440" marR="91440" marT="45720" marB="45720" anchor="ctr">
                    <a:solidFill>
                      <a:srgbClr val="183D30"/>
                    </a:solidFill>
                  </a:tcPr>
                </a:tc>
              </a:tr>
              <a:tr h="723900">
                <a:tc>
                  <a:txBody>
                    <a:bodyPr lIns="142875" tIns="95250" rIns="142875" bIns="95250">
                      <a:noAutofit/>
                    </a:bodyPr>
                    <a:lstStyle/>
                    <a:p>
                      <a:r>
                        <a:rPr sz="1725" b="0">
                          <a:solidFill>
                            <a:srgbClr val="203B30"/>
                          </a:solidFill>
                          <a:latin typeface="Arial"/>
                          <a:ea typeface="Arial"/>
                          <a:cs typeface="Arial"/>
                        </a:rPr>
                        <a:t>Interfaz</a:t>
                      </a:r>
                    </a:p>
                  </a:txBody>
                  <a:tcPr marL="91440" marR="91440" marT="45720" marB="45720" anchor="ctr">
                    <a:solidFill>
                      <a:srgbClr val="FFFFFF"/>
                    </a:solidFill>
                  </a:tcPr>
                </a:tc>
                <a:tc>
                  <a:txBody>
                    <a:bodyPr lIns="142875" tIns="95250" rIns="142875" bIns="95250">
                      <a:noAutofit/>
                    </a:bodyPr>
                    <a:lstStyle/>
                    <a:p>
                      <a:r>
                        <a:rPr sz="1725" b="0">
                          <a:solidFill>
                            <a:srgbClr val="203B30"/>
                          </a:solidFill>
                          <a:latin typeface="Arial"/>
                          <a:ea typeface="Arial"/>
                          <a:cs typeface="Arial"/>
                        </a:rPr>
                        <a:t>React + TypeScript</a:t>
                      </a:r>
                    </a:p>
                  </a:txBody>
                  <a:tcPr marL="91440" marR="91440" marT="45720" marB="45720" anchor="ctr">
                    <a:solidFill>
                      <a:srgbClr val="FFFFFF"/>
                    </a:solidFill>
                  </a:tcPr>
                </a:tc>
                <a:tc>
                  <a:txBody>
                    <a:bodyPr lIns="142875" tIns="95250" rIns="142875" bIns="95250">
                      <a:noAutofit/>
                    </a:bodyPr>
                    <a:lstStyle/>
                    <a:p>
                      <a:r>
                        <a:rPr sz="1725" b="0">
                          <a:solidFill>
                            <a:srgbClr val="203B30"/>
                          </a:solidFill>
                          <a:latin typeface="Arial"/>
                          <a:ea typeface="Arial"/>
                          <a:cs typeface="Arial"/>
                        </a:rPr>
                        <a:t>Formulario, CSV y resultados</a:t>
                      </a:r>
                    </a:p>
                  </a:txBody>
                  <a:tcPr marL="91440" marR="91440" marT="45720" marB="45720" anchor="ctr">
                    <a:solidFill>
                      <a:srgbClr val="FFFFFF"/>
                    </a:solidFill>
                  </a:tcPr>
                </a:tc>
              </a:tr>
              <a:tr h="723900">
                <a:tc>
                  <a:txBody>
                    <a:bodyPr lIns="142875" tIns="95250" rIns="142875" bIns="95250">
                      <a:noAutofit/>
                    </a:bodyPr>
                    <a:lstStyle/>
                    <a:p>
                      <a:r>
                        <a:rPr sz="1725" b="0">
                          <a:solidFill>
                            <a:srgbClr val="203B30"/>
                          </a:solidFill>
                          <a:latin typeface="Arial"/>
                          <a:ea typeface="Arial"/>
                          <a:cs typeface="Arial"/>
                        </a:rPr>
                        <a:t>Acceso</a:t>
                      </a:r>
                    </a:p>
                  </a:txBody>
                  <a:tcPr marL="91440" marR="91440" marT="45720" marB="45720" anchor="ctr">
                    <a:solidFill>
                      <a:srgbClr val="EEF2E8"/>
                    </a:solidFill>
                  </a:tcPr>
                </a:tc>
                <a:tc>
                  <a:txBody>
                    <a:bodyPr lIns="142875" tIns="95250" rIns="142875" bIns="95250">
                      <a:noAutofit/>
                    </a:bodyPr>
                    <a:lstStyle/>
                    <a:p>
                      <a:r>
                        <a:rPr sz="1725" b="0">
                          <a:solidFill>
                            <a:srgbClr val="203B30"/>
                          </a:solidFill>
                          <a:latin typeface="Arial"/>
                          <a:ea typeface="Arial"/>
                          <a:cs typeface="Arial"/>
                        </a:rPr>
                        <a:t>Supabase Auth</a:t>
                      </a:r>
                    </a:p>
                  </a:txBody>
                  <a:tcPr marL="91440" marR="91440" marT="45720" marB="45720" anchor="ctr">
                    <a:solidFill>
                      <a:srgbClr val="EEF2E8"/>
                    </a:solidFill>
                  </a:tcPr>
                </a:tc>
                <a:tc>
                  <a:txBody>
                    <a:bodyPr lIns="142875" tIns="95250" rIns="142875" bIns="95250">
                      <a:noAutofit/>
                    </a:bodyPr>
                    <a:lstStyle/>
                    <a:p>
                      <a:r>
                        <a:rPr sz="1725" b="0">
                          <a:solidFill>
                            <a:srgbClr val="203B30"/>
                          </a:solidFill>
                          <a:latin typeface="Arial"/>
                          <a:ea typeface="Arial"/>
                          <a:cs typeface="Arial"/>
                        </a:rPr>
                        <a:t>Sesión anónima sin correo</a:t>
                      </a:r>
                    </a:p>
                  </a:txBody>
                  <a:tcPr marL="91440" marR="91440" marT="45720" marB="45720" anchor="ctr">
                    <a:solidFill>
                      <a:srgbClr val="EEF2E8"/>
                    </a:solidFill>
                  </a:tcPr>
                </a:tc>
              </a:tr>
              <a:tr h="723900">
                <a:tc>
                  <a:txBody>
                    <a:bodyPr lIns="142875" tIns="95250" rIns="142875" bIns="95250">
                      <a:noAutofit/>
                    </a:bodyPr>
                    <a:lstStyle/>
                    <a:p>
                      <a:r>
                        <a:rPr sz="1725" b="0">
                          <a:solidFill>
                            <a:srgbClr val="203B30"/>
                          </a:solidFill>
                          <a:latin typeface="Arial"/>
                          <a:ea typeface="Arial"/>
                          <a:cs typeface="Arial"/>
                        </a:rPr>
                        <a:t>Cálculo</a:t>
                      </a:r>
                    </a:p>
                  </a:txBody>
                  <a:tcPr marL="91440" marR="91440" marT="45720" marB="45720" anchor="ctr">
                    <a:solidFill>
                      <a:srgbClr val="FFFFFF"/>
                    </a:solidFill>
                  </a:tcPr>
                </a:tc>
                <a:tc>
                  <a:txBody>
                    <a:bodyPr lIns="142875" tIns="95250" rIns="142875" bIns="95250">
                      <a:noAutofit/>
                    </a:bodyPr>
                    <a:lstStyle/>
                    <a:p>
                      <a:r>
                        <a:rPr sz="1725" b="0">
                          <a:solidFill>
                            <a:srgbClr val="203B30"/>
                          </a:solidFill>
                          <a:latin typeface="Arial"/>
                          <a:ea typeface="Arial"/>
                          <a:cs typeface="Arial"/>
                        </a:rPr>
                        <a:t>Edge Function</a:t>
                      </a:r>
                    </a:p>
                  </a:txBody>
                  <a:tcPr marL="91440" marR="91440" marT="45720" marB="45720" anchor="ctr">
                    <a:solidFill>
                      <a:srgbClr val="FFFFFF"/>
                    </a:solidFill>
                  </a:tcPr>
                </a:tc>
                <a:tc>
                  <a:txBody>
                    <a:bodyPr lIns="142875" tIns="95250" rIns="142875" bIns="95250">
                      <a:noAutofit/>
                    </a:bodyPr>
                    <a:lstStyle/>
                    <a:p>
                      <a:r>
                        <a:rPr sz="1725" b="0">
                          <a:solidFill>
                            <a:srgbClr val="203B30"/>
                          </a:solidFill>
                          <a:latin typeface="Arial"/>
                          <a:ea typeface="Arial"/>
                          <a:cs typeface="Arial"/>
                        </a:rPr>
                        <a:t>Valida solicitudes y compara costes</a:t>
                      </a:r>
                    </a:p>
                  </a:txBody>
                  <a:tcPr marL="91440" marR="91440" marT="45720" marB="45720" anchor="ctr">
                    <a:solidFill>
                      <a:srgbClr val="FFFFFF"/>
                    </a:solidFill>
                  </a:tcPr>
                </a:tc>
              </a:tr>
              <a:tr h="723900">
                <a:tc>
                  <a:txBody>
                    <a:bodyPr lIns="142875" tIns="95250" rIns="142875" bIns="95250">
                      <a:noAutofit/>
                    </a:bodyPr>
                    <a:lstStyle/>
                    <a:p>
                      <a:r>
                        <a:rPr sz="1725" b="0">
                          <a:solidFill>
                            <a:srgbClr val="203B30"/>
                          </a:solidFill>
                          <a:latin typeface="Arial"/>
                          <a:ea typeface="Arial"/>
                          <a:cs typeface="Arial"/>
                        </a:rPr>
                        <a:t>Mercado</a:t>
                      </a:r>
                    </a:p>
                  </a:txBody>
                  <a:tcPr marL="91440" marR="91440" marT="45720" marB="45720" anchor="ctr">
                    <a:solidFill>
                      <a:srgbClr val="EEF2E8"/>
                    </a:solidFill>
                  </a:tcPr>
                </a:tc>
                <a:tc>
                  <a:txBody>
                    <a:bodyPr lIns="142875" tIns="95250" rIns="142875" bIns="95250">
                      <a:noAutofit/>
                    </a:bodyPr>
                    <a:lstStyle/>
                    <a:p>
                      <a:r>
                        <a:rPr sz="1725" b="0">
                          <a:solidFill>
                            <a:srgbClr val="203B30"/>
                          </a:solidFill>
                          <a:latin typeface="Arial"/>
                          <a:ea typeface="Arial"/>
                          <a:cs typeface="Arial"/>
                        </a:rPr>
                        <a:t>Postgres + RLS</a:t>
                      </a:r>
                    </a:p>
                  </a:txBody>
                  <a:tcPr marL="91440" marR="91440" marT="45720" marB="45720" anchor="ctr">
                    <a:solidFill>
                      <a:srgbClr val="EEF2E8"/>
                    </a:solidFill>
                  </a:tcPr>
                </a:tc>
                <a:tc>
                  <a:txBody>
                    <a:bodyPr lIns="142875" tIns="95250" rIns="142875" bIns="95250">
                      <a:noAutofit/>
                    </a:bodyPr>
                    <a:lstStyle/>
                    <a:p>
                      <a:r>
                        <a:rPr sz="1725" b="0">
                          <a:solidFill>
                            <a:srgbClr val="203B30"/>
                          </a:solidFill>
                          <a:latin typeface="Arial"/>
                          <a:ea typeface="Arial"/>
                          <a:cs typeface="Arial"/>
                        </a:rPr>
                        <a:t>Catálogo revisado y permisos de lectura</a:t>
                      </a:r>
                    </a:p>
                  </a:txBody>
                  <a:tcPr marL="91440" marR="91440" marT="45720" marB="45720" anchor="ctr">
                    <a:solidFill>
                      <a:srgbClr val="EEF2E8"/>
                    </a:solidFill>
                  </a:tcPr>
                </a:tc>
              </a:tr>
            </a:tbl>
          </a:graphicData>
        </a:graphic>
      </p:graphicFrame>
      <p:sp>
        <p:nvSpPr>
          <p:cNvPr id="5" name="Backend en Supabase. Frontend en alojamiento estático con HTTPS.">
            <a:extLst xmlns:a="http://schemas.openxmlformats.org/drawingml/2006/main">
              <a:ext uri="{FF2B5EF4-FFF2-40B4-BE49-F238E27FC236}">
                <a16:creationId xmlns:a16="http://schemas.microsoft.com/office/drawing/2014/main" id="{38A55F77-37D6-47C1-9E14-0211F495DECC}"/>
              </a:ext>
            </a:extLst>
          </p:cNvPr>
          <p:cNvSpPr>
            <a:spLocks xmlns:a="http://schemas.openxmlformats.org/drawingml/2006/main" noGrp="1"/>
          </p:cNvSpPr>
          <p:nvPr/>
        </p:nvSpPr>
        <p:spPr>
          <a:xfrm xmlns:a="http://schemas.openxmlformats.org/drawingml/2006/main">
            <a:off x="609600" y="554355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203B30"/>
                </a:solidFill>
                <a:latin typeface="Arial"/>
                <a:ea typeface="Arial"/>
                <a:cs typeface="Arial"/>
              </a:defRPr>
            </a:pPr>
            <a:r>
              <a:rPr sz="1875" b="1">
                <a:solidFill>
                  <a:srgbClr val="203B30"/>
                </a:solidFill>
                <a:latin typeface="Arial"/>
                <a:ea typeface="Arial"/>
                <a:cs typeface="Arial"/>
              </a:rPr>
              <a:t>Backend en Supabase. Frontend en alojamiento estático con HTTPS.</a:t>
            </a:r>
          </a:p>
        </p:txBody>
      </p:sp>
    </p:spTree>
    <p:extLst>
      <p:ext uri="{BB962C8B-B14F-4D97-AF65-F5344CB8AC3E}">
        <p14:creationId xmlns:p14="http://schemas.microsoft.com/office/powerpoint/2010/main" val="1875176633"/>
      </p:ext>
    </p:extLst>
  </p:cSld>
</p:sld>
</file>

<file path=ppt/slides/slide9.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2" name="Un motor de cálculo explicable">
            <a:extLst xmlns:a="http://schemas.openxmlformats.org/drawingml/2006/main">
              <a:ext uri="{FF2B5EF4-FFF2-40B4-BE49-F238E27FC236}">
                <a16:creationId xmlns:a16="http://schemas.microsoft.com/office/drawing/2014/main" id="{EF112DAB-DF0B-4208-BCF4-5CF1DC3AC0D7}"/>
              </a:ext>
            </a:extLst>
          </p:cNvPr>
          <p:cNvSpPr>
            <a:spLocks xmlns:a="http://schemas.openxmlformats.org/drawingml/2006/main" noGrp="1"/>
          </p:cNvSpPr>
          <p:nvPr/>
        </p:nvSpPr>
        <p:spPr>
          <a:xfrm xmlns:a="http://schemas.openxmlformats.org/drawingml/2006/main">
            <a:off x="609600" y="5715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03B30"/>
                </a:solidFill>
                <a:latin typeface="Arial"/>
                <a:ea typeface="Arial"/>
                <a:cs typeface="Arial"/>
              </a:defRPr>
            </a:pPr>
            <a:r>
              <a:rPr sz="3450" b="1">
                <a:solidFill>
                  <a:srgbClr val="203B30"/>
                </a:solidFill>
                <a:latin typeface="Arial"/>
                <a:ea typeface="Arial"/>
                <a:cs typeface="Arial"/>
              </a:rPr>
              <a:t>Un motor de cálculo explicable</a:t>
            </a:r>
          </a:p>
        </p:txBody>
      </p:sp>
      <p:sp>
        <p:nvSpPr>
          <p:cNvPr id="2" name="blindsave.">
            <a:extLst xmlns:a="http://schemas.openxmlformats.org/drawingml/2006/main">
              <a:ext uri="{FF2B5EF4-FFF2-40B4-BE49-F238E27FC236}">
                <a16:creationId xmlns:a16="http://schemas.microsoft.com/office/drawing/2014/main" id="{F97E94FB-62E4-4148-8BE3-4E70E0A290CE}"/>
              </a:ext>
            </a:extLst>
          </p:cNvPr>
          <p:cNvSpPr>
            <a:spLocks xmlns:a="http://schemas.openxmlformats.org/drawingml/2006/main" noGrp="1"/>
          </p:cNvSpPr>
          <p:nvPr/>
        </p:nvSpPr>
        <p:spPr>
          <a:xfrm xmlns:a="http://schemas.openxmlformats.org/drawingml/2006/main">
            <a:off x="609600" y="64293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607568"/>
                </a:solidFill>
                <a:latin typeface="Arial"/>
                <a:ea typeface="Arial"/>
                <a:cs typeface="Arial"/>
              </a:defRPr>
            </a:pPr>
            <a:r>
              <a:rPr sz="1200" b="1">
                <a:solidFill>
                  <a:srgbClr val="607568"/>
                </a:solidFill>
                <a:latin typeface="Arial"/>
                <a:ea typeface="Arial"/>
                <a:cs typeface="Arial"/>
              </a:rPr>
              <a:t>blindsave.</a:t>
            </a:r>
          </a:p>
        </p:txBody>
      </p:sp>
      <p:sp>
        <p:nvSpPr>
          <p:cNvPr id="3" name="09">
            <a:extLst xmlns:a="http://schemas.openxmlformats.org/drawingml/2006/main">
              <a:ext uri="{FF2B5EF4-FFF2-40B4-BE49-F238E27FC236}">
                <a16:creationId xmlns:a16="http://schemas.microsoft.com/office/drawing/2014/main" id="{71913008-EF72-4689-AD0F-EBF88772CBAC}"/>
              </a:ext>
            </a:extLst>
          </p:cNvPr>
          <p:cNvSpPr>
            <a:spLocks xmlns:a="http://schemas.openxmlformats.org/drawingml/2006/main" noGrp="1"/>
          </p:cNvSpPr>
          <p:nvPr/>
        </p:nvSpPr>
        <p:spPr>
          <a:xfrm xmlns:a="http://schemas.openxmlformats.org/drawingml/2006/main">
            <a:off x="1114425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7568"/>
                </a:solidFill>
                <a:latin typeface="Arial"/>
                <a:ea typeface="Arial"/>
                <a:cs typeface="Arial"/>
              </a:defRPr>
            </a:pPr>
            <a:r>
              <a:rPr sz="1200" b="0">
                <a:solidFill>
                  <a:srgbClr val="607568"/>
                </a:solidFill>
                <a:latin typeface="Arial"/>
                <a:ea typeface="Arial"/>
                <a:cs typeface="Arial"/>
              </a:rPr>
              <a:t>09</a:t>
            </a:r>
          </a:p>
        </p:txBody>
      </p:sp>
      <p:sp>
        <p:nvSpPr>
          <p:cNvPr id="4" name="Energía + potencia + cuotas">
            <a:extLst xmlns:a="http://schemas.openxmlformats.org/drawingml/2006/main">
              <a:ext uri="{FF2B5EF4-FFF2-40B4-BE49-F238E27FC236}">
                <a16:creationId xmlns:a16="http://schemas.microsoft.com/office/drawing/2014/main" id="{83A5F50F-9875-44D6-ADC2-6AC490C7164E}"/>
              </a:ext>
            </a:extLst>
          </p:cNvPr>
          <p:cNvSpPr>
            <a:spLocks xmlns:a="http://schemas.openxmlformats.org/drawingml/2006/main" noGrp="1"/>
          </p:cNvSpPr>
          <p:nvPr/>
        </p:nvSpPr>
        <p:spPr>
          <a:xfrm xmlns:a="http://schemas.openxmlformats.org/drawingml/2006/main">
            <a:off x="609600" y="20288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825" b="1">
                <a:solidFill>
                  <a:srgbClr val="203B30"/>
                </a:solidFill>
                <a:latin typeface="Arial"/>
                <a:ea typeface="Arial"/>
                <a:cs typeface="Arial"/>
              </a:defRPr>
            </a:pPr>
            <a:r>
              <a:rPr sz="3825" b="1">
                <a:solidFill>
                  <a:srgbClr val="203B30"/>
                </a:solidFill>
                <a:latin typeface="Arial"/>
                <a:ea typeface="Arial"/>
                <a:cs typeface="Arial"/>
              </a:rPr>
              <a:t>Energía + potencia + cuotas</a:t>
            </a:r>
          </a:p>
        </p:txBody>
      </p:sp>
      <p:sp>
        <p:nvSpPr>
          <p:cNvPr id="5" name="Energía">
            <a:extLst xmlns:a="http://schemas.openxmlformats.org/drawingml/2006/main">
              <a:ext uri="{FF2B5EF4-FFF2-40B4-BE49-F238E27FC236}">
                <a16:creationId xmlns:a16="http://schemas.microsoft.com/office/drawing/2014/main" id="{428B082A-5AFB-4A68-9F86-AE72D60F41B9}"/>
              </a:ext>
            </a:extLst>
          </p:cNvPr>
          <p:cNvSpPr>
            <a:spLocks xmlns:a="http://schemas.openxmlformats.org/drawingml/2006/main" noGrp="1"/>
          </p:cNvSpPr>
          <p:nvPr/>
        </p:nvSpPr>
        <p:spPr>
          <a:xfrm xmlns:a="http://schemas.openxmlformats.org/drawingml/2006/main">
            <a:off x="609600" y="3514725"/>
            <a:ext cx="3124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203B30"/>
                </a:solidFill>
                <a:latin typeface="Arial"/>
                <a:ea typeface="Arial"/>
                <a:cs typeface="Arial"/>
              </a:defRPr>
            </a:pPr>
            <a:r>
              <a:rPr sz="2250" b="1">
                <a:solidFill>
                  <a:srgbClr val="203B30"/>
                </a:solidFill>
                <a:latin typeface="Arial"/>
                <a:ea typeface="Arial"/>
                <a:cs typeface="Arial"/>
              </a:rPr>
              <a:t>Energía</a:t>
            </a:r>
          </a:p>
        </p:txBody>
      </p:sp>
      <p:sp>
        <p:nvSpPr>
          <p:cNvPr id="6" name="kWh de cada periodo&#10;× precio por kWh">
            <a:extLst xmlns:a="http://schemas.openxmlformats.org/drawingml/2006/main">
              <a:ext uri="{FF2B5EF4-FFF2-40B4-BE49-F238E27FC236}">
                <a16:creationId xmlns:a16="http://schemas.microsoft.com/office/drawing/2014/main" id="{9F62A48F-CBD8-41E8-8EC5-0DC434708FE4}"/>
              </a:ext>
            </a:extLst>
          </p:cNvPr>
          <p:cNvSpPr>
            <a:spLocks xmlns:a="http://schemas.openxmlformats.org/drawingml/2006/main" noGrp="1"/>
          </p:cNvSpPr>
          <p:nvPr/>
        </p:nvSpPr>
        <p:spPr>
          <a:xfrm xmlns:a="http://schemas.openxmlformats.org/drawingml/2006/main">
            <a:off x="609600" y="4152900"/>
            <a:ext cx="3143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607568"/>
                </a:solidFill>
                <a:latin typeface="Arial"/>
                <a:ea typeface="Arial"/>
                <a:cs typeface="Arial"/>
              </a:defRPr>
            </a:pPr>
            <a:r>
              <a:rPr sz="2025" b="0">
                <a:solidFill>
                  <a:srgbClr val="607568"/>
                </a:solidFill>
                <a:latin typeface="Arial"/>
                <a:ea typeface="Arial"/>
                <a:cs typeface="Arial"/>
              </a:rPr>
              <a:t>kWh de cada periodo</a:t>
            </a:r>
          </a:p>
          <a:p xmlns:a="http://schemas.openxmlformats.org/drawingml/2006/main">
            <a:pPr>
              <a:defRPr sz="2025" b="0">
                <a:solidFill>
                  <a:srgbClr val="607568"/>
                </a:solidFill>
                <a:latin typeface="Arial"/>
                <a:ea typeface="Arial"/>
                <a:cs typeface="Arial"/>
              </a:defRPr>
            </a:pPr>
            <a:r>
              <a:rPr sz="2025" b="0">
                <a:solidFill>
                  <a:srgbClr val="607568"/>
                </a:solidFill>
                <a:latin typeface="Arial"/>
                <a:ea typeface="Arial"/>
                <a:cs typeface="Arial"/>
              </a:rPr>
              <a:t>× precio por kWh</a:t>
            </a:r>
          </a:p>
        </p:txBody>
      </p:sp>
      <p:sp>
        <p:nvSpPr>
          <p:cNvPr id="7" name="Potencia">
            <a:extLst xmlns:a="http://schemas.openxmlformats.org/drawingml/2006/main">
              <a:ext uri="{FF2B5EF4-FFF2-40B4-BE49-F238E27FC236}">
                <a16:creationId xmlns:a16="http://schemas.microsoft.com/office/drawing/2014/main" id="{8DD45419-5B5D-4673-9AD1-3F6A6F425635}"/>
              </a:ext>
            </a:extLst>
          </p:cNvPr>
          <p:cNvSpPr>
            <a:spLocks xmlns:a="http://schemas.openxmlformats.org/drawingml/2006/main" noGrp="1"/>
          </p:cNvSpPr>
          <p:nvPr/>
        </p:nvSpPr>
        <p:spPr>
          <a:xfrm xmlns:a="http://schemas.openxmlformats.org/drawingml/2006/main">
            <a:off x="4495800" y="3514725"/>
            <a:ext cx="3124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203B30"/>
                </a:solidFill>
                <a:latin typeface="Arial"/>
                <a:ea typeface="Arial"/>
                <a:cs typeface="Arial"/>
              </a:defRPr>
            </a:pPr>
            <a:r>
              <a:rPr sz="2250" b="1">
                <a:solidFill>
                  <a:srgbClr val="203B30"/>
                </a:solidFill>
                <a:latin typeface="Arial"/>
                <a:ea typeface="Arial"/>
                <a:cs typeface="Arial"/>
              </a:rPr>
              <a:t>Potencia</a:t>
            </a:r>
          </a:p>
        </p:txBody>
      </p:sp>
      <p:sp>
        <p:nvSpPr>
          <p:cNvPr id="8" name="kW contratados&#10;× precio diario × 365">
            <a:extLst xmlns:a="http://schemas.openxmlformats.org/drawingml/2006/main">
              <a:ext uri="{FF2B5EF4-FFF2-40B4-BE49-F238E27FC236}">
                <a16:creationId xmlns:a16="http://schemas.microsoft.com/office/drawing/2014/main" id="{FF947F4F-B805-488D-9A5E-72321030B9E0}"/>
              </a:ext>
            </a:extLst>
          </p:cNvPr>
          <p:cNvSpPr>
            <a:spLocks xmlns:a="http://schemas.openxmlformats.org/drawingml/2006/main" noGrp="1"/>
          </p:cNvSpPr>
          <p:nvPr/>
        </p:nvSpPr>
        <p:spPr>
          <a:xfrm xmlns:a="http://schemas.openxmlformats.org/drawingml/2006/main">
            <a:off x="4495800" y="4152900"/>
            <a:ext cx="3143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607568"/>
                </a:solidFill>
                <a:latin typeface="Arial"/>
                <a:ea typeface="Arial"/>
                <a:cs typeface="Arial"/>
              </a:defRPr>
            </a:pPr>
            <a:r>
              <a:rPr sz="2025" b="0">
                <a:solidFill>
                  <a:srgbClr val="607568"/>
                </a:solidFill>
                <a:latin typeface="Arial"/>
                <a:ea typeface="Arial"/>
                <a:cs typeface="Arial"/>
              </a:rPr>
              <a:t>kW contratados</a:t>
            </a:r>
          </a:p>
          <a:p xmlns:a="http://schemas.openxmlformats.org/drawingml/2006/main">
            <a:pPr>
              <a:defRPr sz="2025" b="0">
                <a:solidFill>
                  <a:srgbClr val="607568"/>
                </a:solidFill>
                <a:latin typeface="Arial"/>
                <a:ea typeface="Arial"/>
                <a:cs typeface="Arial"/>
              </a:defRPr>
            </a:pPr>
            <a:r>
              <a:rPr sz="2025" b="0">
                <a:solidFill>
                  <a:srgbClr val="607568"/>
                </a:solidFill>
                <a:latin typeface="Arial"/>
                <a:ea typeface="Arial"/>
                <a:cs typeface="Arial"/>
              </a:rPr>
              <a:t>× precio diario × 365</a:t>
            </a:r>
          </a:p>
        </p:txBody>
      </p:sp>
      <p:sp>
        <p:nvSpPr>
          <p:cNvPr id="9" name="Cuotas">
            <a:extLst xmlns:a="http://schemas.openxmlformats.org/drawingml/2006/main">
              <a:ext uri="{FF2B5EF4-FFF2-40B4-BE49-F238E27FC236}">
                <a16:creationId xmlns:a16="http://schemas.microsoft.com/office/drawing/2014/main" id="{0306110E-C12F-4F56-811E-2C4689782864}"/>
              </a:ext>
            </a:extLst>
          </p:cNvPr>
          <p:cNvSpPr>
            <a:spLocks xmlns:a="http://schemas.openxmlformats.org/drawingml/2006/main" noGrp="1"/>
          </p:cNvSpPr>
          <p:nvPr/>
        </p:nvSpPr>
        <p:spPr>
          <a:xfrm xmlns:a="http://schemas.openxmlformats.org/drawingml/2006/main">
            <a:off x="8362950" y="3514725"/>
            <a:ext cx="3124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203B30"/>
                </a:solidFill>
                <a:latin typeface="Arial"/>
                <a:ea typeface="Arial"/>
                <a:cs typeface="Arial"/>
              </a:defRPr>
            </a:pPr>
            <a:r>
              <a:rPr sz="2250" b="1">
                <a:solidFill>
                  <a:srgbClr val="203B30"/>
                </a:solidFill>
                <a:latin typeface="Arial"/>
                <a:ea typeface="Arial"/>
                <a:cs typeface="Arial"/>
              </a:rPr>
              <a:t>Cuotas</a:t>
            </a:r>
          </a:p>
        </p:txBody>
      </p:sp>
      <p:sp>
        <p:nvSpPr>
          <p:cNvPr id="10" name="Importe obligatorio&#10;mensual × 12">
            <a:extLst xmlns:a="http://schemas.openxmlformats.org/drawingml/2006/main">
              <a:ext uri="{FF2B5EF4-FFF2-40B4-BE49-F238E27FC236}">
                <a16:creationId xmlns:a16="http://schemas.microsoft.com/office/drawing/2014/main" id="{33DCE284-0502-4D8A-9BAB-985AE60C5AD9}"/>
              </a:ext>
            </a:extLst>
          </p:cNvPr>
          <p:cNvSpPr>
            <a:spLocks xmlns:a="http://schemas.openxmlformats.org/drawingml/2006/main" noGrp="1"/>
          </p:cNvSpPr>
          <p:nvPr/>
        </p:nvSpPr>
        <p:spPr>
          <a:xfrm xmlns:a="http://schemas.openxmlformats.org/drawingml/2006/main">
            <a:off x="8362950" y="4152900"/>
            <a:ext cx="3143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607568"/>
                </a:solidFill>
                <a:latin typeface="Arial"/>
                <a:ea typeface="Arial"/>
                <a:cs typeface="Arial"/>
              </a:defRPr>
            </a:pPr>
            <a:r>
              <a:rPr sz="2025" b="0">
                <a:solidFill>
                  <a:srgbClr val="607568"/>
                </a:solidFill>
                <a:latin typeface="Arial"/>
                <a:ea typeface="Arial"/>
                <a:cs typeface="Arial"/>
              </a:rPr>
              <a:t>Importe obligatorio</a:t>
            </a:r>
          </a:p>
          <a:p xmlns:a="http://schemas.openxmlformats.org/drawingml/2006/main">
            <a:pPr>
              <a:defRPr sz="2025" b="0">
                <a:solidFill>
                  <a:srgbClr val="607568"/>
                </a:solidFill>
                <a:latin typeface="Arial"/>
                <a:ea typeface="Arial"/>
                <a:cs typeface="Arial"/>
              </a:defRPr>
            </a:pPr>
            <a:r>
              <a:rPr sz="2025" b="0">
                <a:solidFill>
                  <a:srgbClr val="607568"/>
                </a:solidFill>
                <a:latin typeface="Arial"/>
                <a:ea typeface="Arial"/>
                <a:cs typeface="Arial"/>
              </a:rPr>
              <a:t>mensual × 12</a:t>
            </a:r>
          </a:p>
        </p:txBody>
      </p:sp>
      <p:sp>
        <p:nvSpPr>
          <p:cNvPr id="11" name="Mismos datos y mismos precios: el mismo resultado, verificable pa">
            <a:extLst xmlns:a="http://schemas.openxmlformats.org/drawingml/2006/main">
              <a:ext uri="{FF2B5EF4-FFF2-40B4-BE49-F238E27FC236}">
                <a16:creationId xmlns:a16="http://schemas.microsoft.com/office/drawing/2014/main" id="{0A59C0AA-1870-4F78-AFAC-D395E1E26924}"/>
              </a:ext>
            </a:extLst>
          </p:cNvPr>
          <p:cNvSpPr>
            <a:spLocks xmlns:a="http://schemas.openxmlformats.org/drawingml/2006/main" noGrp="1"/>
          </p:cNvSpPr>
          <p:nvPr/>
        </p:nvSpPr>
        <p:spPr>
          <a:xfrm xmlns:a="http://schemas.openxmlformats.org/drawingml/2006/main">
            <a:off x="609600" y="56197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203B30"/>
                </a:solidFill>
                <a:latin typeface="Arial"/>
                <a:ea typeface="Arial"/>
                <a:cs typeface="Arial"/>
              </a:defRPr>
            </a:pPr>
            <a:r>
              <a:rPr sz="1950" b="1">
                <a:solidFill>
                  <a:srgbClr val="203B30"/>
                </a:solidFill>
                <a:latin typeface="Arial"/>
                <a:ea typeface="Arial"/>
                <a:cs typeface="Arial"/>
              </a:rPr>
              <a:t>Mismos datos y mismos precios: el mismo resultado, verificable paso a paso.</a:t>
            </a:r>
          </a:p>
        </p:txBody>
      </p:sp>
    </p:spTree>
    <p:extLst>
      <p:ext uri="{BB962C8B-B14F-4D97-AF65-F5344CB8AC3E}">
        <p14:creationId xmlns:p14="http://schemas.microsoft.com/office/powerpoint/2010/main" val="525788634"/>
      </p:ext>
    </p:extLst>
  </p:cSld>
</p:sld>
</file>

<file path=ppt/slides/slide10.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11" name="La IA prevista analizará el mercado">
            <a:extLst xmlns:a="http://schemas.openxmlformats.org/drawingml/2006/main">
              <a:ext uri="{FF2B5EF4-FFF2-40B4-BE49-F238E27FC236}">
                <a16:creationId xmlns:a16="http://schemas.microsoft.com/office/drawing/2014/main" id="{F54053FA-31D7-410A-81EB-AB2BEE7E07D2}"/>
              </a:ext>
            </a:extLst>
          </p:cNvPr>
          <p:cNvSpPr>
            <a:spLocks xmlns:a="http://schemas.openxmlformats.org/drawingml/2006/main" noGrp="1"/>
          </p:cNvSpPr>
          <p:nvPr/>
        </p:nvSpPr>
        <p:spPr>
          <a:xfrm xmlns:a="http://schemas.openxmlformats.org/drawingml/2006/main">
            <a:off x="609600" y="5715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03B30"/>
                </a:solidFill>
                <a:latin typeface="Arial"/>
                <a:ea typeface="Arial"/>
                <a:cs typeface="Arial"/>
              </a:defRPr>
            </a:pPr>
            <a:r>
              <a:rPr sz="3450" b="1">
                <a:solidFill>
                  <a:srgbClr val="203B30"/>
                </a:solidFill>
                <a:latin typeface="Arial"/>
                <a:ea typeface="Arial"/>
                <a:cs typeface="Arial"/>
              </a:rPr>
              <a:t>La IA prevista analizará el mercado</a:t>
            </a:r>
          </a:p>
        </p:txBody>
      </p:sp>
      <p:sp>
        <p:nvSpPr>
          <p:cNvPr id="2" name="blindsave.">
            <a:extLst xmlns:a="http://schemas.openxmlformats.org/drawingml/2006/main">
              <a:ext uri="{FF2B5EF4-FFF2-40B4-BE49-F238E27FC236}">
                <a16:creationId xmlns:a16="http://schemas.microsoft.com/office/drawing/2014/main" id="{7B0274DE-E437-4896-8F80-C8222817139B}"/>
              </a:ext>
            </a:extLst>
          </p:cNvPr>
          <p:cNvSpPr>
            <a:spLocks xmlns:a="http://schemas.openxmlformats.org/drawingml/2006/main" noGrp="1"/>
          </p:cNvSpPr>
          <p:nvPr/>
        </p:nvSpPr>
        <p:spPr>
          <a:xfrm xmlns:a="http://schemas.openxmlformats.org/drawingml/2006/main">
            <a:off x="609600" y="64293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607568"/>
                </a:solidFill>
                <a:latin typeface="Arial"/>
                <a:ea typeface="Arial"/>
                <a:cs typeface="Arial"/>
              </a:defRPr>
            </a:pPr>
            <a:r>
              <a:rPr sz="1200" b="1">
                <a:solidFill>
                  <a:srgbClr val="607568"/>
                </a:solidFill>
                <a:latin typeface="Arial"/>
                <a:ea typeface="Arial"/>
                <a:cs typeface="Arial"/>
              </a:rPr>
              <a:t>blindsave.</a:t>
            </a:r>
          </a:p>
        </p:txBody>
      </p:sp>
      <p:sp>
        <p:nvSpPr>
          <p:cNvPr id="3" name="10">
            <a:extLst xmlns:a="http://schemas.openxmlformats.org/drawingml/2006/main">
              <a:ext uri="{FF2B5EF4-FFF2-40B4-BE49-F238E27FC236}">
                <a16:creationId xmlns:a16="http://schemas.microsoft.com/office/drawing/2014/main" id="{E9576B40-9FF8-4363-9040-812F7C7D461B}"/>
              </a:ext>
            </a:extLst>
          </p:cNvPr>
          <p:cNvSpPr>
            <a:spLocks xmlns:a="http://schemas.openxmlformats.org/drawingml/2006/main" noGrp="1"/>
          </p:cNvSpPr>
          <p:nvPr/>
        </p:nvSpPr>
        <p:spPr>
          <a:xfrm xmlns:a="http://schemas.openxmlformats.org/drawingml/2006/main">
            <a:off x="1114425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7568"/>
                </a:solidFill>
                <a:latin typeface="Arial"/>
                <a:ea typeface="Arial"/>
                <a:cs typeface="Arial"/>
              </a:defRPr>
            </a:pPr>
            <a:r>
              <a:rPr sz="1200" b="0">
                <a:solidFill>
                  <a:srgbClr val="607568"/>
                </a:solidFill>
                <a:latin typeface="Arial"/>
                <a:ea typeface="Arial"/>
                <a:cs typeface="Arial"/>
              </a:rPr>
              <a:t>10</a:t>
            </a:r>
          </a:p>
        </p:txBody>
      </p:sp>
      <p:sp>
        <p:nvSpPr>
          <p:cNvPr id="4" name="Implementado">
            <a:extLst xmlns:a="http://schemas.openxmlformats.org/drawingml/2006/main">
              <a:ext uri="{FF2B5EF4-FFF2-40B4-BE49-F238E27FC236}">
                <a16:creationId xmlns:a16="http://schemas.microsoft.com/office/drawing/2014/main" id="{11B44A8C-3CF4-4E01-874F-FA804651A7C9}"/>
              </a:ext>
            </a:extLst>
          </p:cNvPr>
          <p:cNvSpPr>
            <a:spLocks xmlns:a="http://schemas.openxmlformats.org/drawingml/2006/main" noGrp="1"/>
          </p:cNvSpPr>
          <p:nvPr/>
        </p:nvSpPr>
        <p:spPr>
          <a:xfrm xmlns:a="http://schemas.openxmlformats.org/drawingml/2006/main">
            <a:off x="609600" y="20097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203B30"/>
                </a:solidFill>
                <a:latin typeface="Arial"/>
                <a:ea typeface="Arial"/>
                <a:cs typeface="Arial"/>
              </a:defRPr>
            </a:pPr>
            <a:r>
              <a:rPr sz="2325" b="1">
                <a:solidFill>
                  <a:srgbClr val="203B30"/>
                </a:solidFill>
                <a:latin typeface="Arial"/>
                <a:ea typeface="Arial"/>
                <a:cs typeface="Arial"/>
              </a:rPr>
              <a:t>Implementado</a:t>
            </a:r>
          </a:p>
        </p:txBody>
      </p:sp>
      <p:sp>
        <p:nvSpPr>
          <p:cNvPr id="5" name="Comparación matemática&#10;con precios estructurados.">
            <a:extLst xmlns:a="http://schemas.openxmlformats.org/drawingml/2006/main">
              <a:ext uri="{FF2B5EF4-FFF2-40B4-BE49-F238E27FC236}">
                <a16:creationId xmlns:a16="http://schemas.microsoft.com/office/drawing/2014/main" id="{67B275A7-5090-40D5-A1B0-57DD4609FFD6}"/>
              </a:ext>
            </a:extLst>
          </p:cNvPr>
          <p:cNvSpPr>
            <a:spLocks xmlns:a="http://schemas.openxmlformats.org/drawingml/2006/main" noGrp="1"/>
          </p:cNvSpPr>
          <p:nvPr/>
        </p:nvSpPr>
        <p:spPr>
          <a:xfrm xmlns:a="http://schemas.openxmlformats.org/drawingml/2006/main">
            <a:off x="609600" y="2781300"/>
            <a:ext cx="48101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0">
                <a:solidFill>
                  <a:srgbClr val="203B30"/>
                </a:solidFill>
                <a:latin typeface="Arial"/>
                <a:ea typeface="Arial"/>
                <a:cs typeface="Arial"/>
              </a:defRPr>
            </a:pPr>
            <a:r>
              <a:rPr sz="2550" b="0">
                <a:solidFill>
                  <a:srgbClr val="203B30"/>
                </a:solidFill>
                <a:latin typeface="Arial"/>
                <a:ea typeface="Arial"/>
                <a:cs typeface="Arial"/>
              </a:rPr>
              <a:t>Comparación matemática</a:t>
            </a:r>
          </a:p>
          <a:p xmlns:a="http://schemas.openxmlformats.org/drawingml/2006/main">
            <a:pPr>
              <a:defRPr sz="2550" b="0">
                <a:solidFill>
                  <a:srgbClr val="203B30"/>
                </a:solidFill>
                <a:latin typeface="Arial"/>
                <a:ea typeface="Arial"/>
                <a:cs typeface="Arial"/>
              </a:defRPr>
            </a:pPr>
            <a:r>
              <a:rPr sz="2550" b="0">
                <a:solidFill>
                  <a:srgbClr val="203B30"/>
                </a:solidFill>
                <a:latin typeface="Arial"/>
                <a:ea typeface="Arial"/>
                <a:cs typeface="Arial"/>
              </a:rPr>
              <a:t>con precios estructurados.</a:t>
            </a:r>
          </a:p>
        </p:txBody>
      </p:sp>
      <p:sp>
        <p:nvSpPr>
          <p:cNvPr id="6" name="El esquema admite documentos&#10;y un campo de embeddings&#10;para la fut">
            <a:extLst xmlns:a="http://schemas.openxmlformats.org/drawingml/2006/main">
              <a:ext uri="{FF2B5EF4-FFF2-40B4-BE49-F238E27FC236}">
                <a16:creationId xmlns:a16="http://schemas.microsoft.com/office/drawing/2014/main" id="{0CC40499-30E2-4476-A806-FD5FED925F90}"/>
              </a:ext>
            </a:extLst>
          </p:cNvPr>
          <p:cNvSpPr>
            <a:spLocks xmlns:a="http://schemas.openxmlformats.org/drawingml/2006/main" noGrp="1"/>
          </p:cNvSpPr>
          <p:nvPr/>
        </p:nvSpPr>
        <p:spPr>
          <a:xfrm xmlns:a="http://schemas.openxmlformats.org/drawingml/2006/main">
            <a:off x="609600" y="4286250"/>
            <a:ext cx="4857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El esquema admite documentos</a:t>
            </a:r>
          </a:p>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y un campo de embeddings</a:t>
            </a:r>
          </a:p>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para la futura búsqueda semántica.</a:t>
            </a:r>
          </a:p>
        </p:txBody>
      </p:sp>
      <p:sp>
        <p:nvSpPr>
          <p:cNvPr id="7" name="Siguiente fase">
            <a:extLst xmlns:a="http://schemas.openxmlformats.org/drawingml/2006/main">
              <a:ext uri="{FF2B5EF4-FFF2-40B4-BE49-F238E27FC236}">
                <a16:creationId xmlns:a16="http://schemas.microsoft.com/office/drawing/2014/main" id="{08D48E61-C77C-4B45-8FC8-753934E7881B}"/>
              </a:ext>
            </a:extLst>
          </p:cNvPr>
          <p:cNvSpPr>
            <a:spLocks xmlns:a="http://schemas.openxmlformats.org/drawingml/2006/main" noGrp="1"/>
          </p:cNvSpPr>
          <p:nvPr/>
        </p:nvSpPr>
        <p:spPr>
          <a:xfrm xmlns:a="http://schemas.openxmlformats.org/drawingml/2006/main">
            <a:off x="6515100" y="20097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203B30"/>
                </a:solidFill>
                <a:latin typeface="Arial"/>
                <a:ea typeface="Arial"/>
                <a:cs typeface="Arial"/>
              </a:defRPr>
            </a:pPr>
            <a:r>
              <a:rPr sz="2325" b="1">
                <a:solidFill>
                  <a:srgbClr val="203B30"/>
                </a:solidFill>
                <a:latin typeface="Arial"/>
                <a:ea typeface="Arial"/>
                <a:cs typeface="Arial"/>
              </a:rPr>
              <a:t>Siguiente fase</a:t>
            </a:r>
          </a:p>
        </p:txBody>
      </p:sp>
      <p:sp>
        <p:nvSpPr>
          <p:cNvPr id="8" name="Extraer condiciones públicas&#10;y responder con fuentes.">
            <a:extLst xmlns:a="http://schemas.openxmlformats.org/drawingml/2006/main">
              <a:ext uri="{FF2B5EF4-FFF2-40B4-BE49-F238E27FC236}">
                <a16:creationId xmlns:a16="http://schemas.microsoft.com/office/drawing/2014/main" id="{8B4EF7A0-0884-4820-A390-A0B408C4B800}"/>
              </a:ext>
            </a:extLst>
          </p:cNvPr>
          <p:cNvSpPr>
            <a:spLocks xmlns:a="http://schemas.openxmlformats.org/drawingml/2006/main" noGrp="1"/>
          </p:cNvSpPr>
          <p:nvPr/>
        </p:nvSpPr>
        <p:spPr>
          <a:xfrm xmlns:a="http://schemas.openxmlformats.org/drawingml/2006/main">
            <a:off x="6515100" y="2781300"/>
            <a:ext cx="4857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0">
                <a:solidFill>
                  <a:srgbClr val="203B30"/>
                </a:solidFill>
                <a:latin typeface="Arial"/>
                <a:ea typeface="Arial"/>
                <a:cs typeface="Arial"/>
              </a:defRPr>
            </a:pPr>
            <a:r>
              <a:rPr sz="2550" b="0">
                <a:solidFill>
                  <a:srgbClr val="203B30"/>
                </a:solidFill>
                <a:latin typeface="Arial"/>
                <a:ea typeface="Arial"/>
                <a:cs typeface="Arial"/>
              </a:rPr>
              <a:t>Extraer condiciones públicas</a:t>
            </a:r>
          </a:p>
          <a:p xmlns:a="http://schemas.openxmlformats.org/drawingml/2006/main">
            <a:pPr>
              <a:defRPr sz="2550" b="0">
                <a:solidFill>
                  <a:srgbClr val="203B30"/>
                </a:solidFill>
                <a:latin typeface="Arial"/>
                <a:ea typeface="Arial"/>
                <a:cs typeface="Arial"/>
              </a:defRPr>
            </a:pPr>
            <a:r>
              <a:rPr sz="2550" b="0">
                <a:solidFill>
                  <a:srgbClr val="203B30"/>
                </a:solidFill>
                <a:latin typeface="Arial"/>
                <a:ea typeface="Arial"/>
                <a:cs typeface="Arial"/>
              </a:rPr>
              <a:t>y responder con fuentes.</a:t>
            </a:r>
          </a:p>
        </p:txBody>
      </p:sp>
      <p:sp>
        <p:nvSpPr>
          <p:cNvPr id="9" name="Revisión antes de publicar precios.&#10;Respuestas que citen la evide">
            <a:extLst xmlns:a="http://schemas.openxmlformats.org/drawingml/2006/main">
              <a:ext uri="{FF2B5EF4-FFF2-40B4-BE49-F238E27FC236}">
                <a16:creationId xmlns:a16="http://schemas.microsoft.com/office/drawing/2014/main" id="{99505F34-C6DC-4384-8D75-1254FA4EA7AF}"/>
              </a:ext>
            </a:extLst>
          </p:cNvPr>
          <p:cNvSpPr>
            <a:spLocks xmlns:a="http://schemas.openxmlformats.org/drawingml/2006/main" noGrp="1"/>
          </p:cNvSpPr>
          <p:nvPr/>
        </p:nvSpPr>
        <p:spPr>
          <a:xfrm xmlns:a="http://schemas.openxmlformats.org/drawingml/2006/main">
            <a:off x="6515100" y="4286250"/>
            <a:ext cx="4857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Revisión antes de publicar precios.</a:t>
            </a:r>
          </a:p>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Respuestas que citen la evidencia</a:t>
            </a:r>
          </a:p>
          <a:p xmlns:a="http://schemas.openxmlformats.org/drawingml/2006/main">
            <a:pPr>
              <a:defRPr sz="1875" b="0">
                <a:solidFill>
                  <a:srgbClr val="607568"/>
                </a:solidFill>
                <a:latin typeface="Arial"/>
                <a:ea typeface="Arial"/>
                <a:cs typeface="Arial"/>
              </a:defRPr>
            </a:pPr>
            <a:r>
              <a:rPr sz="1875" b="0">
                <a:solidFill>
                  <a:srgbClr val="607568"/>
                </a:solidFill>
                <a:latin typeface="Arial"/>
                <a:ea typeface="Arial"/>
                <a:cs typeface="Arial"/>
              </a:rPr>
              <a:t>y reconozcan cuándo falta información.</a:t>
            </a:r>
          </a:p>
        </p:txBody>
      </p:sp>
      <p:sp>
        <p:nvSpPr>
          <p:cNvPr id="10" name="El chatbot y la ingesta automática todavía no están implementados">
            <a:extLst xmlns:a="http://schemas.openxmlformats.org/drawingml/2006/main">
              <a:ext uri="{FF2B5EF4-FFF2-40B4-BE49-F238E27FC236}">
                <a16:creationId xmlns:a16="http://schemas.microsoft.com/office/drawing/2014/main" id="{0497C513-4562-45EA-93C9-EB2896E5BCAA}"/>
              </a:ext>
            </a:extLst>
          </p:cNvPr>
          <p:cNvSpPr>
            <a:spLocks xmlns:a="http://schemas.openxmlformats.org/drawingml/2006/main" noGrp="1"/>
          </p:cNvSpPr>
          <p:nvPr/>
        </p:nvSpPr>
        <p:spPr>
          <a:xfrm xmlns:a="http://schemas.openxmlformats.org/drawingml/2006/main">
            <a:off x="609600" y="5895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607568"/>
                </a:solidFill>
                <a:latin typeface="Arial"/>
                <a:ea typeface="Arial"/>
                <a:cs typeface="Arial"/>
              </a:defRPr>
            </a:pPr>
            <a:r>
              <a:rPr sz="1425" b="0">
                <a:solidFill>
                  <a:srgbClr val="607568"/>
                </a:solidFill>
                <a:latin typeface="Arial"/>
                <a:ea typeface="Arial"/>
                <a:cs typeface="Arial"/>
              </a:rPr>
              <a:t>El chatbot y la ingesta automática todavía no están implementados.</a:t>
            </a:r>
          </a:p>
        </p:txBody>
      </p:sp>
    </p:spTree>
    <p:extLst>
      <p:ext uri="{BB962C8B-B14F-4D97-AF65-F5344CB8AC3E}">
        <p14:creationId xmlns:p14="http://schemas.microsoft.com/office/powerpoint/2010/main" val="1984576012"/>
      </p:ext>
    </p:extLst>
  </p:cSld>
</p:sld>
</file>

<file path=ppt/slides/slide11.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6" name="Posibilidades más allá de la electricidad">
            <a:extLst xmlns:a="http://schemas.openxmlformats.org/drawingml/2006/main">
              <a:ext uri="{FF2B5EF4-FFF2-40B4-BE49-F238E27FC236}">
                <a16:creationId xmlns:a16="http://schemas.microsoft.com/office/drawing/2014/main" id="{4842E364-AB56-443D-A25C-1107A8AE30F8}"/>
              </a:ext>
            </a:extLst>
          </p:cNvPr>
          <p:cNvSpPr>
            <a:spLocks xmlns:a="http://schemas.openxmlformats.org/drawingml/2006/main" noGrp="1"/>
          </p:cNvSpPr>
          <p:nvPr/>
        </p:nvSpPr>
        <p:spPr>
          <a:xfrm xmlns:a="http://schemas.openxmlformats.org/drawingml/2006/main">
            <a:off x="609600" y="5715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03B30"/>
                </a:solidFill>
                <a:latin typeface="Arial"/>
                <a:ea typeface="Arial"/>
                <a:cs typeface="Arial"/>
              </a:defRPr>
            </a:pPr>
            <a:r>
              <a:rPr sz="3450" b="1">
                <a:solidFill>
                  <a:srgbClr val="203B30"/>
                </a:solidFill>
                <a:latin typeface="Arial"/>
                <a:ea typeface="Arial"/>
                <a:cs typeface="Arial"/>
              </a:rPr>
              <a:t>Posibilidades más allá de la electricidad</a:t>
            </a:r>
          </a:p>
        </p:txBody>
      </p:sp>
      <p:sp>
        <p:nvSpPr>
          <p:cNvPr id="2" name="blindsave.">
            <a:extLst xmlns:a="http://schemas.openxmlformats.org/drawingml/2006/main">
              <a:ext uri="{FF2B5EF4-FFF2-40B4-BE49-F238E27FC236}">
                <a16:creationId xmlns:a16="http://schemas.microsoft.com/office/drawing/2014/main" id="{D642A6F3-658C-43E0-8B76-B02D1CE834CB}"/>
              </a:ext>
            </a:extLst>
          </p:cNvPr>
          <p:cNvSpPr>
            <a:spLocks xmlns:a="http://schemas.openxmlformats.org/drawingml/2006/main" noGrp="1"/>
          </p:cNvSpPr>
          <p:nvPr/>
        </p:nvSpPr>
        <p:spPr>
          <a:xfrm xmlns:a="http://schemas.openxmlformats.org/drawingml/2006/main">
            <a:off x="609600" y="64293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607568"/>
                </a:solidFill>
                <a:latin typeface="Arial"/>
                <a:ea typeface="Arial"/>
                <a:cs typeface="Arial"/>
              </a:defRPr>
            </a:pPr>
            <a:r>
              <a:rPr sz="1200" b="1">
                <a:solidFill>
                  <a:srgbClr val="607568"/>
                </a:solidFill>
                <a:latin typeface="Arial"/>
                <a:ea typeface="Arial"/>
                <a:cs typeface="Arial"/>
              </a:rPr>
              <a:t>blindsave.</a:t>
            </a:r>
          </a:p>
        </p:txBody>
      </p:sp>
      <p:sp>
        <p:nvSpPr>
          <p:cNvPr id="3" name="11">
            <a:extLst xmlns:a="http://schemas.openxmlformats.org/drawingml/2006/main">
              <a:ext uri="{FF2B5EF4-FFF2-40B4-BE49-F238E27FC236}">
                <a16:creationId xmlns:a16="http://schemas.microsoft.com/office/drawing/2014/main" id="{AC2A8754-754D-4DA7-82CC-B0C0C39B3B3A}"/>
              </a:ext>
            </a:extLst>
          </p:cNvPr>
          <p:cNvSpPr>
            <a:spLocks xmlns:a="http://schemas.openxmlformats.org/drawingml/2006/main" noGrp="1"/>
          </p:cNvSpPr>
          <p:nvPr/>
        </p:nvSpPr>
        <p:spPr>
          <a:xfrm xmlns:a="http://schemas.openxmlformats.org/drawingml/2006/main">
            <a:off x="1114425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7568"/>
                </a:solidFill>
                <a:latin typeface="Arial"/>
                <a:ea typeface="Arial"/>
                <a:cs typeface="Arial"/>
              </a:defRPr>
            </a:pPr>
            <a:r>
              <a:rPr sz="1200" b="0">
                <a:solidFill>
                  <a:srgbClr val="607568"/>
                </a:solidFill>
                <a:latin typeface="Arial"/>
                <a:ea typeface="Arial"/>
                <a:cs typeface="Arial"/>
              </a:rPr>
              <a:t>11</a:t>
            </a:r>
          </a:p>
        </p:txBody>
      </p:sp>
      <p:graphicFrame>
        <p:nvGraphicFramePr>
          <p:cNvPr id="9" name=""/>
          <p:cNvGraphicFramePr/>
          <p:nvPr/>
        </p:nvGraphicFramePr>
        <p:xfrm>
          <a:off xmlns:a="http://schemas.openxmlformats.org/drawingml/2006/main" x="609600" y="1762125"/>
          <a:ext xmlns:a="http://schemas.openxmlformats.org/drawingml/2006/main" cx="10953750" cy="3667125"/>
        </p:xfrm>
        <a:graphic xmlns:a="http://schemas.openxmlformats.org/drawingml/2006/main">
          <a:graphicData uri="http://schemas.openxmlformats.org/drawingml/2006/table">
            <a:tbl>
              <a:tblPr/>
              <a:tblGrid>
                <a:gridCol w="2524125"/>
                <a:gridCol w="3333750"/>
                <a:gridCol w="5095875"/>
              </a:tblGrid>
              <a:tr h="533400">
                <a:tc>
                  <a:txBody>
                    <a:bodyPr lIns="142875" tIns="95250" rIns="142875" bIns="95250">
                      <a:noAutofit/>
                    </a:bodyPr>
                    <a:lstStyle/>
                    <a:p>
                      <a:r>
                        <a:rPr sz="1725" b="1">
                          <a:solidFill>
                            <a:srgbClr val="FFFFFF"/>
                          </a:solidFill>
                          <a:latin typeface="Arial"/>
                          <a:ea typeface="Arial"/>
                          <a:cs typeface="Arial"/>
                        </a:rPr>
                        <a:t>Extensión futura</a:t>
                      </a:r>
                    </a:p>
                  </a:txBody>
                  <a:tcPr marL="91440" marR="91440" marT="45720" marB="45720" anchor="ctr">
                    <a:solidFill>
                      <a:srgbClr val="183D30"/>
                    </a:solidFill>
                  </a:tcPr>
                </a:tc>
                <a:tc>
                  <a:txBody>
                    <a:bodyPr lIns="142875" tIns="95250" rIns="142875" bIns="95250">
                      <a:noAutofit/>
                    </a:bodyPr>
                    <a:lstStyle/>
                    <a:p>
                      <a:r>
                        <a:rPr sz="1725" b="1">
                          <a:solidFill>
                            <a:srgbClr val="FFFFFF"/>
                          </a:solidFill>
                          <a:latin typeface="Arial"/>
                          <a:ea typeface="Arial"/>
                          <a:cs typeface="Arial"/>
                        </a:rPr>
                        <a:t>Datos mínimos</a:t>
                      </a:r>
                    </a:p>
                  </a:txBody>
                  <a:tcPr marL="91440" marR="91440" marT="45720" marB="45720" anchor="ctr">
                    <a:solidFill>
                      <a:srgbClr val="183D30"/>
                    </a:solidFill>
                  </a:tcPr>
                </a:tc>
                <a:tc>
                  <a:txBody>
                    <a:bodyPr lIns="142875" tIns="95250" rIns="142875" bIns="95250">
                      <a:noAutofit/>
                    </a:bodyPr>
                    <a:lstStyle/>
                    <a:p>
                      <a:r>
                        <a:rPr sz="1725" b="1">
                          <a:solidFill>
                            <a:srgbClr val="FFFFFF"/>
                          </a:solidFill>
                          <a:latin typeface="Arial"/>
                          <a:ea typeface="Arial"/>
                          <a:cs typeface="Arial"/>
                        </a:rPr>
                        <a:t>Valor para el usuario</a:t>
                      </a:r>
                    </a:p>
                  </a:txBody>
                  <a:tcPr marL="91440" marR="91440" marT="45720" marB="45720" anchor="ctr">
                    <a:solidFill>
                      <a:srgbClr val="183D30"/>
                    </a:solidFill>
                  </a:tcPr>
                </a:tc>
              </a:tr>
              <a:tr h="783431">
                <a:tc>
                  <a:txBody>
                    <a:bodyPr lIns="142875" tIns="95250" rIns="142875" bIns="95250">
                      <a:noAutofit/>
                    </a:bodyPr>
                    <a:lstStyle/>
                    <a:p>
                      <a:r>
                        <a:rPr sz="1725" b="0">
                          <a:solidFill>
                            <a:srgbClr val="203B30"/>
                          </a:solidFill>
                          <a:latin typeface="Arial"/>
                          <a:ea typeface="Arial"/>
                          <a:cs typeface="Arial"/>
                        </a:rPr>
                        <a:t>Fibra y móvil</a:t>
                      </a:r>
                    </a:p>
                  </a:txBody>
                  <a:tcPr marL="91440" marR="91440" marT="45720" marB="45720" anchor="ctr">
                    <a:solidFill>
                      <a:srgbClr val="FFFFFF"/>
                    </a:solidFill>
                  </a:tcPr>
                </a:tc>
                <a:tc>
                  <a:txBody>
                    <a:bodyPr lIns="142875" tIns="95250" rIns="142875" bIns="95250">
                      <a:noAutofit/>
                    </a:bodyPr>
                    <a:lstStyle/>
                    <a:p>
                      <a:r>
                        <a:rPr sz="1725" b="0">
                          <a:solidFill>
                            <a:srgbClr val="203B30"/>
                          </a:solidFill>
                          <a:latin typeface="Arial"/>
                          <a:ea typeface="Arial"/>
                          <a:cs typeface="Arial"/>
                        </a:rPr>
                        <a:t>Líneas, GB y velocidad</a:t>
                      </a:r>
                    </a:p>
                  </a:txBody>
                  <a:tcPr marL="91440" marR="91440" marT="45720" marB="45720" anchor="ctr">
                    <a:solidFill>
                      <a:srgbClr val="FFFFFF"/>
                    </a:solidFill>
                  </a:tcPr>
                </a:tc>
                <a:tc>
                  <a:txBody>
                    <a:bodyPr lIns="142875" tIns="95250" rIns="142875" bIns="95250">
                      <a:noAutofit/>
                    </a:bodyPr>
                    <a:lstStyle/>
                    <a:p>
                      <a:r>
                        <a:rPr sz="1725" b="0">
                          <a:solidFill>
                            <a:srgbClr val="203B30"/>
                          </a:solidFill>
                          <a:latin typeface="Arial"/>
                          <a:ea typeface="Arial"/>
                          <a:cs typeface="Arial"/>
                        </a:rPr>
                        <a:t>Comparar el coste fuera de promoción</a:t>
                      </a:r>
                    </a:p>
                  </a:txBody>
                  <a:tcPr marL="91440" marR="91440" marT="45720" marB="45720" anchor="ctr">
                    <a:solidFill>
                      <a:srgbClr val="FFFFFF"/>
                    </a:solidFill>
                  </a:tcPr>
                </a:tc>
              </a:tr>
              <a:tr h="783431">
                <a:tc>
                  <a:txBody>
                    <a:bodyPr lIns="142875" tIns="95250" rIns="142875" bIns="95250">
                      <a:noAutofit/>
                    </a:bodyPr>
                    <a:lstStyle/>
                    <a:p>
                      <a:r>
                        <a:rPr sz="1725" b="0">
                          <a:solidFill>
                            <a:srgbClr val="203B30"/>
                          </a:solidFill>
                          <a:latin typeface="Arial"/>
                          <a:ea typeface="Arial"/>
                          <a:cs typeface="Arial"/>
                        </a:rPr>
                        <a:t>Gas natural</a:t>
                      </a:r>
                    </a:p>
                  </a:txBody>
                  <a:tcPr marL="91440" marR="91440" marT="45720" marB="45720" anchor="ctr">
                    <a:solidFill>
                      <a:srgbClr val="EEF2E8"/>
                    </a:solidFill>
                  </a:tcPr>
                </a:tc>
                <a:tc>
                  <a:txBody>
                    <a:bodyPr lIns="142875" tIns="95250" rIns="142875" bIns="95250">
                      <a:noAutofit/>
                    </a:bodyPr>
                    <a:lstStyle/>
                    <a:p>
                      <a:r>
                        <a:rPr sz="1725" b="0">
                          <a:solidFill>
                            <a:srgbClr val="203B30"/>
                          </a:solidFill>
                          <a:latin typeface="Arial"/>
                          <a:ea typeface="Arial"/>
                          <a:cs typeface="Arial"/>
                        </a:rPr>
                        <a:t>Peaje y consumo en kWh</a:t>
                      </a:r>
                    </a:p>
                  </a:txBody>
                  <a:tcPr marL="91440" marR="91440" marT="45720" marB="45720" anchor="ctr">
                    <a:solidFill>
                      <a:srgbClr val="EEF2E8"/>
                    </a:solidFill>
                  </a:tcPr>
                </a:tc>
                <a:tc>
                  <a:txBody>
                    <a:bodyPr lIns="142875" tIns="95250" rIns="142875" bIns="95250">
                      <a:noAutofit/>
                    </a:bodyPr>
                    <a:lstStyle/>
                    <a:p>
                      <a:r>
                        <a:rPr sz="1725" b="0">
                          <a:solidFill>
                            <a:srgbClr val="203B30"/>
                          </a:solidFill>
                          <a:latin typeface="Arial"/>
                          <a:ea typeface="Arial"/>
                          <a:cs typeface="Arial"/>
                        </a:rPr>
                        <a:t>Contrastar ofertas y costes asociados</a:t>
                      </a:r>
                    </a:p>
                  </a:txBody>
                  <a:tcPr marL="91440" marR="91440" marT="45720" marB="45720" anchor="ctr">
                    <a:solidFill>
                      <a:srgbClr val="EEF2E8"/>
                    </a:solidFill>
                  </a:tcPr>
                </a:tc>
              </a:tr>
              <a:tr h="783431">
                <a:tc>
                  <a:txBody>
                    <a:bodyPr lIns="142875" tIns="95250" rIns="142875" bIns="95250">
                      <a:noAutofit/>
                    </a:bodyPr>
                    <a:lstStyle/>
                    <a:p>
                      <a:r>
                        <a:rPr sz="1725" b="0">
                          <a:solidFill>
                            <a:srgbClr val="203B30"/>
                          </a:solidFill>
                          <a:latin typeface="Arial"/>
                          <a:ea typeface="Arial"/>
                          <a:cs typeface="Arial"/>
                        </a:rPr>
                        <a:t>Suscripciones</a:t>
                      </a:r>
                    </a:p>
                  </a:txBody>
                  <a:tcPr marL="91440" marR="91440" marT="45720" marB="45720" anchor="ctr">
                    <a:solidFill>
                      <a:srgbClr val="FFFFFF"/>
                    </a:solidFill>
                  </a:tcPr>
                </a:tc>
                <a:tc>
                  <a:txBody>
                    <a:bodyPr lIns="142875" tIns="95250" rIns="142875" bIns="95250">
                      <a:noAutofit/>
                    </a:bodyPr>
                    <a:lstStyle/>
                    <a:p>
                      <a:r>
                        <a:rPr sz="1725" b="0">
                          <a:solidFill>
                            <a:srgbClr val="203B30"/>
                          </a:solidFill>
                          <a:latin typeface="Arial"/>
                          <a:ea typeface="Arial"/>
                          <a:cs typeface="Arial"/>
                        </a:rPr>
                        <a:t>Servicios e importes</a:t>
                      </a:r>
                    </a:p>
                  </a:txBody>
                  <a:tcPr marL="91440" marR="91440" marT="45720" marB="45720" anchor="ctr">
                    <a:solidFill>
                      <a:srgbClr val="FFFFFF"/>
                    </a:solidFill>
                  </a:tcPr>
                </a:tc>
                <a:tc>
                  <a:txBody>
                    <a:bodyPr lIns="142875" tIns="95250" rIns="142875" bIns="95250">
                      <a:noAutofit/>
                    </a:bodyPr>
                    <a:lstStyle/>
                    <a:p>
                      <a:r>
                        <a:rPr sz="1725" b="0">
                          <a:solidFill>
                            <a:srgbClr val="203B30"/>
                          </a:solidFill>
                          <a:latin typeface="Arial"/>
                          <a:ea typeface="Arial"/>
                          <a:cs typeface="Arial"/>
                        </a:rPr>
                        <a:t>Identificar duplicidades y planes alternativos</a:t>
                      </a:r>
                    </a:p>
                  </a:txBody>
                  <a:tcPr marL="91440" marR="91440" marT="45720" marB="45720" anchor="ctr">
                    <a:solidFill>
                      <a:srgbClr val="FFFFFF"/>
                    </a:solidFill>
                  </a:tcPr>
                </a:tc>
              </a:tr>
              <a:tr h="783431">
                <a:tc>
                  <a:txBody>
                    <a:bodyPr lIns="142875" tIns="95250" rIns="142875" bIns="95250">
                      <a:noAutofit/>
                    </a:bodyPr>
                    <a:lstStyle/>
                    <a:p>
                      <a:r>
                        <a:rPr sz="1725" b="0">
                          <a:solidFill>
                            <a:srgbClr val="203B30"/>
                          </a:solidFill>
                          <a:latin typeface="Arial"/>
                          <a:ea typeface="Arial"/>
                          <a:cs typeface="Arial"/>
                        </a:rPr>
                        <a:t>Historial opcional</a:t>
                      </a:r>
                    </a:p>
                  </a:txBody>
                  <a:tcPr marL="91440" marR="91440" marT="45720" marB="45720" anchor="ctr">
                    <a:solidFill>
                      <a:srgbClr val="EEF2E8"/>
                    </a:solidFill>
                  </a:tcPr>
                </a:tc>
                <a:tc>
                  <a:txBody>
                    <a:bodyPr lIns="142875" tIns="95250" rIns="142875" bIns="95250">
                      <a:noAutofit/>
                    </a:bodyPr>
                    <a:lstStyle/>
                    <a:p>
                      <a:r>
                        <a:rPr sz="1725" b="0">
                          <a:solidFill>
                            <a:srgbClr val="203B30"/>
                          </a:solidFill>
                          <a:latin typeface="Arial"/>
                          <a:ea typeface="Arial"/>
                          <a:cs typeface="Arial"/>
                        </a:rPr>
                        <a:t>Consentimiento y cuenta</a:t>
                      </a:r>
                    </a:p>
                  </a:txBody>
                  <a:tcPr marL="91440" marR="91440" marT="45720" marB="45720" anchor="ctr">
                    <a:solidFill>
                      <a:srgbClr val="EEF2E8"/>
                    </a:solidFill>
                  </a:tcPr>
                </a:tc>
                <a:tc>
                  <a:txBody>
                    <a:bodyPr lIns="142875" tIns="95250" rIns="142875" bIns="95250">
                      <a:noAutofit/>
                    </a:bodyPr>
                    <a:lstStyle/>
                    <a:p>
                      <a:r>
                        <a:rPr sz="1725" b="0">
                          <a:solidFill>
                            <a:srgbClr val="203B30"/>
                          </a:solidFill>
                          <a:latin typeface="Arial"/>
                          <a:ea typeface="Arial"/>
                          <a:cs typeface="Arial"/>
                        </a:rPr>
                        <a:t>Revisar cómo cambian las alternativas</a:t>
                      </a:r>
                    </a:p>
                  </a:txBody>
                  <a:tcPr marL="91440" marR="91440" marT="45720" marB="45720" anchor="ctr">
                    <a:solidFill>
                      <a:srgbClr val="EEF2E8"/>
                    </a:solidFill>
                  </a:tcPr>
                </a:tc>
              </a:tr>
            </a:tbl>
          </a:graphicData>
        </a:graphic>
      </p:graphicFrame>
      <p:sp>
        <p:nvSpPr>
          <p:cNvPr id="5" name="Cada extensión conserva el principio de pedir solo los datos nece">
            <a:extLst xmlns:a="http://schemas.openxmlformats.org/drawingml/2006/main">
              <a:ext uri="{FF2B5EF4-FFF2-40B4-BE49-F238E27FC236}">
                <a16:creationId xmlns:a16="http://schemas.microsoft.com/office/drawing/2014/main" id="{BBD92059-3E30-4700-8681-DBB4C5423B0B}"/>
              </a:ext>
            </a:extLst>
          </p:cNvPr>
          <p:cNvSpPr>
            <a:spLocks xmlns:a="http://schemas.openxmlformats.org/drawingml/2006/main" noGrp="1"/>
          </p:cNvSpPr>
          <p:nvPr/>
        </p:nvSpPr>
        <p:spPr>
          <a:xfrm xmlns:a="http://schemas.openxmlformats.org/drawingml/2006/main">
            <a:off x="609600" y="5743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203B30"/>
                </a:solidFill>
                <a:latin typeface="Arial"/>
                <a:ea typeface="Arial"/>
                <a:cs typeface="Arial"/>
              </a:defRPr>
            </a:pPr>
            <a:r>
              <a:rPr sz="1875" b="1">
                <a:solidFill>
                  <a:srgbClr val="203B30"/>
                </a:solidFill>
                <a:latin typeface="Arial"/>
                <a:ea typeface="Arial"/>
                <a:cs typeface="Arial"/>
              </a:rPr>
              <a:t>Cada extensión conserva el principio de pedir solo los datos necesarios.</a:t>
            </a:r>
          </a:p>
        </p:txBody>
      </p:sp>
    </p:spTree>
    <p:extLst>
      <p:ext uri="{BB962C8B-B14F-4D97-AF65-F5344CB8AC3E}">
        <p14:creationId xmlns:p14="http://schemas.microsoft.com/office/powerpoint/2010/main" val="1047302574"/>
      </p:ext>
    </p:extLst>
  </p:cSld>
</p:sld>
</file>

<file path=ppt/slides/slide12.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9" name="La primera versión ya tiene una base funcional">
            <a:extLst xmlns:a="http://schemas.openxmlformats.org/drawingml/2006/main">
              <a:ext uri="{FF2B5EF4-FFF2-40B4-BE49-F238E27FC236}">
                <a16:creationId xmlns:a16="http://schemas.microsoft.com/office/drawing/2014/main" id="{CAB53DB3-9D41-458B-B405-58607D5DFD8B}"/>
              </a:ext>
            </a:extLst>
          </p:cNvPr>
          <p:cNvSpPr>
            <a:spLocks xmlns:a="http://schemas.openxmlformats.org/drawingml/2006/main" noGrp="1"/>
          </p:cNvSpPr>
          <p:nvPr/>
        </p:nvSpPr>
        <p:spPr>
          <a:xfrm xmlns:a="http://schemas.openxmlformats.org/drawingml/2006/main">
            <a:off x="609600" y="5715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203B30"/>
                </a:solidFill>
                <a:latin typeface="Arial"/>
                <a:ea typeface="Arial"/>
                <a:cs typeface="Arial"/>
              </a:defRPr>
            </a:pPr>
            <a:r>
              <a:rPr sz="3450" b="1">
                <a:solidFill>
                  <a:srgbClr val="203B30"/>
                </a:solidFill>
                <a:latin typeface="Arial"/>
                <a:ea typeface="Arial"/>
                <a:cs typeface="Arial"/>
              </a:rPr>
              <a:t>La primera versión ya tiene una base funcional</a:t>
            </a:r>
          </a:p>
        </p:txBody>
      </p:sp>
      <p:sp>
        <p:nvSpPr>
          <p:cNvPr id="2" name="blindsave.">
            <a:extLst xmlns:a="http://schemas.openxmlformats.org/drawingml/2006/main">
              <a:ext uri="{FF2B5EF4-FFF2-40B4-BE49-F238E27FC236}">
                <a16:creationId xmlns:a16="http://schemas.microsoft.com/office/drawing/2014/main" id="{040F80BF-6F46-4783-93AE-E26F2A77522B}"/>
              </a:ext>
            </a:extLst>
          </p:cNvPr>
          <p:cNvSpPr>
            <a:spLocks xmlns:a="http://schemas.openxmlformats.org/drawingml/2006/main" noGrp="1"/>
          </p:cNvSpPr>
          <p:nvPr/>
        </p:nvSpPr>
        <p:spPr>
          <a:xfrm xmlns:a="http://schemas.openxmlformats.org/drawingml/2006/main">
            <a:off x="609600" y="64293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607568"/>
                </a:solidFill>
                <a:latin typeface="Arial"/>
                <a:ea typeface="Arial"/>
                <a:cs typeface="Arial"/>
              </a:defRPr>
            </a:pPr>
            <a:r>
              <a:rPr sz="1200" b="1">
                <a:solidFill>
                  <a:srgbClr val="607568"/>
                </a:solidFill>
                <a:latin typeface="Arial"/>
                <a:ea typeface="Arial"/>
                <a:cs typeface="Arial"/>
              </a:rPr>
              <a:t>blindsave.</a:t>
            </a:r>
          </a:p>
        </p:txBody>
      </p:sp>
      <p:sp>
        <p:nvSpPr>
          <p:cNvPr id="3" name="12">
            <a:extLst xmlns:a="http://schemas.openxmlformats.org/drawingml/2006/main">
              <a:ext uri="{FF2B5EF4-FFF2-40B4-BE49-F238E27FC236}">
                <a16:creationId xmlns:a16="http://schemas.microsoft.com/office/drawing/2014/main" id="{76DBDB18-A2A8-458B-9815-0C42DD73AEDC}"/>
              </a:ext>
            </a:extLst>
          </p:cNvPr>
          <p:cNvSpPr>
            <a:spLocks xmlns:a="http://schemas.openxmlformats.org/drawingml/2006/main" noGrp="1"/>
          </p:cNvSpPr>
          <p:nvPr/>
        </p:nvSpPr>
        <p:spPr>
          <a:xfrm xmlns:a="http://schemas.openxmlformats.org/drawingml/2006/main">
            <a:off x="1114425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607568"/>
                </a:solidFill>
                <a:latin typeface="Arial"/>
                <a:ea typeface="Arial"/>
                <a:cs typeface="Arial"/>
              </a:defRPr>
            </a:pPr>
            <a:r>
              <a:rPr sz="1200" b="0">
                <a:solidFill>
                  <a:srgbClr val="607568"/>
                </a:solidFill>
                <a:latin typeface="Arial"/>
                <a:ea typeface="Arial"/>
                <a:cs typeface="Arial"/>
              </a:rPr>
              <a:t>12</a:t>
            </a:r>
          </a:p>
        </p:txBody>
      </p:sp>
      <p:sp>
        <p:nvSpPr>
          <p:cNvPr id="4" name="Ya funciona">
            <a:extLst xmlns:a="http://schemas.openxmlformats.org/drawingml/2006/main">
              <a:ext uri="{FF2B5EF4-FFF2-40B4-BE49-F238E27FC236}">
                <a16:creationId xmlns:a16="http://schemas.microsoft.com/office/drawing/2014/main" id="{997F8CED-A9C6-450E-832A-7E25859FD450}"/>
              </a:ext>
            </a:extLst>
          </p:cNvPr>
          <p:cNvSpPr>
            <a:spLocks xmlns:a="http://schemas.openxmlformats.org/drawingml/2006/main" noGrp="1"/>
          </p:cNvSpPr>
          <p:nvPr/>
        </p:nvSpPr>
        <p:spPr>
          <a:xfrm xmlns:a="http://schemas.openxmlformats.org/drawingml/2006/main">
            <a:off x="609600" y="2009775"/>
            <a:ext cx="476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203B30"/>
                </a:solidFill>
                <a:latin typeface="Arial"/>
                <a:ea typeface="Arial"/>
                <a:cs typeface="Arial"/>
              </a:defRPr>
            </a:pPr>
            <a:r>
              <a:rPr sz="2550" b="1">
                <a:solidFill>
                  <a:srgbClr val="203B30"/>
                </a:solidFill>
                <a:latin typeface="Arial"/>
                <a:ea typeface="Arial"/>
                <a:cs typeface="Arial"/>
              </a:rPr>
              <a:t>Ya funciona</a:t>
            </a:r>
          </a:p>
        </p:txBody>
      </p:sp>
      <p:sp>
        <p:nvSpPr>
          <p:cNvPr id="5" name="Entrada manual y CSV&#10;Comparación y desglose de costes&#10;Gráficas y ">
            <a:extLst xmlns:a="http://schemas.openxmlformats.org/drawingml/2006/main">
              <a:ext uri="{FF2B5EF4-FFF2-40B4-BE49-F238E27FC236}">
                <a16:creationId xmlns:a16="http://schemas.microsoft.com/office/drawing/2014/main" id="{EDE2A73D-6856-4011-849F-9B1D09D4CFF6}"/>
              </a:ext>
            </a:extLst>
          </p:cNvPr>
          <p:cNvSpPr>
            <a:spLocks xmlns:a="http://schemas.openxmlformats.org/drawingml/2006/main" noGrp="1"/>
          </p:cNvSpPr>
          <p:nvPr/>
        </p:nvSpPr>
        <p:spPr>
          <a:xfrm xmlns:a="http://schemas.openxmlformats.org/drawingml/2006/main">
            <a:off x="609600" y="2838450"/>
            <a:ext cx="5067300" cy="2181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03B30"/>
                </a:solidFill>
                <a:latin typeface="Arial"/>
                <a:ea typeface="Arial"/>
                <a:cs typeface="Arial"/>
              </a:defRPr>
            </a:pPr>
            <a:r>
              <a:rPr sz="2100" b="0">
                <a:solidFill>
                  <a:srgbClr val="203B30"/>
                </a:solidFill>
                <a:latin typeface="Arial"/>
                <a:ea typeface="Arial"/>
                <a:cs typeface="Arial"/>
              </a:rPr>
              <a:t>Entrada manual y CSV</a:t>
            </a:r>
          </a:p>
          <a:p xmlns:a="http://schemas.openxmlformats.org/drawingml/2006/main">
            <a:pPr>
              <a:defRPr sz="2100" b="0">
                <a:solidFill>
                  <a:srgbClr val="203B30"/>
                </a:solidFill>
                <a:latin typeface="Arial"/>
                <a:ea typeface="Arial"/>
                <a:cs typeface="Arial"/>
              </a:defRPr>
            </a:pPr>
            <a:r>
              <a:rPr sz="2100" b="0">
                <a:solidFill>
                  <a:srgbClr val="203B30"/>
                </a:solidFill>
                <a:latin typeface="Arial"/>
                <a:ea typeface="Arial"/>
                <a:cs typeface="Arial"/>
              </a:rPr>
              <a:t>Comparación y desglose de costes</a:t>
            </a:r>
          </a:p>
          <a:p xmlns:a="http://schemas.openxmlformats.org/drawingml/2006/main">
            <a:pPr>
              <a:defRPr sz="2100" b="0">
                <a:solidFill>
                  <a:srgbClr val="203B30"/>
                </a:solidFill>
                <a:latin typeface="Arial"/>
                <a:ea typeface="Arial"/>
                <a:cs typeface="Arial"/>
              </a:defRPr>
            </a:pPr>
            <a:r>
              <a:rPr sz="2100" b="0">
                <a:solidFill>
                  <a:srgbClr val="203B30"/>
                </a:solidFill>
                <a:latin typeface="Arial"/>
                <a:ea typeface="Arial"/>
                <a:cs typeface="Arial"/>
              </a:rPr>
              <a:t>Gráficas y condiciones</a:t>
            </a:r>
          </a:p>
          <a:p xmlns:a="http://schemas.openxmlformats.org/drawingml/2006/main">
            <a:pPr>
              <a:defRPr sz="2100" b="0">
                <a:solidFill>
                  <a:srgbClr val="203B30"/>
                </a:solidFill>
                <a:latin typeface="Arial"/>
                <a:ea typeface="Arial"/>
                <a:cs typeface="Arial"/>
              </a:defRPr>
            </a:pPr>
            <a:r>
              <a:rPr sz="2100" b="0">
                <a:solidFill>
                  <a:srgbClr val="203B30"/>
                </a:solidFill>
                <a:latin typeface="Arial"/>
                <a:ea typeface="Arial"/>
                <a:cs typeface="Arial"/>
              </a:rPr>
              <a:t>Pruebas de lógica y seguridad</a:t>
            </a:r>
          </a:p>
        </p:txBody>
      </p:sp>
      <p:sp>
        <p:nvSpPr>
          <p:cNvPr id="6" name="Próximo hito: servicio real">
            <a:extLst xmlns:a="http://schemas.openxmlformats.org/drawingml/2006/main">
              <a:ext uri="{FF2B5EF4-FFF2-40B4-BE49-F238E27FC236}">
                <a16:creationId xmlns:a16="http://schemas.microsoft.com/office/drawing/2014/main" id="{A15D4B68-99BE-4B85-B8B7-F4C82407D199}"/>
              </a:ext>
            </a:extLst>
          </p:cNvPr>
          <p:cNvSpPr>
            <a:spLocks xmlns:a="http://schemas.openxmlformats.org/drawingml/2006/main" noGrp="1"/>
          </p:cNvSpPr>
          <p:nvPr/>
        </p:nvSpPr>
        <p:spPr>
          <a:xfrm xmlns:a="http://schemas.openxmlformats.org/drawingml/2006/main">
            <a:off x="6515100" y="2009775"/>
            <a:ext cx="5095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203B30"/>
                </a:solidFill>
                <a:latin typeface="Arial"/>
                <a:ea typeface="Arial"/>
                <a:cs typeface="Arial"/>
              </a:defRPr>
            </a:pPr>
            <a:r>
              <a:rPr sz="2550" b="1">
                <a:solidFill>
                  <a:srgbClr val="203B30"/>
                </a:solidFill>
                <a:latin typeface="Arial"/>
                <a:ea typeface="Arial"/>
                <a:cs typeface="Arial"/>
              </a:rPr>
              <a:t>Próximo hito: servicio real</a:t>
            </a:r>
          </a:p>
        </p:txBody>
      </p:sp>
      <p:sp>
        <p:nvSpPr>
          <p:cNvPr id="7" name="Conectar el proyecto Supabase&#10;Publicar tarifas verificadas&#10;Config">
            <a:extLst xmlns:a="http://schemas.openxmlformats.org/drawingml/2006/main">
              <a:ext uri="{FF2B5EF4-FFF2-40B4-BE49-F238E27FC236}">
                <a16:creationId xmlns:a16="http://schemas.microsoft.com/office/drawing/2014/main" id="{5AFB98E6-40D2-422F-ACCC-8F4A6F563A7F}"/>
              </a:ext>
            </a:extLst>
          </p:cNvPr>
          <p:cNvSpPr>
            <a:spLocks xmlns:a="http://schemas.openxmlformats.org/drawingml/2006/main" noGrp="1"/>
          </p:cNvSpPr>
          <p:nvPr/>
        </p:nvSpPr>
        <p:spPr>
          <a:xfrm xmlns:a="http://schemas.openxmlformats.org/drawingml/2006/main">
            <a:off x="6515100" y="2838450"/>
            <a:ext cx="5105400" cy="2181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607568"/>
                </a:solidFill>
                <a:latin typeface="Arial"/>
                <a:ea typeface="Arial"/>
                <a:cs typeface="Arial"/>
              </a:defRPr>
            </a:pPr>
            <a:r>
              <a:rPr sz="2100" b="0">
                <a:solidFill>
                  <a:srgbClr val="607568"/>
                </a:solidFill>
                <a:latin typeface="Arial"/>
                <a:ea typeface="Arial"/>
                <a:cs typeface="Arial"/>
              </a:rPr>
              <a:t>Conectar el proyecto Supabase</a:t>
            </a:r>
          </a:p>
          <a:p xmlns:a="http://schemas.openxmlformats.org/drawingml/2006/main">
            <a:pPr>
              <a:defRPr sz="2100" b="0">
                <a:solidFill>
                  <a:srgbClr val="607568"/>
                </a:solidFill>
                <a:latin typeface="Arial"/>
                <a:ea typeface="Arial"/>
                <a:cs typeface="Arial"/>
              </a:defRPr>
            </a:pPr>
            <a:r>
              <a:rPr sz="2100" b="0">
                <a:solidFill>
                  <a:srgbClr val="607568"/>
                </a:solidFill>
                <a:latin typeface="Arial"/>
                <a:ea typeface="Arial"/>
                <a:cs typeface="Arial"/>
              </a:rPr>
              <a:t>Publicar tarifas verificadas</a:t>
            </a:r>
          </a:p>
          <a:p xmlns:a="http://schemas.openxmlformats.org/drawingml/2006/main">
            <a:pPr>
              <a:defRPr sz="2100" b="0">
                <a:solidFill>
                  <a:srgbClr val="607568"/>
                </a:solidFill>
                <a:latin typeface="Arial"/>
                <a:ea typeface="Arial"/>
                <a:cs typeface="Arial"/>
              </a:defRPr>
            </a:pPr>
            <a:r>
              <a:rPr sz="2100" b="0">
                <a:solidFill>
                  <a:srgbClr val="607568"/>
                </a:solidFill>
                <a:latin typeface="Arial"/>
                <a:ea typeface="Arial"/>
                <a:cs typeface="Arial"/>
              </a:rPr>
              <a:t>Configurar protección y retención</a:t>
            </a:r>
          </a:p>
          <a:p xmlns:a="http://schemas.openxmlformats.org/drawingml/2006/main">
            <a:pPr>
              <a:defRPr sz="2100" b="0">
                <a:solidFill>
                  <a:srgbClr val="607568"/>
                </a:solidFill>
                <a:latin typeface="Arial"/>
                <a:ea typeface="Arial"/>
                <a:cs typeface="Arial"/>
              </a:defRPr>
            </a:pPr>
            <a:r>
              <a:rPr sz="2100" b="0">
                <a:solidFill>
                  <a:srgbClr val="607568"/>
                </a:solidFill>
                <a:latin typeface="Arial"/>
                <a:ea typeface="Arial"/>
                <a:cs typeface="Arial"/>
              </a:rPr>
              <a:t>Validar el despliegue completo</a:t>
            </a:r>
          </a:p>
        </p:txBody>
      </p:sp>
      <p:sp>
        <p:nvSpPr>
          <p:cNvPr id="8" name="La demostración actual usa tarifas ficticias. El lanzamiento nece">
            <a:extLst xmlns:a="http://schemas.openxmlformats.org/drawingml/2006/main">
              <a:ext uri="{FF2B5EF4-FFF2-40B4-BE49-F238E27FC236}">
                <a16:creationId xmlns:a16="http://schemas.microsoft.com/office/drawing/2014/main" id="{799B9E25-3C57-4D50-9DF5-4B4510329144}"/>
              </a:ext>
            </a:extLst>
          </p:cNvPr>
          <p:cNvSpPr>
            <a:spLocks xmlns:a="http://schemas.openxmlformats.org/drawingml/2006/main" noGrp="1"/>
          </p:cNvSpPr>
          <p:nvPr/>
        </p:nvSpPr>
        <p:spPr>
          <a:xfrm xmlns:a="http://schemas.openxmlformats.org/drawingml/2006/main">
            <a:off x="609600" y="5591175"/>
            <a:ext cx="1090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607568"/>
                </a:solidFill>
                <a:latin typeface="Arial"/>
                <a:ea typeface="Arial"/>
                <a:cs typeface="Arial"/>
              </a:defRPr>
            </a:pPr>
            <a:r>
              <a:rPr sz="1800" b="0">
                <a:solidFill>
                  <a:srgbClr val="607568"/>
                </a:solidFill>
                <a:latin typeface="Arial"/>
                <a:ea typeface="Arial"/>
                <a:cs typeface="Arial"/>
              </a:rPr>
              <a:t>La demostración actual usa tarifas ficticias. El lanzamiento necesita un catálogo real.</a:t>
            </a:r>
          </a:p>
        </p:txBody>
      </p:sp>
    </p:spTree>
    <p:extLst>
      <p:ext uri="{BB962C8B-B14F-4D97-AF65-F5344CB8AC3E}">
        <p14:creationId xmlns:p14="http://schemas.microsoft.com/office/powerpoint/2010/main" val="405758879"/>
      </p:ext>
    </p:extLst>
  </p:cSld>
</p:sld>
</file>

<file path=ppt/slides/slide13.xml><?xml version="1.0" encoding="utf-8"?>
<p:sld xmlns:p="http://schemas.openxmlformats.org/presentationml/2006/main">
  <p:cSld>
    <p:bg>
      <p:bgPr>
        <a:solidFill xmlns:a="http://schemas.openxmlformats.org/drawingml/2006/main">
          <a:srgbClr val="183D30"/>
        </a:solidFill>
      </p:bgPr>
    </p:bg>
    <p:spTree>
      <p:nvGrpSpPr>
        <p:cNvPr id="1" name=""/>
        <p:cNvGrpSpPr/>
        <p:nvPr/>
      </p:nvGrpSpPr>
      <p:grpSpPr>
        <a:xfrm xmlns:a="http://schemas.openxmlformats.org/drawingml/2006/main"/>
      </p:grpSpPr>
      <p:sp>
        <p:nvSpPr>
          <p:cNvPr id="6" name="blindsave.">
            <a:extLst xmlns:a="http://schemas.openxmlformats.org/drawingml/2006/main">
              <a:ext uri="{FF2B5EF4-FFF2-40B4-BE49-F238E27FC236}">
                <a16:creationId xmlns:a16="http://schemas.microsoft.com/office/drawing/2014/main" id="{D4E37CAA-CB01-4BF4-BAEE-45A43AF9BCB6}"/>
              </a:ext>
            </a:extLst>
          </p:cNvPr>
          <p:cNvSpPr>
            <a:spLocks xmlns:a="http://schemas.openxmlformats.org/drawingml/2006/main" noGrp="1"/>
          </p:cNvSpPr>
          <p:nvPr/>
        </p:nvSpPr>
        <p:spPr>
          <a:xfrm xmlns:a="http://schemas.openxmlformats.org/drawingml/2006/main">
            <a:off x="609600" y="64293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D8EEA4"/>
                </a:solidFill>
                <a:latin typeface="Arial"/>
                <a:ea typeface="Arial"/>
                <a:cs typeface="Arial"/>
              </a:defRPr>
            </a:pPr>
            <a:r>
              <a:rPr sz="1200" b="1">
                <a:solidFill>
                  <a:srgbClr val="D8EEA4"/>
                </a:solidFill>
                <a:latin typeface="Arial"/>
                <a:ea typeface="Arial"/>
                <a:cs typeface="Arial"/>
              </a:rPr>
              <a:t>blindsave.</a:t>
            </a:r>
          </a:p>
        </p:txBody>
      </p:sp>
      <p:sp>
        <p:nvSpPr>
          <p:cNvPr id="2" name="13">
            <a:extLst xmlns:a="http://schemas.openxmlformats.org/drawingml/2006/main">
              <a:ext uri="{FF2B5EF4-FFF2-40B4-BE49-F238E27FC236}">
                <a16:creationId xmlns:a16="http://schemas.microsoft.com/office/drawing/2014/main" id="{FB29FEF1-782F-4975-935B-2B1FF36D5DA9}"/>
              </a:ext>
            </a:extLst>
          </p:cNvPr>
          <p:cNvSpPr>
            <a:spLocks xmlns:a="http://schemas.openxmlformats.org/drawingml/2006/main" noGrp="1"/>
          </p:cNvSpPr>
          <p:nvPr/>
        </p:nvSpPr>
        <p:spPr>
          <a:xfrm xmlns:a="http://schemas.openxmlformats.org/drawingml/2006/main">
            <a:off x="1114425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D8EEA4"/>
                </a:solidFill>
                <a:latin typeface="Arial"/>
                <a:ea typeface="Arial"/>
                <a:cs typeface="Arial"/>
              </a:defRPr>
            </a:pPr>
            <a:r>
              <a:rPr sz="1200" b="0">
                <a:solidFill>
                  <a:srgbClr val="D8EEA4"/>
                </a:solidFill>
                <a:latin typeface="Arial"/>
                <a:ea typeface="Arial"/>
                <a:cs typeface="Arial"/>
              </a:rPr>
              <a:t>13</a:t>
            </a:r>
          </a:p>
        </p:txBody>
      </p:sp>
      <p:sp>
        <p:nvSpPr>
          <p:cNvPr id="3" name="El valor de BlindSave">
            <a:extLst xmlns:a="http://schemas.openxmlformats.org/drawingml/2006/main">
              <a:ext uri="{FF2B5EF4-FFF2-40B4-BE49-F238E27FC236}">
                <a16:creationId xmlns:a16="http://schemas.microsoft.com/office/drawing/2014/main" id="{D63EBD17-4505-40C6-8C60-3591DE827371}"/>
              </a:ext>
            </a:extLst>
          </p:cNvPr>
          <p:cNvSpPr>
            <a:spLocks xmlns:a="http://schemas.openxmlformats.org/drawingml/2006/main" noGrp="1"/>
          </p:cNvSpPr>
          <p:nvPr/>
        </p:nvSpPr>
        <p:spPr>
          <a:xfrm xmlns:a="http://schemas.openxmlformats.org/drawingml/2006/main">
            <a:off x="609600" y="8572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D8EEA4"/>
                </a:solidFill>
                <a:latin typeface="Arial"/>
                <a:ea typeface="Arial"/>
                <a:cs typeface="Arial"/>
              </a:defRPr>
            </a:pPr>
            <a:r>
              <a:rPr sz="3450" b="1">
                <a:solidFill>
                  <a:srgbClr val="D8EEA4"/>
                </a:solidFill>
                <a:latin typeface="Arial"/>
                <a:ea typeface="Arial"/>
                <a:cs typeface="Arial"/>
              </a:rPr>
              <a:t>El valor de BlindSave</a:t>
            </a:r>
          </a:p>
        </p:txBody>
      </p:sp>
      <p:sp>
        <p:nvSpPr>
          <p:cNvPr id="4" name="Entender lo que pago.&#10;Comparar con criterio.&#10;Compartir menos dato">
            <a:extLst xmlns:a="http://schemas.openxmlformats.org/drawingml/2006/main">
              <a:ext uri="{FF2B5EF4-FFF2-40B4-BE49-F238E27FC236}">
                <a16:creationId xmlns:a16="http://schemas.microsoft.com/office/drawing/2014/main" id="{E3D3220B-13FE-4574-BEC7-EFAA010AF5B8}"/>
              </a:ext>
            </a:extLst>
          </p:cNvPr>
          <p:cNvSpPr>
            <a:spLocks xmlns:a="http://schemas.openxmlformats.org/drawingml/2006/main" noGrp="1"/>
          </p:cNvSpPr>
          <p:nvPr/>
        </p:nvSpPr>
        <p:spPr>
          <a:xfrm xmlns:a="http://schemas.openxmlformats.org/drawingml/2006/main">
            <a:off x="609600" y="2247900"/>
            <a:ext cx="10858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Entender lo que pago.</a:t>
            </a:r>
          </a:p>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Comparar con criterio.</a:t>
            </a:r>
          </a:p>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Compartir menos datos.</a:t>
            </a:r>
          </a:p>
        </p:txBody>
      </p:sp>
      <p:sp>
        <p:nvSpPr>
          <p:cNvPr id="5" name="Una primera aplicación eléctrica con una visión más amplia:&#10;ayuda">
            <a:extLst xmlns:a="http://schemas.openxmlformats.org/drawingml/2006/main">
              <a:ext uri="{FF2B5EF4-FFF2-40B4-BE49-F238E27FC236}">
                <a16:creationId xmlns:a16="http://schemas.microsoft.com/office/drawing/2014/main" id="{2564C89A-6796-40A2-B77A-461664DD9586}"/>
              </a:ext>
            </a:extLst>
          </p:cNvPr>
          <p:cNvSpPr>
            <a:spLocks xmlns:a="http://schemas.openxmlformats.org/drawingml/2006/main" noGrp="1"/>
          </p:cNvSpPr>
          <p:nvPr/>
        </p:nvSpPr>
        <p:spPr>
          <a:xfrm xmlns:a="http://schemas.openxmlformats.org/drawingml/2006/main">
            <a:off x="609600" y="5181600"/>
            <a:ext cx="10858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C1D1C5"/>
                </a:solidFill>
                <a:latin typeface="Arial"/>
                <a:ea typeface="Arial"/>
                <a:cs typeface="Arial"/>
              </a:defRPr>
            </a:pPr>
            <a:r>
              <a:rPr sz="2175" b="0">
                <a:solidFill>
                  <a:srgbClr val="C1D1C5"/>
                </a:solidFill>
                <a:latin typeface="Arial"/>
                <a:ea typeface="Arial"/>
                <a:cs typeface="Arial"/>
              </a:rPr>
              <a:t>Una primera aplicación eléctrica con una visión más amplia:</a:t>
            </a:r>
          </a:p>
          <a:p xmlns:a="http://schemas.openxmlformats.org/drawingml/2006/main">
            <a:pPr>
              <a:defRPr sz="2175" b="0">
                <a:solidFill>
                  <a:srgbClr val="C1D1C5"/>
                </a:solidFill>
                <a:latin typeface="Arial"/>
                <a:ea typeface="Arial"/>
                <a:cs typeface="Arial"/>
              </a:defRPr>
            </a:pPr>
            <a:r>
              <a:rPr sz="2175" b="0">
                <a:solidFill>
                  <a:srgbClr val="C1D1C5"/>
                </a:solidFill>
                <a:latin typeface="Arial"/>
                <a:ea typeface="Arial"/>
                <a:cs typeface="Arial"/>
              </a:rPr>
              <a:t>ayudar a decidir sobre los gastos fijos.</a:t>
            </a:r>
          </a:p>
        </p:txBody>
      </p:sp>
    </p:spTree>
    <p:extLst>
      <p:ext uri="{BB962C8B-B14F-4D97-AF65-F5344CB8AC3E}">
        <p14:creationId xmlns:p14="http://schemas.microsoft.com/office/powerpoint/2010/main" val="14060712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2026-10-04T09:57:46.1060000Z</dcterms:created>
  <dcterms:modified xsi:type="dcterms:W3CDTF">2026-10-04T09:57:46.1060000Z</dcterms:modified>
</coreProperties>
</file>