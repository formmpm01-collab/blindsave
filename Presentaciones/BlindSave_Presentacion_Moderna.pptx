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Default Extension="jpg" ContentType="image/jpeg"/>
  <Default Extension="jpeg" ContentType="image/jpeg"/>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026757-B4E2-4C8D-8E6D-E06A50FB6742}">
  <a:tblStyle styleId="{89026757-B4E2-4C8D-8E6D-E06A50FB674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BlindSave es una aplicación para comparar el coste eléctrico según el consumo de cada hogar. La motivación del proyecto combina utilidad cotidiana y privacidad. En esta presentación explico qué hace la primera versión, cómo calcula y qué posibilidades abre. La demostración utiliza ofertas ficticias, no tarifas reales contratables. Fuente: propuesta del proyecto aportada por el autor y README.md.</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Una tarifa aparentemente barata puede perder su ventaja al sumar la potencia y las cuotas obligatorias. Además, el coste depende de cuándo se consume electricidad. BlindSave aborda esa comparación desde un conjunto reducido de datos. La propuesta también evita pedir una factura completa, que puede contener identificadores ajenos al cálculo. Fuente: propuesta original y definición funcional de README.md.</a:t>
            </a:r>
            <a:endParaRPr/>
          </a:p>
        </p:txBody>
      </p:sp>
      <p:sp>
        <p:nvSpPr>
          <p:cNvPr id="24" name="Google Shape;2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He elegido este proyecto porque permite aplicar la ingeniería a un problema cotidiano: entender si los gastos fijos pueden reducirse. Mi objetivo es ofrecer una comparación que el usuario pueda comprobar y diseñar el flujo para solicitar únicamente los datos necesarios. Además, el proyecto permite construir una aplicación completa con interfaz, lógica de negocio, backend y pruebas. Fuente: especificación proporcionada por el autor.</a:t>
            </a:r>
            <a:endParaRPr/>
          </a:p>
        </p:txBody>
      </p:sp>
      <p:sp>
        <p:nvSpPr>
          <p:cNvPr id="41" name="Google Shape;4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Esta captura corresponde a la aplicación implementada. El usuario introduce consumos y precios o utiliza un CSV compatible. El panel calcula una referencia de coste y ordena alternativas por coste anual, con desglose de energía, potencia y cuotas. También muestra la permanencia y el reparto del consumo. La primera versión cubre electricidad 2.0TD para Península y Baleares, hasta 15 kW, con tarifas de precio fijo. La captura utiliza datos y ofertas ficticios. Fuentes: src/App.tsx, src/lib/demo.ts y captura local de la aplicación.</a:t>
            </a:r>
            <a:endParaRPr/>
          </a:p>
        </p:txBody>
      </p:sp>
      <p:sp>
        <p:nvSpPr>
          <p:cNvPr id="54" name="Google Shape;5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El recorrido exige cuatro acciones comprensibles. Primero se aportan consumos anuales por periodo o un CSV horario adaptado a la plantilla. Después se añaden las dos potencias contratadas y los precios actuales. El motor compara todas las ofertas válidas del catálogo. Finalmente, el usuario consulta las condiciones y toma su decisión. La aplicación no tramita contratos. Para CSV exige entre 28 y 366 días completos y valida estructura, huecos, duplicados y cambios de hora. Los periodos cortos se extrapolan a 365 días, con advertencia de estacionalidad. Fuentes: src/App.tsx y src/lib/csv.ts.</a:t>
            </a:r>
            <a:endParaRPr/>
          </a:p>
        </p:txBody>
      </p:sp>
      <p:sp>
        <p:nvSpPr>
          <p:cNvPr id="67" name="Google Shape;6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Ejemplo reproducible con 3.500 kWh al año y potencias de 4,6 kW en ambos periodos. La referencia cuesta 826,78 euros anuales. La alternativa ficticia Equilibrio 24h cuesta 601,90 euros. La diferencia es 224,88 euros al año, aproximadamente el 27,2 %. No es una promesa ni un ahorro observado en clientes. Son precios ficticios de la demostración. Las cifras excluyen impuestos, alquiler del contador y penalizaciones de salida. Fuentes: src/lib/demo.ts, supabase/functions/_shared/engine.ts y tests/engine.test.ts.</a:t>
            </a:r>
            <a:endParaRPr/>
          </a:p>
        </p:txBody>
      </p:sp>
      <p:sp>
        <p:nvSpPr>
          <p:cNvPr id="88" name="Google Shape;8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La expresión Zero-PII describe el objetivo de minimizar los datos del flujo de consumo. La app valida el CSV localmente y rechaza columnas desconocidas. El backend recibe solo totales numéricos, potencias y precios. No se guardan archivos ni análisis del consumidor. Esto no significa que el servicio no procese ningún dato personal: Auth mantiene una identidad anónima y la infraestructura puede generar IP y logs técnicos. El proyecto debe configurar su retención y controles operativos antes de abrirse al público. Fuentes: docs/ARCHITECTURE.md, src/lib/csv.ts y supabase/functions/analyze/handler.ts.</a:t>
            </a:r>
            <a:endParaRPr/>
          </a:p>
        </p:txBody>
      </p:sp>
      <p:sp>
        <p:nvSpPr>
          <p:cNvPr id="102" name="Google Shape;10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El frontend usa React y TypeScript, con Vite para construir la aplicación. La sesión anónima evita pedir un email para comparar. La Edge Function valida el JWT, limita el tamaño de las peticiones y ejecuta el mismo motor de cálculo que la demo local. Postgres contiene el catálogo del mercado. Las políticas RLS permiten leer únicamente ofertas revisadas y vigentes y evitan que los clientes cambien precios. El código ya está preparado, pero el proyecto remoto y sus controles operativos todavía necesitan configuración. Supabase aloja el backend y el frontend compilado requiere alojamiento estático. Fuentes: supabase/config.toml, supabase/migrations/202610040001_initial_market.sql y docs/DEPLOYMENT.md.</a:t>
            </a:r>
            <a:endParaRPr/>
          </a:p>
        </p:txBody>
      </p:sp>
      <p:sp>
        <p:nvSpPr>
          <p:cNvPr id="112" name="Google Shape;11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La clasificación se basa en una fórmula determinista, compartida por navegador y backend. La energía suma los kWh de cada periodo multiplicados por su precio. La potencia suma los dos términos contratados por sus precios diarios y por 365. Las cuotas mensuales obligatorias se multiplican por doce. La diferencia respecto al coste reconstruido del contrato actual es el ahorro potencial. Se mantiene la precisión interna y se redondea para presentar. Solo se comparan precios fijos garantizados durante al menos 12 meses. No se calcula PVPC, indexadas, autoconsumo o promociones variables. Un consumo horario medio tampoco permite inferir picos de potencia. Fuente: supabase/functions/_shared/engine.ts y README.md.</a:t>
            </a:r>
            <a:endParaRPr/>
          </a:p>
        </p:txBody>
      </p:sp>
      <p:sp>
        <p:nvSpPr>
          <p:cNvPr id="122" name="Google Shape;12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Esta es una fase futura. La primera versión no incorpora un LLM ni un chatbot. La propuesta utiliza la IA para extraer precios y condiciones de webs y documentos públicos, almacenar evidencia y preparar borradores que deben revisarse. Un asistente podría responder preguntas como si una tarifa tiene permanencia citando la fuente contractual. La base de documentos con pgvector está preparada, pero la extracción, la generación de embeddings y la recuperación con respuestas citadas todavía deben implementarse. El consumo del usuario permanece separado de esas consultas. Fuentes: docs/ROADMAP.md y tabla market_documents de la migración inicial.</a:t>
            </a:r>
            <a:endParaRPr/>
          </a:p>
        </p:txBody>
      </p:sp>
      <p:sp>
        <p:nvSpPr>
          <p:cNvPr id="138" name="Google Shape;13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La arquitectura permite ampliar la propuesta, pero cada servicio necesita su propio esquema de datos, catálogo y lógica. Para telecomunicaciones importan las líneas, los GB, la fibra y el coste al terminar una promoción. Para gas hacen falta el peaje RL y el consumo. Las suscripciones pueden empezar con selección manual de servicios e importes, evitando CSV bancarios. También se contempla guardar análisis de forma opcional con consentimiento y permisos por propietario. Ninguna de estas funciones forma parte del comparador actual. Son posibilidades de evolución, no servicios disponibles ni previsiones de ingresos. Fuentes: propuesta original y docs/ROADMAP.md.</a:t>
            </a:r>
            <a:endParaRPr/>
          </a:p>
        </p:txBody>
      </p:sp>
      <p:sp>
        <p:nvSpPr>
          <p:cNvPr id="153" name="Google Shape;15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La aplicación ya permite introducir datos, analizar un CSV y ver resultados en escritorio o móvil. El trabajo incluye pruebas del motor, importador, políticas SQL y flujos de interfaz, así como validación de la función. Esta evidencia no sustituye la comprobación contra el proyecto Supabase de destino. El siguiente hito es conectar ese proyecto, publicar ofertas reales verificadas, configurar dominio y HTTPS, CAPTCHA y retención. Después debe probarse el recorrido de extremo a extremo. La demo actual utiliza tarifas ficticias y no debe presentarse como un catálogo comercial. Fuentes: README.md, docs/DEPLOYMENT.md, tests/ y resultados de pruebas de la implementación.</a:t>
            </a:r>
            <a:endParaRPr/>
          </a:p>
        </p:txBody>
      </p:sp>
      <p:sp>
        <p:nvSpPr>
          <p:cNvPr id="163" name="Google Shape;16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El valor de BlindSave consiste en que una persona pueda entender qué paga y comparar alternativas de forma comprobable, con un flujo que solicita pocos datos. La primera versión concentra el esfuerzo en electricidad para validar ese recorrido. La visión posterior es ampliar el mismo criterio a otros gastos fijos y añadir inteligencia sobre el mercado con fuentes. El siguiente paso concreto es pasar de la demostración al catálogo real y contrastar la experiencia con usuarios. Fuente: síntesis de la propuesta original, README.md y docs/ROADMAP.md.</a:t>
            </a:r>
            <a:endParaRPr/>
          </a:p>
        </p:txBody>
      </p:sp>
      <p:sp>
        <p:nvSpPr>
          <p:cNvPr id="176" name="Google Shape;176;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xml" /><Relationship Id="rId3" Type="http://schemas.openxmlformats.org/officeDocument/2006/relationships/image" Target="../media/hero.jpg" /></ns0: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7.xml" /><Relationship Id="rId3" Type="http://schemas.openxmlformats.org/officeDocument/2006/relationships/image" Target="../media/security.jpg" /></ns0: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0.xml" /><Relationship Id="rId3" Type="http://schemas.openxmlformats.org/officeDocument/2006/relationships/image" Target="../media/ai_contracts.jpg" /></ns0:Relationships>
</file>

<file path=ppt/slides/_rels/slide1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1.xml" /><Relationship Id="rId3" Type="http://schemas.openxmlformats.org/officeDocument/2006/relationships/image" Target="../media/ecosystem.jpg" /></ns0: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3D30"/>
        </a:solidFill>
      </p:bgPr>
    </p:bg>
    <p:spTree>
      <p:nvGrpSpPr>
        <p:cNvPr id="15" name="Shape 15"/>
        <p:cNvGrpSpPr/>
        <p:nvPr/>
      </p:nvGrpSpPr>
      <p:grpSpPr>
        <a:xfrm>
          <a:off x="0" y="0"/>
          <a:ext cx="0" cy="0"/>
          <a:chOff x="0" y="0"/>
          <a:chExt cx="0" cy="0"/>
        </a:xfrm>
      </p:grpSpPr>
      <p:sp>
        <p:nvSpPr>
          <p:cNvPr id="16" name="Google Shape;16;p3"/>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D8EEA4"/>
                </a:solidFill>
                <a:latin typeface="Arial"/>
                <a:ea typeface="Arial"/>
                <a:cs typeface="Arial"/>
                <a:sym typeface="Arial"/>
              </a:rPr>
              <a:t>blindsave.</a:t>
            </a:r>
            <a:endParaRPr/>
          </a:p>
        </p:txBody>
      </p:sp>
      <p:sp>
        <p:nvSpPr>
          <p:cNvPr id="17" name="Google Shape;17;p3"/>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D8EEA4"/>
                </a:solidFill>
                <a:latin typeface="Arial"/>
                <a:ea typeface="Arial"/>
                <a:cs typeface="Arial"/>
                <a:sym typeface="Arial"/>
              </a:rPr>
              <a:t>01</a:t>
            </a:r>
            <a:endParaRPr/>
          </a:p>
        </p:txBody>
      </p:sp>
      <p:sp>
        <p:nvSpPr>
          <p:cNvPr id="18" name="Google Shape;18;p3"/>
          <p:cNvSpPr/>
          <p:nvPr/>
        </p:nvSpPr>
        <p:spPr>
          <a:xfrm>
            <a:off x="609600" y="1619250"/>
            <a:ext cx="1082040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7200">
                <a:solidFill>
                  <a:srgbClr val="FFFFFF"/>
                </a:solidFill>
                <a:latin typeface="Arial"/>
                <a:ea typeface="Arial"/>
                <a:cs typeface="Arial"/>
                <a:sym typeface="Arial"/>
              </a:rPr>
              <a:t>BlindSave</a:t>
            </a:r>
            <a:endParaRPr/>
          </a:p>
        </p:txBody>
      </p:sp>
      <p:sp>
        <p:nvSpPr>
          <p:cNvPr id="19" name="Google Shape;19;p3"/>
          <p:cNvSpPr/>
          <p:nvPr/>
        </p:nvSpPr>
        <p:spPr>
          <a:xfrm>
            <a:off x="647700" y="3095625"/>
            <a:ext cx="9715500" cy="15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450">
                <a:solidFill>
                  <a:srgbClr val="D8EEA4"/>
                </a:solidFill>
                <a:latin typeface="Arial"/>
                <a:ea typeface="Arial"/>
                <a:cs typeface="Arial"/>
                <a:sym typeface="Arial"/>
              </a:rPr>
              <a:t>Comparar el gasto fijo</a:t>
            </a:r>
            <a:endParaRPr/>
          </a:p>
          <a:p>
            <a:pPr indent="0" lvl="0" marL="0" marR="0" rtl="0" algn="l">
              <a:spcBef>
                <a:spcPts val="0"/>
              </a:spcBef>
              <a:spcAft>
                <a:spcPts val="0"/>
              </a:spcAft>
              <a:buNone/>
            </a:pPr>
            <a:r>
              <a:rPr b="0" lang="en-US" sz="3450">
                <a:solidFill>
                  <a:srgbClr val="D8EEA4"/>
                </a:solidFill>
                <a:latin typeface="Arial"/>
                <a:ea typeface="Arial"/>
                <a:cs typeface="Arial"/>
                <a:sym typeface="Arial"/>
              </a:rPr>
              <a:t>sin entregar tu factura</a:t>
            </a:r>
            <a:endParaRPr/>
          </a:p>
        </p:txBody>
      </p:sp>
      <p:sp>
        <p:nvSpPr>
          <p:cNvPr id="20" name="Google Shape;20;p3"/>
          <p:cNvSpPr/>
          <p:nvPr/>
        </p:nvSpPr>
        <p:spPr>
          <a:xfrm>
            <a:off x="647700" y="5286375"/>
            <a:ext cx="100965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C1D1C5"/>
                </a:solidFill>
                <a:latin typeface="Arial"/>
                <a:ea typeface="Arial"/>
                <a:cs typeface="Arial"/>
                <a:sym typeface="Arial"/>
              </a:rPr>
              <a:t>Propuesta de valor y primera versión funcional</a:t>
            </a:r>
            <a:endParaRPr/>
          </a:p>
        </p:txBody>
      </p:sp>
      <p:pic xmlns:p="http://schemas.openxmlformats.org/presentationml/2006/main" xmlns:a="http://schemas.openxmlformats.org/drawingml/2006/main" xmlns:r="http://schemas.openxmlformats.org/officeDocument/2006/relationships">
        <p:nvPicPr>
          <p:cNvPr id="101" name="HeroImage"/>
          <p:cNvPicPr preferRelativeResize="0"/>
          <p:nvPr/>
        </p:nvPicPr>
        <p:blipFill rotWithShape="1">
          <a:blip r:embed="rId3">
            <a:alphaModFix/>
          </a:blip>
          <a:srcRect b="0" l="0" r="0" t="0"/>
          <a:stretch/>
        </p:blipFill>
        <p:spPr>
          <a:xfrm>
            <a:off x="6200000" y="1600000"/>
            <a:ext cx="5400000" cy="360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2"/>
        </a:solidFill>
      </p:bgPr>
    </p:bg>
    <p:spTree>
      <p:nvGrpSpPr>
        <p:cNvPr id="25" name="Shape 25"/>
        <p:cNvGrpSpPr/>
        <p:nvPr/>
      </p:nvGrpSpPr>
      <p:grpSpPr>
        <a:xfrm>
          <a:off x="0" y="0"/>
          <a:ext cx="0" cy="0"/>
          <a:chOff x="0" y="0"/>
          <a:chExt cx="0" cy="0"/>
        </a:xfrm>
      </p:grpSpPr>
      <p:sp>
        <p:nvSpPr>
          <p:cNvPr id="26" name="Google Shape;26;p4"/>
          <p:cNvSpPr/>
          <p:nvPr/>
        </p:nvSpPr>
        <p:spPr>
          <a:xfrm>
            <a:off x="609600" y="571500"/>
            <a:ext cx="109347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03B30"/>
                </a:solidFill>
                <a:latin typeface="Arial"/>
                <a:ea typeface="Arial"/>
                <a:cs typeface="Arial"/>
                <a:sym typeface="Arial"/>
              </a:rPr>
              <a:t>El problema: comparar tarifas lleva trabajo</a:t>
            </a:r>
            <a:endParaRPr/>
          </a:p>
        </p:txBody>
      </p:sp>
      <p:sp>
        <p:nvSpPr>
          <p:cNvPr id="27" name="Google Shape;27;p4"/>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607568"/>
                </a:solidFill>
                <a:latin typeface="Arial"/>
                <a:ea typeface="Arial"/>
                <a:cs typeface="Arial"/>
                <a:sym typeface="Arial"/>
              </a:rPr>
              <a:t>blindsave.</a:t>
            </a:r>
            <a:endParaRPr/>
          </a:p>
        </p:txBody>
      </p:sp>
      <p:sp>
        <p:nvSpPr>
          <p:cNvPr id="28" name="Google Shape;28;p4"/>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568"/>
                </a:solidFill>
                <a:latin typeface="Arial"/>
                <a:ea typeface="Arial"/>
                <a:cs typeface="Arial"/>
                <a:sym typeface="Arial"/>
              </a:rPr>
              <a:t>02</a:t>
            </a:r>
            <a:endParaRPr/>
          </a:p>
        </p:txBody>
      </p:sp>
      <p:sp>
        <p:nvSpPr>
          <p:cNvPr id="29" name="Google Shape;29;p4"/>
          <p:cNvSpPr/>
          <p:nvPr/>
        </p:nvSpPr>
        <p:spPr>
          <a:xfrm>
            <a:off x="609600" y="1981200"/>
            <a:ext cx="3286125"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600">
                <a:solidFill>
                  <a:srgbClr val="607568"/>
                </a:solidFill>
                <a:latin typeface="Arial"/>
                <a:ea typeface="Arial"/>
                <a:cs typeface="Arial"/>
                <a:sym typeface="Arial"/>
              </a:rPr>
              <a:t>01</a:t>
            </a:r>
            <a:endParaRPr/>
          </a:p>
        </p:txBody>
      </p:sp>
      <p:sp>
        <p:nvSpPr>
          <p:cNvPr id="30" name="Google Shape;30;p4"/>
          <p:cNvSpPr/>
          <p:nvPr/>
        </p:nvSpPr>
        <p:spPr>
          <a:xfrm>
            <a:off x="609600" y="2733675"/>
            <a:ext cx="328612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203B30"/>
                </a:solidFill>
                <a:latin typeface="Arial"/>
                <a:ea typeface="Arial"/>
                <a:cs typeface="Arial"/>
                <a:sym typeface="Arial"/>
              </a:rPr>
              <a:t>El precio anunciado</a:t>
            </a:r>
            <a:endParaRPr/>
          </a:p>
          <a:p>
            <a:pPr indent="0" lvl="0" marL="0" marR="0" rtl="0" algn="l">
              <a:spcBef>
                <a:spcPts val="0"/>
              </a:spcBef>
              <a:spcAft>
                <a:spcPts val="0"/>
              </a:spcAft>
              <a:buNone/>
            </a:pPr>
            <a:r>
              <a:rPr b="1" lang="en-US" sz="2175">
                <a:solidFill>
                  <a:srgbClr val="203B30"/>
                </a:solidFill>
                <a:latin typeface="Arial"/>
                <a:ea typeface="Arial"/>
                <a:cs typeface="Arial"/>
                <a:sym typeface="Arial"/>
              </a:rPr>
              <a:t>es solo una parte</a:t>
            </a:r>
            <a:endParaRPr/>
          </a:p>
        </p:txBody>
      </p:sp>
      <p:sp>
        <p:nvSpPr>
          <p:cNvPr id="31" name="Google Shape;31;p4"/>
          <p:cNvSpPr/>
          <p:nvPr/>
        </p:nvSpPr>
        <p:spPr>
          <a:xfrm>
            <a:off x="609600" y="3495675"/>
            <a:ext cx="3286125" cy="161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07568"/>
                </a:solidFill>
                <a:latin typeface="Arial"/>
                <a:ea typeface="Arial"/>
                <a:cs typeface="Arial"/>
                <a:sym typeface="Arial"/>
              </a:rPr>
              <a:t>La energía, la potencia y los servicios asociados influyen en el coste anual.</a:t>
            </a:r>
            <a:endParaRPr/>
          </a:p>
        </p:txBody>
      </p:sp>
      <p:sp>
        <p:nvSpPr>
          <p:cNvPr id="32" name="Google Shape;32;p4"/>
          <p:cNvSpPr/>
          <p:nvPr/>
        </p:nvSpPr>
        <p:spPr>
          <a:xfrm>
            <a:off x="4448175" y="1981200"/>
            <a:ext cx="3286125"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600">
                <a:solidFill>
                  <a:srgbClr val="607568"/>
                </a:solidFill>
                <a:latin typeface="Arial"/>
                <a:ea typeface="Arial"/>
                <a:cs typeface="Arial"/>
                <a:sym typeface="Arial"/>
              </a:rPr>
              <a:t>02</a:t>
            </a:r>
            <a:endParaRPr/>
          </a:p>
        </p:txBody>
      </p:sp>
      <p:sp>
        <p:nvSpPr>
          <p:cNvPr id="33" name="Google Shape;33;p4"/>
          <p:cNvSpPr/>
          <p:nvPr/>
        </p:nvSpPr>
        <p:spPr>
          <a:xfrm>
            <a:off x="4448175" y="2733675"/>
            <a:ext cx="328612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203B30"/>
                </a:solidFill>
                <a:latin typeface="Arial"/>
                <a:ea typeface="Arial"/>
                <a:cs typeface="Arial"/>
                <a:sym typeface="Arial"/>
              </a:rPr>
              <a:t>Cada consumo</a:t>
            </a:r>
            <a:endParaRPr/>
          </a:p>
          <a:p>
            <a:pPr indent="0" lvl="0" marL="0" marR="0" rtl="0" algn="l">
              <a:spcBef>
                <a:spcPts val="0"/>
              </a:spcBef>
              <a:spcAft>
                <a:spcPts val="0"/>
              </a:spcAft>
              <a:buNone/>
            </a:pPr>
            <a:r>
              <a:rPr b="1" lang="en-US" sz="2175">
                <a:solidFill>
                  <a:srgbClr val="203B30"/>
                </a:solidFill>
                <a:latin typeface="Arial"/>
                <a:ea typeface="Arial"/>
                <a:cs typeface="Arial"/>
                <a:sym typeface="Arial"/>
              </a:rPr>
              <a:t>es diferente</a:t>
            </a:r>
            <a:endParaRPr/>
          </a:p>
        </p:txBody>
      </p:sp>
      <p:sp>
        <p:nvSpPr>
          <p:cNvPr id="34" name="Google Shape;34;p4"/>
          <p:cNvSpPr/>
          <p:nvPr/>
        </p:nvSpPr>
        <p:spPr>
          <a:xfrm>
            <a:off x="4448175" y="3495675"/>
            <a:ext cx="3286125" cy="161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07568"/>
                </a:solidFill>
                <a:latin typeface="Arial"/>
                <a:ea typeface="Arial"/>
                <a:cs typeface="Arial"/>
                <a:sym typeface="Arial"/>
              </a:rPr>
              <a:t>Una misma oferta puede encajar de forma distinta según el reparto por periodos.</a:t>
            </a:r>
            <a:endParaRPr/>
          </a:p>
        </p:txBody>
      </p:sp>
      <p:sp>
        <p:nvSpPr>
          <p:cNvPr id="35" name="Google Shape;35;p4"/>
          <p:cNvSpPr/>
          <p:nvPr/>
        </p:nvSpPr>
        <p:spPr>
          <a:xfrm>
            <a:off x="8286750" y="1981200"/>
            <a:ext cx="32385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600">
                <a:solidFill>
                  <a:srgbClr val="607568"/>
                </a:solidFill>
                <a:latin typeface="Arial"/>
                <a:ea typeface="Arial"/>
                <a:cs typeface="Arial"/>
                <a:sym typeface="Arial"/>
              </a:rPr>
              <a:t>03</a:t>
            </a:r>
            <a:endParaRPr/>
          </a:p>
        </p:txBody>
      </p:sp>
      <p:sp>
        <p:nvSpPr>
          <p:cNvPr id="36" name="Google Shape;36;p4"/>
          <p:cNvSpPr/>
          <p:nvPr/>
        </p:nvSpPr>
        <p:spPr>
          <a:xfrm>
            <a:off x="8286750" y="2733675"/>
            <a:ext cx="32385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203B30"/>
                </a:solidFill>
                <a:latin typeface="Arial"/>
                <a:ea typeface="Arial"/>
                <a:cs typeface="Arial"/>
                <a:sym typeface="Arial"/>
              </a:rPr>
              <a:t>Una factura contiene</a:t>
            </a:r>
            <a:endParaRPr/>
          </a:p>
          <a:p>
            <a:pPr indent="0" lvl="0" marL="0" marR="0" rtl="0" algn="l">
              <a:spcBef>
                <a:spcPts val="0"/>
              </a:spcBef>
              <a:spcAft>
                <a:spcPts val="0"/>
              </a:spcAft>
              <a:buNone/>
            </a:pPr>
            <a:r>
              <a:rPr b="1" lang="en-US" sz="2175">
                <a:solidFill>
                  <a:srgbClr val="203B30"/>
                </a:solidFill>
                <a:latin typeface="Arial"/>
                <a:ea typeface="Arial"/>
                <a:cs typeface="Arial"/>
                <a:sym typeface="Arial"/>
              </a:rPr>
              <a:t>datos personales</a:t>
            </a:r>
            <a:endParaRPr/>
          </a:p>
        </p:txBody>
      </p:sp>
      <p:sp>
        <p:nvSpPr>
          <p:cNvPr id="37" name="Google Shape;37;p4"/>
          <p:cNvSpPr/>
          <p:nvPr/>
        </p:nvSpPr>
        <p:spPr>
          <a:xfrm>
            <a:off x="8286750" y="3495675"/>
            <a:ext cx="3238500" cy="161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07568"/>
                </a:solidFill>
                <a:latin typeface="Arial"/>
                <a:ea typeface="Arial"/>
                <a:cs typeface="Arial"/>
                <a:sym typeface="Arial"/>
              </a:rPr>
              <a:t>Una factura completa añade nombres, direcciones o identificadores que el cálculo no necesita.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2"/>
        </a:solidFill>
      </p:bgPr>
    </p:bg>
    <p:spTree>
      <p:nvGrpSpPr>
        <p:cNvPr id="42" name="Shape 42"/>
        <p:cNvGrpSpPr/>
        <p:nvPr/>
      </p:nvGrpSpPr>
      <p:grpSpPr>
        <a:xfrm>
          <a:off x="0" y="0"/>
          <a:ext cx="0" cy="0"/>
          <a:chOff x="0" y="0"/>
          <a:chExt cx="0" cy="0"/>
        </a:xfrm>
      </p:grpSpPr>
      <p:sp>
        <p:nvSpPr>
          <p:cNvPr id="43" name="Google Shape;43;p5"/>
          <p:cNvSpPr/>
          <p:nvPr/>
        </p:nvSpPr>
        <p:spPr>
          <a:xfrm>
            <a:off x="609600" y="571500"/>
            <a:ext cx="109347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03B30"/>
                </a:solidFill>
                <a:latin typeface="Arial"/>
                <a:ea typeface="Arial"/>
                <a:cs typeface="Arial"/>
                <a:sym typeface="Arial"/>
              </a:rPr>
              <a:t>Por qué decidí crear BlindSave</a:t>
            </a:r>
            <a:endParaRPr/>
          </a:p>
        </p:txBody>
      </p:sp>
      <p:sp>
        <p:nvSpPr>
          <p:cNvPr id="44" name="Google Shape;44;p5"/>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607568"/>
                </a:solidFill>
                <a:latin typeface="Arial"/>
                <a:ea typeface="Arial"/>
                <a:cs typeface="Arial"/>
                <a:sym typeface="Arial"/>
              </a:rPr>
              <a:t>blindsave.</a:t>
            </a:r>
            <a:endParaRPr/>
          </a:p>
        </p:txBody>
      </p:sp>
      <p:sp>
        <p:nvSpPr>
          <p:cNvPr id="45" name="Google Shape;45;p5"/>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568"/>
                </a:solidFill>
                <a:latin typeface="Arial"/>
                <a:ea typeface="Arial"/>
                <a:cs typeface="Arial"/>
                <a:sym typeface="Arial"/>
              </a:rPr>
              <a:t>03</a:t>
            </a:r>
            <a:endParaRPr/>
          </a:p>
        </p:txBody>
      </p:sp>
      <p:sp>
        <p:nvSpPr>
          <p:cNvPr id="46" name="Google Shape;46;p5"/>
          <p:cNvSpPr/>
          <p:nvPr/>
        </p:nvSpPr>
        <p:spPr>
          <a:xfrm>
            <a:off x="609600" y="1905000"/>
            <a:ext cx="10858500" cy="1466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525">
                <a:solidFill>
                  <a:srgbClr val="203B30"/>
                </a:solidFill>
                <a:latin typeface="Arial"/>
                <a:ea typeface="Arial"/>
                <a:cs typeface="Arial"/>
                <a:sym typeface="Arial"/>
              </a:rPr>
              <a:t>Quería que una decisión de ahorro</a:t>
            </a:r>
            <a:endParaRPr/>
          </a:p>
          <a:p>
            <a:pPr indent="0" lvl="0" marL="0" marR="0" rtl="0" algn="l">
              <a:spcBef>
                <a:spcPts val="0"/>
              </a:spcBef>
              <a:spcAft>
                <a:spcPts val="0"/>
              </a:spcAft>
              <a:buNone/>
            </a:pPr>
            <a:r>
              <a:rPr b="1" lang="en-US" sz="3525">
                <a:solidFill>
                  <a:srgbClr val="203B30"/>
                </a:solidFill>
                <a:latin typeface="Arial"/>
                <a:ea typeface="Arial"/>
                <a:cs typeface="Arial"/>
                <a:sym typeface="Arial"/>
              </a:rPr>
              <a:t>fuera fácil de entender y comprobar.</a:t>
            </a:r>
            <a:endParaRPr/>
          </a:p>
        </p:txBody>
      </p:sp>
      <p:sp>
        <p:nvSpPr>
          <p:cNvPr id="47" name="Google Shape;47;p5"/>
          <p:cNvSpPr/>
          <p:nvPr/>
        </p:nvSpPr>
        <p:spPr>
          <a:xfrm>
            <a:off x="609600" y="3971925"/>
            <a:ext cx="4476750" cy="438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203B30"/>
                </a:solidFill>
                <a:latin typeface="Arial"/>
                <a:ea typeface="Arial"/>
                <a:cs typeface="Arial"/>
                <a:sym typeface="Arial"/>
              </a:rPr>
              <a:t>Utilidad cotidiana</a:t>
            </a:r>
            <a:endParaRPr/>
          </a:p>
        </p:txBody>
      </p:sp>
      <p:sp>
        <p:nvSpPr>
          <p:cNvPr id="48" name="Google Shape;48;p5"/>
          <p:cNvSpPr/>
          <p:nvPr/>
        </p:nvSpPr>
        <p:spPr>
          <a:xfrm>
            <a:off x="609600" y="4533900"/>
            <a:ext cx="4762500" cy="125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607568"/>
                </a:solidFill>
                <a:latin typeface="Arial"/>
                <a:ea typeface="Arial"/>
                <a:cs typeface="Arial"/>
                <a:sym typeface="Arial"/>
              </a:rPr>
              <a:t>Convertir consumos y precios dispersos en una comparación que ayude a decidir.</a:t>
            </a:r>
            <a:endParaRPr/>
          </a:p>
        </p:txBody>
      </p:sp>
      <p:sp>
        <p:nvSpPr>
          <p:cNvPr id="49" name="Google Shape;49;p5"/>
          <p:cNvSpPr/>
          <p:nvPr/>
        </p:nvSpPr>
        <p:spPr>
          <a:xfrm>
            <a:off x="6496050" y="3971925"/>
            <a:ext cx="4476750" cy="438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203B30"/>
                </a:solidFill>
                <a:latin typeface="Arial"/>
                <a:ea typeface="Arial"/>
                <a:cs typeface="Arial"/>
                <a:sym typeface="Arial"/>
              </a:rPr>
              <a:t>Criterio de ingeniería</a:t>
            </a:r>
            <a:endParaRPr/>
          </a:p>
        </p:txBody>
      </p:sp>
      <p:sp>
        <p:nvSpPr>
          <p:cNvPr id="50" name="Google Shape;50;p5"/>
          <p:cNvSpPr/>
          <p:nvPr/>
        </p:nvSpPr>
        <p:spPr>
          <a:xfrm>
            <a:off x="6496050" y="4533900"/>
            <a:ext cx="4762500" cy="125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607568"/>
                </a:solidFill>
                <a:latin typeface="Arial"/>
                <a:ea typeface="Arial"/>
                <a:cs typeface="Arial"/>
                <a:sym typeface="Arial"/>
              </a:rPr>
              <a:t>Demostrar que la privacidad puede formar parte de la arquitectura desde el inicio.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2"/>
        </a:solidFill>
      </p:bgPr>
    </p:bg>
    <p:spTree>
      <p:nvGrpSpPr>
        <p:cNvPr id="55" name="Shape 55"/>
        <p:cNvGrpSpPr/>
        <p:nvPr/>
      </p:nvGrpSpPr>
      <p:grpSpPr>
        <a:xfrm>
          <a:off x="0" y="0"/>
          <a:ext cx="0" cy="0"/>
          <a:chOff x="0" y="0"/>
          <a:chExt cx="0" cy="0"/>
        </a:xfrm>
      </p:grpSpPr>
      <p:sp>
        <p:nvSpPr>
          <p:cNvPr id="56" name="Google Shape;56;p6"/>
          <p:cNvSpPr/>
          <p:nvPr/>
        </p:nvSpPr>
        <p:spPr>
          <a:xfrm>
            <a:off x="609600" y="571500"/>
            <a:ext cx="109347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03B30"/>
                </a:solidFill>
                <a:latin typeface="Arial"/>
                <a:ea typeface="Arial"/>
                <a:cs typeface="Arial"/>
                <a:sym typeface="Arial"/>
              </a:rPr>
              <a:t>Qué hace BlindSave hoy</a:t>
            </a:r>
            <a:endParaRPr/>
          </a:p>
        </p:txBody>
      </p:sp>
      <p:sp>
        <p:nvSpPr>
          <p:cNvPr id="57" name="Google Shape;57;p6"/>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607568"/>
                </a:solidFill>
                <a:latin typeface="Arial"/>
                <a:ea typeface="Arial"/>
                <a:cs typeface="Arial"/>
                <a:sym typeface="Arial"/>
              </a:rPr>
              <a:t>blindsave.</a:t>
            </a:r>
            <a:endParaRPr/>
          </a:p>
        </p:txBody>
      </p:sp>
      <p:sp>
        <p:nvSpPr>
          <p:cNvPr id="58" name="Google Shape;58;p6"/>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568"/>
                </a:solidFill>
                <a:latin typeface="Arial"/>
                <a:ea typeface="Arial"/>
                <a:cs typeface="Arial"/>
                <a:sym typeface="Arial"/>
              </a:rPr>
              <a:t>04</a:t>
            </a:r>
            <a:endParaRPr/>
          </a:p>
        </p:txBody>
      </p:sp>
      <p:sp>
        <p:nvSpPr>
          <p:cNvPr id="59" name="Google Shape;59;p6"/>
          <p:cNvSpPr/>
          <p:nvPr/>
        </p:nvSpPr>
        <p:spPr>
          <a:xfrm>
            <a:off x="609600" y="2009775"/>
            <a:ext cx="4143375" cy="1095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50">
                <a:solidFill>
                  <a:srgbClr val="203B30"/>
                </a:solidFill>
                <a:latin typeface="Arial"/>
                <a:ea typeface="Arial"/>
                <a:cs typeface="Arial"/>
                <a:sym typeface="Arial"/>
              </a:rPr>
              <a:t>Compara tarifas eléctricas</a:t>
            </a:r>
            <a:endParaRPr/>
          </a:p>
          <a:p>
            <a:pPr indent="0" lvl="0" marL="0" marR="0" rtl="0" algn="l">
              <a:spcBef>
                <a:spcPts val="0"/>
              </a:spcBef>
              <a:spcAft>
                <a:spcPts val="0"/>
              </a:spcAft>
              <a:buNone/>
            </a:pPr>
            <a:r>
              <a:rPr b="1" lang="en-US" sz="2550">
                <a:solidFill>
                  <a:srgbClr val="203B30"/>
                </a:solidFill>
                <a:latin typeface="Arial"/>
                <a:ea typeface="Arial"/>
                <a:cs typeface="Arial"/>
                <a:sym typeface="Arial"/>
              </a:rPr>
              <a:t>con tu consumo.</a:t>
            </a:r>
            <a:endParaRPr/>
          </a:p>
        </p:txBody>
      </p:sp>
      <p:sp>
        <p:nvSpPr>
          <p:cNvPr id="60" name="Google Shape;60;p6"/>
          <p:cNvSpPr/>
          <p:nvPr/>
        </p:nvSpPr>
        <p:spPr>
          <a:xfrm>
            <a:off x="609600" y="3381375"/>
            <a:ext cx="3810000" cy="144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607568"/>
                </a:solidFill>
                <a:latin typeface="Arial"/>
                <a:ea typeface="Arial"/>
                <a:cs typeface="Arial"/>
                <a:sym typeface="Arial"/>
              </a:rPr>
              <a:t>Muestra el coste anual,</a:t>
            </a:r>
            <a:endParaRPr/>
          </a:p>
          <a:p>
            <a:pPr indent="0" lvl="0" marL="0" marR="0" rtl="0" algn="l">
              <a:spcBef>
                <a:spcPts val="0"/>
              </a:spcBef>
              <a:spcAft>
                <a:spcPts val="0"/>
              </a:spcAft>
              <a:buNone/>
            </a:pPr>
            <a:r>
              <a:rPr b="0" lang="en-US" sz="2025">
                <a:solidFill>
                  <a:srgbClr val="607568"/>
                </a:solidFill>
                <a:latin typeface="Arial"/>
                <a:ea typeface="Arial"/>
                <a:cs typeface="Arial"/>
                <a:sym typeface="Arial"/>
              </a:rPr>
              <a:t>el ahorro potencial y</a:t>
            </a:r>
            <a:endParaRPr/>
          </a:p>
          <a:p>
            <a:pPr indent="0" lvl="0" marL="0" marR="0" rtl="0" algn="l">
              <a:spcBef>
                <a:spcPts val="0"/>
              </a:spcBef>
              <a:spcAft>
                <a:spcPts val="0"/>
              </a:spcAft>
              <a:buNone/>
            </a:pPr>
            <a:r>
              <a:rPr b="0" lang="en-US" sz="2025">
                <a:solidFill>
                  <a:srgbClr val="607568"/>
                </a:solidFill>
                <a:latin typeface="Arial"/>
                <a:ea typeface="Arial"/>
                <a:cs typeface="Arial"/>
                <a:sym typeface="Arial"/>
              </a:rPr>
              <a:t>las condiciones de cada opción.</a:t>
            </a:r>
            <a:endParaRPr/>
          </a:p>
        </p:txBody>
      </p:sp>
      <p:sp>
        <p:nvSpPr>
          <p:cNvPr id="61" name="Google Shape;61;p6"/>
          <p:cNvSpPr/>
          <p:nvPr/>
        </p:nvSpPr>
        <p:spPr>
          <a:xfrm>
            <a:off x="609600" y="5095875"/>
            <a:ext cx="4000500" cy="1009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203B30"/>
                </a:solidFill>
                <a:latin typeface="Arial"/>
                <a:ea typeface="Arial"/>
                <a:cs typeface="Arial"/>
                <a:sym typeface="Arial"/>
              </a:rPr>
              <a:t>Electricidad 2.0TD</a:t>
            </a:r>
            <a:endParaRPr/>
          </a:p>
          <a:p>
            <a:pPr indent="0" lvl="0" marL="0" marR="0" rtl="0" algn="l">
              <a:spcBef>
                <a:spcPts val="0"/>
              </a:spcBef>
              <a:spcAft>
                <a:spcPts val="0"/>
              </a:spcAft>
              <a:buNone/>
            </a:pPr>
            <a:r>
              <a:rPr b="0" lang="en-US" sz="1725">
                <a:solidFill>
                  <a:srgbClr val="203B30"/>
                </a:solidFill>
                <a:latin typeface="Arial"/>
                <a:ea typeface="Arial"/>
                <a:cs typeface="Arial"/>
                <a:sym typeface="Arial"/>
              </a:rPr>
              <a:t>Península y Baleares</a:t>
            </a:r>
            <a:endParaRPr/>
          </a:p>
          <a:p>
            <a:pPr indent="0" lvl="0" marL="0" marR="0" rtl="0" algn="l">
              <a:spcBef>
                <a:spcPts val="0"/>
              </a:spcBef>
              <a:spcAft>
                <a:spcPts val="0"/>
              </a:spcAft>
              <a:buNone/>
            </a:pPr>
            <a:r>
              <a:rPr b="0" lang="en-US" sz="1725">
                <a:solidFill>
                  <a:srgbClr val="203B30"/>
                </a:solidFill>
                <a:latin typeface="Arial"/>
                <a:ea typeface="Arial"/>
                <a:cs typeface="Arial"/>
                <a:sym typeface="Arial"/>
              </a:rPr>
              <a:t>Hasta 15 kW</a:t>
            </a:r>
            <a:endParaRPr/>
          </a:p>
        </p:txBody>
      </p:sp>
      <p:pic>
        <p:nvPicPr>
          <p:cNvPr id="62" name="Google Shape;62;p6"/>
          <p:cNvPicPr preferRelativeResize="0"/>
          <p:nvPr/>
        </p:nvPicPr>
        <p:blipFill rotWithShape="1">
          <a:blip r:embed="rId3">
            <a:alphaModFix/>
          </a:blip>
          <a:srcRect b="0" l="0" r="0" t="0"/>
          <a:stretch/>
        </p:blipFill>
        <p:spPr>
          <a:xfrm>
            <a:off x="5629912" y="1714500"/>
            <a:ext cx="5266051" cy="4429125"/>
          </a:xfrm>
          <a:prstGeom prst="rect">
            <a:avLst/>
          </a:prstGeom>
          <a:noFill/>
          <a:ln>
            <a:noFill/>
          </a:ln>
        </p:spPr>
      </p:pic>
      <p:sp>
        <p:nvSpPr>
          <p:cNvPr id="63" name="Google Shape;63;p6"/>
          <p:cNvSpPr/>
          <p:nvPr/>
        </p:nvSpPr>
        <p:spPr>
          <a:xfrm>
            <a:off x="5143500" y="6124575"/>
            <a:ext cx="63341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25">
                <a:solidFill>
                  <a:srgbClr val="607568"/>
                </a:solidFill>
                <a:latin typeface="Arial"/>
                <a:ea typeface="Arial"/>
                <a:cs typeface="Arial"/>
                <a:sym typeface="Arial"/>
              </a:rPr>
              <a:t>Captura real de la app. Tarifas ficticias de demostración.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2"/>
        </a:solidFill>
      </p:bgPr>
    </p:bg>
    <p:spTree>
      <p:nvGrpSpPr>
        <p:cNvPr id="68" name="Shape 68"/>
        <p:cNvGrpSpPr/>
        <p:nvPr/>
      </p:nvGrpSpPr>
      <p:grpSpPr>
        <a:xfrm>
          <a:off x="0" y="0"/>
          <a:ext cx="0" cy="0"/>
          <a:chOff x="0" y="0"/>
          <a:chExt cx="0" cy="0"/>
        </a:xfrm>
      </p:grpSpPr>
      <p:sp>
        <p:nvSpPr>
          <p:cNvPr id="69" name="Google Shape;69;p7"/>
          <p:cNvSpPr/>
          <p:nvPr/>
        </p:nvSpPr>
        <p:spPr>
          <a:xfrm>
            <a:off x="609600" y="571500"/>
            <a:ext cx="109347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03B30"/>
                </a:solidFill>
                <a:latin typeface="Arial"/>
                <a:ea typeface="Arial"/>
                <a:cs typeface="Arial"/>
                <a:sym typeface="Arial"/>
              </a:rPr>
              <a:t>La experiencia de uso</a:t>
            </a:r>
            <a:endParaRPr/>
          </a:p>
        </p:txBody>
      </p:sp>
      <p:sp>
        <p:nvSpPr>
          <p:cNvPr id="70" name="Google Shape;70;p7"/>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607568"/>
                </a:solidFill>
                <a:latin typeface="Arial"/>
                <a:ea typeface="Arial"/>
                <a:cs typeface="Arial"/>
                <a:sym typeface="Arial"/>
              </a:rPr>
              <a:t>blindsave.</a:t>
            </a:r>
            <a:endParaRPr/>
          </a:p>
        </p:txBody>
      </p:sp>
      <p:sp>
        <p:nvSpPr>
          <p:cNvPr id="71" name="Google Shape;71;p7"/>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568"/>
                </a:solidFill>
                <a:latin typeface="Arial"/>
                <a:ea typeface="Arial"/>
                <a:cs typeface="Arial"/>
                <a:sym typeface="Arial"/>
              </a:rPr>
              <a:t>05</a:t>
            </a:r>
            <a:endParaRPr/>
          </a:p>
        </p:txBody>
      </p:sp>
      <p:sp>
        <p:nvSpPr>
          <p:cNvPr id="72" name="Google Shape;72;p7"/>
          <p:cNvSpPr/>
          <p:nvPr/>
        </p:nvSpPr>
        <p:spPr>
          <a:xfrm>
            <a:off x="609600" y="2000250"/>
            <a:ext cx="245745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600">
                <a:solidFill>
                  <a:srgbClr val="607568"/>
                </a:solidFill>
                <a:latin typeface="Arial"/>
                <a:ea typeface="Arial"/>
                <a:cs typeface="Arial"/>
                <a:sym typeface="Arial"/>
              </a:rPr>
              <a:t>01</a:t>
            </a:r>
            <a:endParaRPr/>
          </a:p>
        </p:txBody>
      </p:sp>
      <p:sp>
        <p:nvSpPr>
          <p:cNvPr id="73" name="Google Shape;73;p7"/>
          <p:cNvSpPr/>
          <p:nvPr/>
        </p:nvSpPr>
        <p:spPr>
          <a:xfrm>
            <a:off x="609600" y="2752725"/>
            <a:ext cx="245745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203B30"/>
                </a:solidFill>
                <a:latin typeface="Arial"/>
                <a:ea typeface="Arial"/>
                <a:cs typeface="Arial"/>
                <a:sym typeface="Arial"/>
              </a:rPr>
              <a:t>Aportar consumo</a:t>
            </a:r>
            <a:endParaRPr/>
          </a:p>
        </p:txBody>
      </p:sp>
      <p:sp>
        <p:nvSpPr>
          <p:cNvPr id="74" name="Google Shape;74;p7"/>
          <p:cNvSpPr/>
          <p:nvPr/>
        </p:nvSpPr>
        <p:spPr>
          <a:xfrm>
            <a:off x="609600" y="3514725"/>
            <a:ext cx="2457450" cy="161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07568"/>
                </a:solidFill>
                <a:latin typeface="Arial"/>
                <a:ea typeface="Arial"/>
                <a:cs typeface="Arial"/>
                <a:sym typeface="Arial"/>
              </a:rPr>
              <a:t>Entrada manual</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por periodos o</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CSV compatible.</a:t>
            </a:r>
            <a:endParaRPr/>
          </a:p>
        </p:txBody>
      </p:sp>
      <p:sp>
        <p:nvSpPr>
          <p:cNvPr id="75" name="Google Shape;75;p7"/>
          <p:cNvSpPr/>
          <p:nvPr/>
        </p:nvSpPr>
        <p:spPr>
          <a:xfrm>
            <a:off x="3438525" y="2000250"/>
            <a:ext cx="245745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600">
                <a:solidFill>
                  <a:srgbClr val="607568"/>
                </a:solidFill>
                <a:latin typeface="Arial"/>
                <a:ea typeface="Arial"/>
                <a:cs typeface="Arial"/>
                <a:sym typeface="Arial"/>
              </a:rPr>
              <a:t>02</a:t>
            </a:r>
            <a:endParaRPr/>
          </a:p>
        </p:txBody>
      </p:sp>
      <p:sp>
        <p:nvSpPr>
          <p:cNvPr id="76" name="Google Shape;76;p7"/>
          <p:cNvSpPr/>
          <p:nvPr/>
        </p:nvSpPr>
        <p:spPr>
          <a:xfrm>
            <a:off x="3438525" y="2752725"/>
            <a:ext cx="245745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203B30"/>
                </a:solidFill>
                <a:latin typeface="Arial"/>
                <a:ea typeface="Arial"/>
                <a:cs typeface="Arial"/>
                <a:sym typeface="Arial"/>
              </a:rPr>
              <a:t>Añadir precios</a:t>
            </a:r>
            <a:endParaRPr/>
          </a:p>
        </p:txBody>
      </p:sp>
      <p:sp>
        <p:nvSpPr>
          <p:cNvPr id="77" name="Google Shape;77;p7"/>
          <p:cNvSpPr/>
          <p:nvPr/>
        </p:nvSpPr>
        <p:spPr>
          <a:xfrm>
            <a:off x="3438525" y="3514725"/>
            <a:ext cx="2457450" cy="161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07568"/>
                </a:solidFill>
                <a:latin typeface="Arial"/>
                <a:ea typeface="Arial"/>
                <a:cs typeface="Arial"/>
                <a:sym typeface="Arial"/>
              </a:rPr>
              <a:t>Potencias contratadas</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y precios de la</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tarifa actual.</a:t>
            </a:r>
            <a:endParaRPr/>
          </a:p>
        </p:txBody>
      </p:sp>
      <p:sp>
        <p:nvSpPr>
          <p:cNvPr id="78" name="Google Shape;78;p7"/>
          <p:cNvSpPr/>
          <p:nvPr/>
        </p:nvSpPr>
        <p:spPr>
          <a:xfrm>
            <a:off x="6267450" y="2000250"/>
            <a:ext cx="245745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600">
                <a:solidFill>
                  <a:srgbClr val="607568"/>
                </a:solidFill>
                <a:latin typeface="Arial"/>
                <a:ea typeface="Arial"/>
                <a:cs typeface="Arial"/>
                <a:sym typeface="Arial"/>
              </a:rPr>
              <a:t>03</a:t>
            </a:r>
            <a:endParaRPr/>
          </a:p>
        </p:txBody>
      </p:sp>
      <p:sp>
        <p:nvSpPr>
          <p:cNvPr id="79" name="Google Shape;79;p7"/>
          <p:cNvSpPr/>
          <p:nvPr/>
        </p:nvSpPr>
        <p:spPr>
          <a:xfrm>
            <a:off x="6267450" y="2752725"/>
            <a:ext cx="245745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203B30"/>
                </a:solidFill>
                <a:latin typeface="Arial"/>
                <a:ea typeface="Arial"/>
                <a:cs typeface="Arial"/>
                <a:sym typeface="Arial"/>
              </a:rPr>
              <a:t>Comparar</a:t>
            </a:r>
            <a:endParaRPr/>
          </a:p>
        </p:txBody>
      </p:sp>
      <p:sp>
        <p:nvSpPr>
          <p:cNvPr id="80" name="Google Shape;80;p7"/>
          <p:cNvSpPr/>
          <p:nvPr/>
        </p:nvSpPr>
        <p:spPr>
          <a:xfrm>
            <a:off x="6267450" y="3514725"/>
            <a:ext cx="2457450" cy="161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07568"/>
                </a:solidFill>
                <a:latin typeface="Arial"/>
                <a:ea typeface="Arial"/>
                <a:cs typeface="Arial"/>
                <a:sym typeface="Arial"/>
              </a:rPr>
              <a:t>Coste anual completo</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y ahorro frente</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a cada alternativa.</a:t>
            </a:r>
            <a:endParaRPr/>
          </a:p>
        </p:txBody>
      </p:sp>
      <p:sp>
        <p:nvSpPr>
          <p:cNvPr id="81" name="Google Shape;81;p7"/>
          <p:cNvSpPr/>
          <p:nvPr/>
        </p:nvSpPr>
        <p:spPr>
          <a:xfrm>
            <a:off x="9096375" y="2000250"/>
            <a:ext cx="245745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600">
                <a:solidFill>
                  <a:srgbClr val="607568"/>
                </a:solidFill>
                <a:latin typeface="Arial"/>
                <a:ea typeface="Arial"/>
                <a:cs typeface="Arial"/>
                <a:sym typeface="Arial"/>
              </a:rPr>
              <a:t>04</a:t>
            </a:r>
            <a:endParaRPr/>
          </a:p>
        </p:txBody>
      </p:sp>
      <p:sp>
        <p:nvSpPr>
          <p:cNvPr id="82" name="Google Shape;82;p7"/>
          <p:cNvSpPr/>
          <p:nvPr/>
        </p:nvSpPr>
        <p:spPr>
          <a:xfrm>
            <a:off x="9096375" y="2752725"/>
            <a:ext cx="245745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203B30"/>
                </a:solidFill>
                <a:latin typeface="Arial"/>
                <a:ea typeface="Arial"/>
                <a:cs typeface="Arial"/>
                <a:sym typeface="Arial"/>
              </a:rPr>
              <a:t>Decidir</a:t>
            </a:r>
            <a:endParaRPr/>
          </a:p>
        </p:txBody>
      </p:sp>
      <p:sp>
        <p:nvSpPr>
          <p:cNvPr id="83" name="Google Shape;83;p7"/>
          <p:cNvSpPr/>
          <p:nvPr/>
        </p:nvSpPr>
        <p:spPr>
          <a:xfrm>
            <a:off x="9096375" y="3514725"/>
            <a:ext cx="2457450" cy="161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07568"/>
                </a:solidFill>
                <a:latin typeface="Arial"/>
                <a:ea typeface="Arial"/>
                <a:cs typeface="Arial"/>
                <a:sym typeface="Arial"/>
              </a:rPr>
              <a:t>Desglose, condiciones</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y filtro de</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permanencia.</a:t>
            </a:r>
            <a:endParaRPr/>
          </a:p>
        </p:txBody>
      </p:sp>
      <p:sp>
        <p:nvSpPr>
          <p:cNvPr id="84" name="Google Shape;84;p7"/>
          <p:cNvSpPr/>
          <p:nvPr/>
        </p:nvSpPr>
        <p:spPr>
          <a:xfrm>
            <a:off x="609600" y="5676900"/>
            <a:ext cx="108204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203B30"/>
                </a:solidFill>
                <a:latin typeface="Arial"/>
                <a:ea typeface="Arial"/>
                <a:cs typeface="Arial"/>
                <a:sym typeface="Arial"/>
              </a:rPr>
              <a:t>El usuario conserva la decisión. BlindSave no tramita la contratación.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2"/>
        </a:solidFill>
      </p:bgPr>
    </p:bg>
    <p:spTree>
      <p:nvGrpSpPr>
        <p:cNvPr id="89" name="Shape 89"/>
        <p:cNvGrpSpPr/>
        <p:nvPr/>
      </p:nvGrpSpPr>
      <p:grpSpPr>
        <a:xfrm>
          <a:off x="0" y="0"/>
          <a:ext cx="0" cy="0"/>
          <a:chOff x="0" y="0"/>
          <a:chExt cx="0" cy="0"/>
        </a:xfrm>
      </p:grpSpPr>
      <p:sp>
        <p:nvSpPr>
          <p:cNvPr id="90" name="Google Shape;90;p8"/>
          <p:cNvSpPr/>
          <p:nvPr/>
        </p:nvSpPr>
        <p:spPr>
          <a:xfrm>
            <a:off x="609600" y="571500"/>
            <a:ext cx="109347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03B30"/>
                </a:solidFill>
                <a:latin typeface="Arial"/>
                <a:ea typeface="Arial"/>
                <a:cs typeface="Arial"/>
                <a:sym typeface="Arial"/>
              </a:rPr>
              <a:t>El ahorro potencial se puede comprobar</a:t>
            </a:r>
            <a:endParaRPr/>
          </a:p>
        </p:txBody>
      </p:sp>
      <p:sp>
        <p:nvSpPr>
          <p:cNvPr id="91" name="Google Shape;91;p8"/>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607568"/>
                </a:solidFill>
                <a:latin typeface="Arial"/>
                <a:ea typeface="Arial"/>
                <a:cs typeface="Arial"/>
                <a:sym typeface="Arial"/>
              </a:rPr>
              <a:t>blindsave.</a:t>
            </a:r>
            <a:endParaRPr/>
          </a:p>
        </p:txBody>
      </p:sp>
      <p:sp>
        <p:nvSpPr>
          <p:cNvPr id="92" name="Google Shape;92;p8"/>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568"/>
                </a:solidFill>
                <a:latin typeface="Arial"/>
                <a:ea typeface="Arial"/>
                <a:cs typeface="Arial"/>
                <a:sym typeface="Arial"/>
              </a:rPr>
              <a:t>06</a:t>
            </a:r>
            <a:endParaRPr/>
          </a:p>
        </p:txBody>
      </p:sp>
      <p:pic>
        <p:nvPicPr>
          <p:cNvPr id="93" name="Google Shape;93;p8"/>
          <p:cNvPicPr preferRelativeResize="0"/>
          <p:nvPr/>
        </p:nvPicPr>
        <p:blipFill rotWithShape="1">
          <a:blip r:embed="rId3">
            <a:alphaModFix/>
          </a:blip>
          <a:srcRect b="0" l="0" r="0" t="0"/>
          <a:stretch/>
        </p:blipFill>
        <p:spPr>
          <a:xfrm>
            <a:off x="571500" y="1809750"/>
            <a:ext cx="6800850" cy="3810000"/>
          </a:xfrm>
          <a:prstGeom prst="rect">
            <a:avLst/>
          </a:prstGeom>
          <a:noFill/>
          <a:ln>
            <a:noFill/>
          </a:ln>
        </p:spPr>
      </p:pic>
      <p:sp>
        <p:nvSpPr>
          <p:cNvPr id="94" name="Google Shape;94;p8"/>
          <p:cNvSpPr/>
          <p:nvPr/>
        </p:nvSpPr>
        <p:spPr>
          <a:xfrm>
            <a:off x="7905750" y="2238375"/>
            <a:ext cx="3619500" cy="1000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650">
                <a:solidFill>
                  <a:srgbClr val="203B30"/>
                </a:solidFill>
                <a:latin typeface="Arial"/>
                <a:ea typeface="Arial"/>
                <a:cs typeface="Arial"/>
                <a:sym typeface="Arial"/>
              </a:rPr>
              <a:t>224,88 €</a:t>
            </a:r>
            <a:endParaRPr/>
          </a:p>
        </p:txBody>
      </p:sp>
      <p:sp>
        <p:nvSpPr>
          <p:cNvPr id="95" name="Google Shape;95;p8"/>
          <p:cNvSpPr/>
          <p:nvPr/>
        </p:nvSpPr>
        <p:spPr>
          <a:xfrm>
            <a:off x="7953375" y="3352800"/>
            <a:ext cx="3619500"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607568"/>
                </a:solidFill>
                <a:latin typeface="Arial"/>
                <a:ea typeface="Arial"/>
                <a:cs typeface="Arial"/>
                <a:sym typeface="Arial"/>
              </a:rPr>
              <a:t>de diferencia anual</a:t>
            </a:r>
            <a:endParaRPr/>
          </a:p>
        </p:txBody>
      </p:sp>
      <p:sp>
        <p:nvSpPr>
          <p:cNvPr id="96" name="Google Shape;96;p8"/>
          <p:cNvSpPr/>
          <p:nvPr/>
        </p:nvSpPr>
        <p:spPr>
          <a:xfrm>
            <a:off x="7953375" y="4010025"/>
            <a:ext cx="3619500" cy="600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50">
                <a:solidFill>
                  <a:srgbClr val="203B30"/>
                </a:solidFill>
                <a:latin typeface="Arial"/>
                <a:ea typeface="Arial"/>
                <a:cs typeface="Arial"/>
                <a:sym typeface="Arial"/>
              </a:rPr>
              <a:t>27,2 % menos</a:t>
            </a:r>
            <a:endParaRPr/>
          </a:p>
        </p:txBody>
      </p:sp>
      <p:sp>
        <p:nvSpPr>
          <p:cNvPr id="97" name="Google Shape;97;p8"/>
          <p:cNvSpPr/>
          <p:nvPr/>
        </p:nvSpPr>
        <p:spPr>
          <a:xfrm>
            <a:off x="7953375" y="4838700"/>
            <a:ext cx="3524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07568"/>
                </a:solidFill>
                <a:latin typeface="Arial"/>
                <a:ea typeface="Arial"/>
                <a:cs typeface="Arial"/>
                <a:sym typeface="Arial"/>
              </a:rPr>
              <a:t>Con el mismo consumo</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y la misma potencia.</a:t>
            </a:r>
            <a:endParaRPr/>
          </a:p>
        </p:txBody>
      </p:sp>
      <p:sp>
        <p:nvSpPr>
          <p:cNvPr id="98" name="Google Shape;98;p8"/>
          <p:cNvSpPr/>
          <p:nvPr/>
        </p:nvSpPr>
        <p:spPr>
          <a:xfrm>
            <a:off x="609600" y="5943600"/>
            <a:ext cx="109537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607568"/>
                </a:solidFill>
                <a:latin typeface="Arial"/>
                <a:ea typeface="Arial"/>
                <a:cs typeface="Arial"/>
                <a:sym typeface="Arial"/>
              </a:rPr>
              <a:t>Ejemplo con tarifas ficticias. Sin impuestos, alquiler del contador ni penalizaciones de salida.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2"/>
        </a:solidFill>
      </p:bgPr>
    </p:bg>
    <p:spTree>
      <p:nvGrpSpPr>
        <p:cNvPr id="103" name="Shape 103"/>
        <p:cNvGrpSpPr/>
        <p:nvPr/>
      </p:nvGrpSpPr>
      <p:grpSpPr>
        <a:xfrm>
          <a:off x="0" y="0"/>
          <a:ext cx="0" cy="0"/>
          <a:chOff x="0" y="0"/>
          <a:chExt cx="0" cy="0"/>
        </a:xfrm>
      </p:grpSpPr>
      <p:sp>
        <p:nvSpPr>
          <p:cNvPr id="104" name="Google Shape;104;p9"/>
          <p:cNvSpPr/>
          <p:nvPr/>
        </p:nvSpPr>
        <p:spPr>
          <a:xfrm>
            <a:off x="609600" y="571500"/>
            <a:ext cx="109347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03B30"/>
                </a:solidFill>
                <a:latin typeface="Arial"/>
                <a:ea typeface="Arial"/>
                <a:cs typeface="Arial"/>
                <a:sym typeface="Arial"/>
              </a:rPr>
              <a:t>La privacidad empieza en el navegador</a:t>
            </a:r>
            <a:endParaRPr/>
          </a:p>
        </p:txBody>
      </p:sp>
      <p:sp>
        <p:nvSpPr>
          <p:cNvPr id="105" name="Google Shape;105;p9"/>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607568"/>
                </a:solidFill>
                <a:latin typeface="Arial"/>
                <a:ea typeface="Arial"/>
                <a:cs typeface="Arial"/>
                <a:sym typeface="Arial"/>
              </a:rPr>
              <a:t>blindsave.</a:t>
            </a:r>
            <a:endParaRPr/>
          </a:p>
        </p:txBody>
      </p:sp>
      <p:sp>
        <p:nvSpPr>
          <p:cNvPr id="106" name="Google Shape;106;p9"/>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568"/>
                </a:solidFill>
                <a:latin typeface="Arial"/>
                <a:ea typeface="Arial"/>
                <a:cs typeface="Arial"/>
                <a:sym typeface="Arial"/>
              </a:rPr>
              <a:t>07</a:t>
            </a:r>
            <a:endParaRPr/>
          </a:p>
        </p:txBody>
      </p:sp>
      <p:graphicFrame>
        <p:nvGraphicFramePr>
          <p:cNvPr id="107" name="Google Shape;107;p9"/>
          <p:cNvGraphicFramePr/>
          <p:nvPr/>
        </p:nvGraphicFramePr>
        <p:xfrm>
          <a:off x="609600" y="1828800"/>
          <a:ext cx="3000000" cy="3000000"/>
        </p:xfrm>
        <a:graphic>
          <a:graphicData uri="http://schemas.openxmlformats.org/drawingml/2006/table">
            <a:tbl>
              <a:tblPr>
                <a:noFill/>
                <a:tableStyleId>{89026757-B4E2-4C8D-8E6D-E06A50FB6742}</a:tableStyleId>
              </a:tblPr>
              <a:tblGrid>
                <a:gridCol w="3905250"/>
                <a:gridCol w="7048500"/>
              </a:tblGrid>
              <a:tr h="533400">
                <a:tc>
                  <a:txBody>
                    <a:bodyPr/>
                    <a:lstStyle/>
                    <a:p>
                      <a:pPr indent="0" lvl="0" marL="0" marR="0" rtl="0" algn="l">
                        <a:spcBef>
                          <a:spcPts val="0"/>
                        </a:spcBef>
                        <a:spcAft>
                          <a:spcPts val="0"/>
                        </a:spcAft>
                        <a:buClr>
                          <a:srgbClr val="FFFFFF"/>
                        </a:buClr>
                        <a:buSzPts val="1725"/>
                        <a:buFont typeface="Arial"/>
                        <a:buNone/>
                      </a:pPr>
                      <a:r>
                        <a:rPr b="1" lang="en-US" sz="1725" u="none" cap="none" strike="noStrike">
                          <a:solidFill>
                            <a:srgbClr val="FFFFFF"/>
                          </a:solidFill>
                          <a:latin typeface="Arial"/>
                          <a:ea typeface="Arial"/>
                          <a:cs typeface="Arial"/>
                          <a:sym typeface="Arial"/>
                        </a:rPr>
                        <a:t>Información</a:t>
                      </a:r>
                      <a:endParaRPr/>
                    </a:p>
                  </a:txBody>
                  <a:tcPr marT="45725" marB="45725" marR="91450" marL="91450" anchor="ctr">
                    <a:solidFill>
                      <a:srgbClr val="183D30"/>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Tratamiento</a:t>
                      </a:r>
                      <a:endParaRPr/>
                    </a:p>
                  </a:txBody>
                  <a:tcPr marT="45725" marB="45725" marR="91450" marL="91450" anchor="ctr">
                    <a:solidFill>
                      <a:srgbClr val="183D30"/>
                    </a:solidFill>
                  </a:tcPr>
                </a:tc>
              </a:tr>
              <a:tr h="738200">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CSV y lecturas horarias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Validación local. El archivo no se sube.</a:t>
                      </a:r>
                      <a:endParaRPr/>
                    </a:p>
                  </a:txBody>
                  <a:tcPr marT="45725" marB="45725" marR="91450" marL="91450" anchor="ctr">
                    <a:solidFill>
                      <a:srgbClr val="FFFFFF"/>
                    </a:solidFill>
                  </a:tcPr>
                </a:tc>
              </a:tr>
              <a:tr h="738200">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Totales, potencias y precios</a:t>
                      </a:r>
                      <a:endParaRPr/>
                    </a:p>
                  </a:txBody>
                  <a:tcPr marT="45725" marB="45725" marR="91450" marL="91450" anchor="ctr">
                    <a:solidFill>
                      <a:srgbClr val="EEF2E8"/>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Cálculo en memoria. Sin historial persistente.</a:t>
                      </a:r>
                      <a:endParaRPr/>
                    </a:p>
                  </a:txBody>
                  <a:tcPr marT="45725" marB="45725" marR="91450" marL="91450" anchor="ctr">
                    <a:solidFill>
                      <a:srgbClr val="EEF2E8"/>
                    </a:solidFill>
                  </a:tcPr>
                </a:tc>
              </a:tr>
              <a:tr h="738200">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Facturas, CUPS y datos bancarios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Fuera del formato admitido.</a:t>
                      </a:r>
                      <a:endParaRPr/>
                    </a:p>
                  </a:txBody>
                  <a:tcPr marT="45725" marB="45725" marR="91450" marL="91450" anchor="ctr">
                    <a:solidFill>
                      <a:srgbClr val="FFFFFF"/>
                    </a:solidFill>
                  </a:tcPr>
                </a:tc>
              </a:tr>
              <a:tr h="738200">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Sesión e infraestructura</a:t>
                      </a:r>
                      <a:endParaRPr/>
                    </a:p>
                  </a:txBody>
                  <a:tcPr marT="45725" marB="45725" marR="91450" marL="91450" anchor="ctr">
                    <a:solidFill>
                      <a:srgbClr val="EEF2E8"/>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Auth anónimo y metadatos técnicos con retención por configurar.</a:t>
                      </a:r>
                      <a:endParaRPr/>
                    </a:p>
                  </a:txBody>
                  <a:tcPr marT="45725" marB="45725" marR="91450" marL="91450" anchor="ctr">
                    <a:solidFill>
                      <a:srgbClr val="EEF2E8"/>
                    </a:solidFill>
                  </a:tcPr>
                </a:tc>
              </a:tr>
            </a:tbl>
          </a:graphicData>
        </a:graphic>
      </p:graphicFrame>
      <p:sp>
        <p:nvSpPr>
          <p:cNvPr id="108" name="Google Shape;108;p9"/>
          <p:cNvSpPr/>
          <p:nvPr/>
        </p:nvSpPr>
        <p:spPr>
          <a:xfrm>
            <a:off x="609600" y="5619750"/>
            <a:ext cx="108585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607568"/>
                </a:solidFill>
                <a:latin typeface="Arial"/>
                <a:ea typeface="Arial"/>
                <a:cs typeface="Arial"/>
                <a:sym typeface="Arial"/>
              </a:rPr>
              <a:t>“Zero-PII” expresa minimización de datos, no una garantía de anonimato absoluto.</a:t>
            </a:r>
            <a:endParaRPr/>
          </a:p>
        </p:txBody>
      </p:sp>
      <p:pic xmlns:p="http://schemas.openxmlformats.org/presentationml/2006/main" xmlns:a="http://schemas.openxmlformats.org/drawingml/2006/main" xmlns:r="http://schemas.openxmlformats.org/officeDocument/2006/relationships">
        <p:nvPicPr>
          <p:cNvPr id="107" name="SecurityImage"/>
          <p:cNvPicPr preferRelativeResize="0"/>
          <p:nvPr/>
        </p:nvPicPr>
        <p:blipFill rotWithShape="1">
          <a:blip r:embed="rId3">
            <a:alphaModFix/>
          </a:blip>
          <a:srcRect b="0" l="0" r="0" t="0"/>
          <a:stretch/>
        </p:blipFill>
        <p:spPr>
          <a:xfrm>
            <a:off x="6800000" y="1700000"/>
            <a:ext cx="4800000" cy="340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2"/>
        </a:solidFill>
      </p:bgPr>
    </p:bg>
    <p:spTree>
      <p:nvGrpSpPr>
        <p:cNvPr id="113" name="Shape 113"/>
        <p:cNvGrpSpPr/>
        <p:nvPr/>
      </p:nvGrpSpPr>
      <p:grpSpPr>
        <a:xfrm>
          <a:off x="0" y="0"/>
          <a:ext cx="0" cy="0"/>
          <a:chOff x="0" y="0"/>
          <a:chExt cx="0" cy="0"/>
        </a:xfrm>
      </p:grpSpPr>
      <p:sp>
        <p:nvSpPr>
          <p:cNvPr id="114" name="Google Shape;114;p10"/>
          <p:cNvSpPr/>
          <p:nvPr/>
        </p:nvSpPr>
        <p:spPr>
          <a:xfrm>
            <a:off x="609600" y="571500"/>
            <a:ext cx="109347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03B30"/>
                </a:solidFill>
                <a:latin typeface="Arial"/>
                <a:ea typeface="Arial"/>
                <a:cs typeface="Arial"/>
                <a:sym typeface="Arial"/>
              </a:rPr>
              <a:t>Arquitectura preparada para Supabase</a:t>
            </a:r>
            <a:endParaRPr/>
          </a:p>
        </p:txBody>
      </p:sp>
      <p:sp>
        <p:nvSpPr>
          <p:cNvPr id="115" name="Google Shape;115;p10"/>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607568"/>
                </a:solidFill>
                <a:latin typeface="Arial"/>
                <a:ea typeface="Arial"/>
                <a:cs typeface="Arial"/>
                <a:sym typeface="Arial"/>
              </a:rPr>
              <a:t>blindsave.</a:t>
            </a:r>
            <a:endParaRPr/>
          </a:p>
        </p:txBody>
      </p:sp>
      <p:sp>
        <p:nvSpPr>
          <p:cNvPr id="116" name="Google Shape;116;p10"/>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568"/>
                </a:solidFill>
                <a:latin typeface="Arial"/>
                <a:ea typeface="Arial"/>
                <a:cs typeface="Arial"/>
                <a:sym typeface="Arial"/>
              </a:rPr>
              <a:t>08</a:t>
            </a:r>
            <a:endParaRPr/>
          </a:p>
        </p:txBody>
      </p:sp>
      <p:graphicFrame>
        <p:nvGraphicFramePr>
          <p:cNvPr id="117" name="Google Shape;117;p10"/>
          <p:cNvGraphicFramePr/>
          <p:nvPr/>
        </p:nvGraphicFramePr>
        <p:xfrm>
          <a:off x="609600" y="1771650"/>
          <a:ext cx="3000000" cy="3000000"/>
        </p:xfrm>
        <a:graphic>
          <a:graphicData uri="http://schemas.openxmlformats.org/drawingml/2006/table">
            <a:tbl>
              <a:tblPr>
                <a:noFill/>
                <a:tableStyleId>{89026757-B4E2-4C8D-8E6D-E06A50FB6742}</a:tableStyleId>
              </a:tblPr>
              <a:tblGrid>
                <a:gridCol w="2343150"/>
                <a:gridCol w="3228975"/>
                <a:gridCol w="5381625"/>
              </a:tblGrid>
              <a:tr h="533400">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Capa</a:t>
                      </a:r>
                      <a:endParaRPr/>
                    </a:p>
                  </a:txBody>
                  <a:tcPr marT="45725" marB="45725" marR="91450" marL="91450" anchor="ctr">
                    <a:solidFill>
                      <a:srgbClr val="183D30"/>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Tecnología</a:t>
                      </a:r>
                      <a:endParaRPr/>
                    </a:p>
                  </a:txBody>
                  <a:tcPr marT="45725" marB="45725" marR="91450" marL="91450" anchor="ctr">
                    <a:solidFill>
                      <a:srgbClr val="183D30"/>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Responsabilidad</a:t>
                      </a:r>
                      <a:endParaRPr/>
                    </a:p>
                  </a:txBody>
                  <a:tcPr marT="45725" marB="45725" marR="91450" marL="91450" anchor="ctr">
                    <a:solidFill>
                      <a:srgbClr val="183D30"/>
                    </a:solidFill>
                  </a:tcPr>
                </a:tc>
              </a:tr>
              <a:tr h="723900">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Interfaz</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React + TypeScript</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Formulario, CSV y resultados</a:t>
                      </a:r>
                      <a:endParaRPr/>
                    </a:p>
                  </a:txBody>
                  <a:tcPr marT="45725" marB="45725" marR="91450" marL="91450" anchor="ctr">
                    <a:solidFill>
                      <a:srgbClr val="FFFFFF"/>
                    </a:solidFill>
                  </a:tcPr>
                </a:tc>
              </a:tr>
              <a:tr h="723900">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Acceso</a:t>
                      </a:r>
                      <a:endParaRPr/>
                    </a:p>
                  </a:txBody>
                  <a:tcPr marT="45725" marB="45725" marR="91450" marL="91450" anchor="ctr">
                    <a:solidFill>
                      <a:srgbClr val="EEF2E8"/>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Supabase Auth</a:t>
                      </a:r>
                      <a:endParaRPr/>
                    </a:p>
                  </a:txBody>
                  <a:tcPr marT="45725" marB="45725" marR="91450" marL="91450" anchor="ctr">
                    <a:solidFill>
                      <a:srgbClr val="EEF2E8"/>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Sesión anónima sin correo</a:t>
                      </a:r>
                      <a:endParaRPr/>
                    </a:p>
                  </a:txBody>
                  <a:tcPr marT="45725" marB="45725" marR="91450" marL="91450" anchor="ctr">
                    <a:solidFill>
                      <a:srgbClr val="EEF2E8"/>
                    </a:solidFill>
                  </a:tcPr>
                </a:tc>
              </a:tr>
              <a:tr h="723900">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Cálculo</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Edge Function</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Valida solicitudes y compara costes</a:t>
                      </a:r>
                      <a:endParaRPr/>
                    </a:p>
                  </a:txBody>
                  <a:tcPr marT="45725" marB="45725" marR="91450" marL="91450" anchor="ctr">
                    <a:solidFill>
                      <a:srgbClr val="FFFFFF"/>
                    </a:solidFill>
                  </a:tcPr>
                </a:tc>
              </a:tr>
              <a:tr h="723900">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Mercado</a:t>
                      </a:r>
                      <a:endParaRPr/>
                    </a:p>
                  </a:txBody>
                  <a:tcPr marT="45725" marB="45725" marR="91450" marL="91450" anchor="ctr">
                    <a:solidFill>
                      <a:srgbClr val="EEF2E8"/>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Postgres + RLS</a:t>
                      </a:r>
                      <a:endParaRPr/>
                    </a:p>
                  </a:txBody>
                  <a:tcPr marT="45725" marB="45725" marR="91450" marL="91450" anchor="ctr">
                    <a:solidFill>
                      <a:srgbClr val="EEF2E8"/>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Catálogo revisado y permisos de lectura</a:t>
                      </a:r>
                      <a:endParaRPr/>
                    </a:p>
                  </a:txBody>
                  <a:tcPr marT="45725" marB="45725" marR="91450" marL="91450" anchor="ctr">
                    <a:solidFill>
                      <a:srgbClr val="EEF2E8"/>
                    </a:solidFill>
                  </a:tcPr>
                </a:tc>
              </a:tr>
            </a:tbl>
          </a:graphicData>
        </a:graphic>
      </p:graphicFrame>
      <p:sp>
        <p:nvSpPr>
          <p:cNvPr id="118" name="Google Shape;118;p10"/>
          <p:cNvSpPr/>
          <p:nvPr/>
        </p:nvSpPr>
        <p:spPr>
          <a:xfrm>
            <a:off x="609600" y="5543550"/>
            <a:ext cx="10668000" cy="5429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203B30"/>
                </a:solidFill>
                <a:latin typeface="Arial"/>
                <a:ea typeface="Arial"/>
                <a:cs typeface="Arial"/>
                <a:sym typeface="Arial"/>
              </a:rPr>
              <a:t>Backend en Supabase. Frontend en alojamiento estático con HTTPS.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2"/>
        </a:solidFill>
      </p:bgPr>
    </p:bg>
    <p:spTree>
      <p:nvGrpSpPr>
        <p:cNvPr id="123" name="Shape 123"/>
        <p:cNvGrpSpPr/>
        <p:nvPr/>
      </p:nvGrpSpPr>
      <p:grpSpPr>
        <a:xfrm>
          <a:off x="0" y="0"/>
          <a:ext cx="0" cy="0"/>
          <a:chOff x="0" y="0"/>
          <a:chExt cx="0" cy="0"/>
        </a:xfrm>
      </p:grpSpPr>
      <p:sp>
        <p:nvSpPr>
          <p:cNvPr id="124" name="Google Shape;124;p11"/>
          <p:cNvSpPr/>
          <p:nvPr/>
        </p:nvSpPr>
        <p:spPr>
          <a:xfrm>
            <a:off x="609600" y="571500"/>
            <a:ext cx="109347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03B30"/>
                </a:solidFill>
                <a:latin typeface="Arial"/>
                <a:ea typeface="Arial"/>
                <a:cs typeface="Arial"/>
                <a:sym typeface="Arial"/>
              </a:rPr>
              <a:t>Un motor de cálculo explicable</a:t>
            </a:r>
            <a:endParaRPr/>
          </a:p>
        </p:txBody>
      </p:sp>
      <p:sp>
        <p:nvSpPr>
          <p:cNvPr id="125" name="Google Shape;125;p11"/>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607568"/>
                </a:solidFill>
                <a:latin typeface="Arial"/>
                <a:ea typeface="Arial"/>
                <a:cs typeface="Arial"/>
                <a:sym typeface="Arial"/>
              </a:rPr>
              <a:t>blindsave.</a:t>
            </a:r>
            <a:endParaRPr/>
          </a:p>
        </p:txBody>
      </p:sp>
      <p:sp>
        <p:nvSpPr>
          <p:cNvPr id="126" name="Google Shape;126;p11"/>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568"/>
                </a:solidFill>
                <a:latin typeface="Arial"/>
                <a:ea typeface="Arial"/>
                <a:cs typeface="Arial"/>
                <a:sym typeface="Arial"/>
              </a:rPr>
              <a:t>09</a:t>
            </a:r>
            <a:endParaRPr/>
          </a:p>
        </p:txBody>
      </p:sp>
      <p:sp>
        <p:nvSpPr>
          <p:cNvPr id="127" name="Google Shape;127;p11"/>
          <p:cNvSpPr/>
          <p:nvPr/>
        </p:nvSpPr>
        <p:spPr>
          <a:xfrm>
            <a:off x="609600" y="2028825"/>
            <a:ext cx="10858500" cy="809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825">
                <a:solidFill>
                  <a:srgbClr val="203B30"/>
                </a:solidFill>
                <a:latin typeface="Arial"/>
                <a:ea typeface="Arial"/>
                <a:cs typeface="Arial"/>
                <a:sym typeface="Arial"/>
              </a:rPr>
              <a:t>Energía + potencia + cuotas</a:t>
            </a:r>
            <a:endParaRPr/>
          </a:p>
        </p:txBody>
      </p:sp>
      <p:sp>
        <p:nvSpPr>
          <p:cNvPr id="128" name="Google Shape;128;p11"/>
          <p:cNvSpPr/>
          <p:nvPr/>
        </p:nvSpPr>
        <p:spPr>
          <a:xfrm>
            <a:off x="609600" y="3514725"/>
            <a:ext cx="3124200" cy="4476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203B30"/>
                </a:solidFill>
                <a:latin typeface="Arial"/>
                <a:ea typeface="Arial"/>
                <a:cs typeface="Arial"/>
                <a:sym typeface="Arial"/>
              </a:rPr>
              <a:t>Energía</a:t>
            </a:r>
            <a:endParaRPr/>
          </a:p>
        </p:txBody>
      </p:sp>
      <p:sp>
        <p:nvSpPr>
          <p:cNvPr id="129" name="Google Shape;129;p11"/>
          <p:cNvSpPr/>
          <p:nvPr/>
        </p:nvSpPr>
        <p:spPr>
          <a:xfrm>
            <a:off x="609600" y="4152900"/>
            <a:ext cx="3143250" cy="1123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607568"/>
                </a:solidFill>
                <a:latin typeface="Arial"/>
                <a:ea typeface="Arial"/>
                <a:cs typeface="Arial"/>
                <a:sym typeface="Arial"/>
              </a:rPr>
              <a:t>kWh de cada periodo</a:t>
            </a:r>
            <a:endParaRPr/>
          </a:p>
          <a:p>
            <a:pPr indent="0" lvl="0" marL="0" marR="0" rtl="0" algn="l">
              <a:spcBef>
                <a:spcPts val="0"/>
              </a:spcBef>
              <a:spcAft>
                <a:spcPts val="0"/>
              </a:spcAft>
              <a:buNone/>
            </a:pPr>
            <a:r>
              <a:rPr b="0" lang="en-US" sz="2025">
                <a:solidFill>
                  <a:srgbClr val="607568"/>
                </a:solidFill>
                <a:latin typeface="Arial"/>
                <a:ea typeface="Arial"/>
                <a:cs typeface="Arial"/>
                <a:sym typeface="Arial"/>
              </a:rPr>
              <a:t>× precio por kWh</a:t>
            </a:r>
            <a:endParaRPr/>
          </a:p>
        </p:txBody>
      </p:sp>
      <p:sp>
        <p:nvSpPr>
          <p:cNvPr id="130" name="Google Shape;130;p11"/>
          <p:cNvSpPr/>
          <p:nvPr/>
        </p:nvSpPr>
        <p:spPr>
          <a:xfrm>
            <a:off x="4495800" y="3514725"/>
            <a:ext cx="3124200" cy="4476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203B30"/>
                </a:solidFill>
                <a:latin typeface="Arial"/>
                <a:ea typeface="Arial"/>
                <a:cs typeface="Arial"/>
                <a:sym typeface="Arial"/>
              </a:rPr>
              <a:t>Potencia</a:t>
            </a:r>
            <a:endParaRPr/>
          </a:p>
        </p:txBody>
      </p:sp>
      <p:sp>
        <p:nvSpPr>
          <p:cNvPr id="131" name="Google Shape;131;p11"/>
          <p:cNvSpPr/>
          <p:nvPr/>
        </p:nvSpPr>
        <p:spPr>
          <a:xfrm>
            <a:off x="4495800" y="4152900"/>
            <a:ext cx="3143250" cy="1123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607568"/>
                </a:solidFill>
                <a:latin typeface="Arial"/>
                <a:ea typeface="Arial"/>
                <a:cs typeface="Arial"/>
                <a:sym typeface="Arial"/>
              </a:rPr>
              <a:t>kW contratados</a:t>
            </a:r>
            <a:endParaRPr/>
          </a:p>
          <a:p>
            <a:pPr indent="0" lvl="0" marL="0" marR="0" rtl="0" algn="l">
              <a:spcBef>
                <a:spcPts val="0"/>
              </a:spcBef>
              <a:spcAft>
                <a:spcPts val="0"/>
              </a:spcAft>
              <a:buNone/>
            </a:pPr>
            <a:r>
              <a:rPr b="0" lang="en-US" sz="2025">
                <a:solidFill>
                  <a:srgbClr val="607568"/>
                </a:solidFill>
                <a:latin typeface="Arial"/>
                <a:ea typeface="Arial"/>
                <a:cs typeface="Arial"/>
                <a:sym typeface="Arial"/>
              </a:rPr>
              <a:t>× precio diario × 365</a:t>
            </a:r>
            <a:endParaRPr/>
          </a:p>
        </p:txBody>
      </p:sp>
      <p:sp>
        <p:nvSpPr>
          <p:cNvPr id="132" name="Google Shape;132;p11"/>
          <p:cNvSpPr/>
          <p:nvPr/>
        </p:nvSpPr>
        <p:spPr>
          <a:xfrm>
            <a:off x="8362950" y="3514725"/>
            <a:ext cx="3124200" cy="4476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203B30"/>
                </a:solidFill>
                <a:latin typeface="Arial"/>
                <a:ea typeface="Arial"/>
                <a:cs typeface="Arial"/>
                <a:sym typeface="Arial"/>
              </a:rPr>
              <a:t>Cuotas</a:t>
            </a:r>
            <a:endParaRPr/>
          </a:p>
        </p:txBody>
      </p:sp>
      <p:sp>
        <p:nvSpPr>
          <p:cNvPr id="133" name="Google Shape;133;p11"/>
          <p:cNvSpPr/>
          <p:nvPr/>
        </p:nvSpPr>
        <p:spPr>
          <a:xfrm>
            <a:off x="8362950" y="4152900"/>
            <a:ext cx="3143250" cy="1123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607568"/>
                </a:solidFill>
                <a:latin typeface="Arial"/>
                <a:ea typeface="Arial"/>
                <a:cs typeface="Arial"/>
                <a:sym typeface="Arial"/>
              </a:rPr>
              <a:t>Importe obligatorio</a:t>
            </a:r>
            <a:endParaRPr/>
          </a:p>
          <a:p>
            <a:pPr indent="0" lvl="0" marL="0" marR="0" rtl="0" algn="l">
              <a:spcBef>
                <a:spcPts val="0"/>
              </a:spcBef>
              <a:spcAft>
                <a:spcPts val="0"/>
              </a:spcAft>
              <a:buNone/>
            </a:pPr>
            <a:r>
              <a:rPr b="0" lang="en-US" sz="2025">
                <a:solidFill>
                  <a:srgbClr val="607568"/>
                </a:solidFill>
                <a:latin typeface="Arial"/>
                <a:ea typeface="Arial"/>
                <a:cs typeface="Arial"/>
                <a:sym typeface="Arial"/>
              </a:rPr>
              <a:t>mensual × 12</a:t>
            </a:r>
            <a:endParaRPr/>
          </a:p>
        </p:txBody>
      </p:sp>
      <p:sp>
        <p:nvSpPr>
          <p:cNvPr id="134" name="Google Shape;134;p11"/>
          <p:cNvSpPr/>
          <p:nvPr/>
        </p:nvSpPr>
        <p:spPr>
          <a:xfrm>
            <a:off x="609600" y="5619750"/>
            <a:ext cx="108204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950">
                <a:solidFill>
                  <a:srgbClr val="203B30"/>
                </a:solidFill>
                <a:latin typeface="Arial"/>
                <a:ea typeface="Arial"/>
                <a:cs typeface="Arial"/>
                <a:sym typeface="Arial"/>
              </a:rPr>
              <a:t>Mismos datos y mismos precios: el mismo resultado, verificable paso a paso.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2"/>
        </a:solidFill>
      </p:bgPr>
    </p:bg>
    <p:spTree>
      <p:nvGrpSpPr>
        <p:cNvPr id="139" name="Shape 139"/>
        <p:cNvGrpSpPr/>
        <p:nvPr/>
      </p:nvGrpSpPr>
      <p:grpSpPr>
        <a:xfrm>
          <a:off x="0" y="0"/>
          <a:ext cx="0" cy="0"/>
          <a:chOff x="0" y="0"/>
          <a:chExt cx="0" cy="0"/>
        </a:xfrm>
      </p:grpSpPr>
      <p:sp>
        <p:nvSpPr>
          <p:cNvPr id="140" name="Google Shape;140;p12"/>
          <p:cNvSpPr/>
          <p:nvPr/>
        </p:nvSpPr>
        <p:spPr>
          <a:xfrm>
            <a:off x="609600" y="571500"/>
            <a:ext cx="109347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03B30"/>
                </a:solidFill>
                <a:latin typeface="Arial"/>
                <a:ea typeface="Arial"/>
                <a:cs typeface="Arial"/>
                <a:sym typeface="Arial"/>
              </a:rPr>
              <a:t>La IA prevista analizará el mercado</a:t>
            </a:r>
            <a:endParaRPr/>
          </a:p>
        </p:txBody>
      </p:sp>
      <p:sp>
        <p:nvSpPr>
          <p:cNvPr id="141" name="Google Shape;141;p12"/>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607568"/>
                </a:solidFill>
                <a:latin typeface="Arial"/>
                <a:ea typeface="Arial"/>
                <a:cs typeface="Arial"/>
                <a:sym typeface="Arial"/>
              </a:rPr>
              <a:t>blindsave.</a:t>
            </a:r>
            <a:endParaRPr/>
          </a:p>
        </p:txBody>
      </p:sp>
      <p:sp>
        <p:nvSpPr>
          <p:cNvPr id="142" name="Google Shape;142;p12"/>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568"/>
                </a:solidFill>
                <a:latin typeface="Arial"/>
                <a:ea typeface="Arial"/>
                <a:cs typeface="Arial"/>
                <a:sym typeface="Arial"/>
              </a:rPr>
              <a:t>10</a:t>
            </a:r>
            <a:endParaRPr/>
          </a:p>
        </p:txBody>
      </p:sp>
      <p:sp>
        <p:nvSpPr>
          <p:cNvPr id="143" name="Google Shape;143;p12"/>
          <p:cNvSpPr/>
          <p:nvPr/>
        </p:nvSpPr>
        <p:spPr>
          <a:xfrm>
            <a:off x="609600" y="2009775"/>
            <a:ext cx="47625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203B30"/>
                </a:solidFill>
                <a:latin typeface="Arial"/>
                <a:ea typeface="Arial"/>
                <a:cs typeface="Arial"/>
                <a:sym typeface="Arial"/>
              </a:rPr>
              <a:t>Implementado</a:t>
            </a:r>
            <a:endParaRPr/>
          </a:p>
        </p:txBody>
      </p:sp>
      <p:sp>
        <p:nvSpPr>
          <p:cNvPr id="144" name="Google Shape;144;p12"/>
          <p:cNvSpPr/>
          <p:nvPr/>
        </p:nvSpPr>
        <p:spPr>
          <a:xfrm>
            <a:off x="609600" y="2781300"/>
            <a:ext cx="4810125" cy="11144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550">
                <a:solidFill>
                  <a:srgbClr val="203B30"/>
                </a:solidFill>
                <a:latin typeface="Arial"/>
                <a:ea typeface="Arial"/>
                <a:cs typeface="Arial"/>
                <a:sym typeface="Arial"/>
              </a:rPr>
              <a:t>Comparación matemática</a:t>
            </a:r>
            <a:endParaRPr/>
          </a:p>
          <a:p>
            <a:pPr indent="0" lvl="0" marL="0" marR="0" rtl="0" algn="l">
              <a:spcBef>
                <a:spcPts val="0"/>
              </a:spcBef>
              <a:spcAft>
                <a:spcPts val="0"/>
              </a:spcAft>
              <a:buNone/>
            </a:pPr>
            <a:r>
              <a:rPr b="0" lang="en-US" sz="2550">
                <a:solidFill>
                  <a:srgbClr val="203B30"/>
                </a:solidFill>
                <a:latin typeface="Arial"/>
                <a:ea typeface="Arial"/>
                <a:cs typeface="Arial"/>
                <a:sym typeface="Arial"/>
              </a:rPr>
              <a:t>con precios estructurados.</a:t>
            </a:r>
            <a:endParaRPr/>
          </a:p>
        </p:txBody>
      </p:sp>
      <p:sp>
        <p:nvSpPr>
          <p:cNvPr id="145" name="Google Shape;145;p12"/>
          <p:cNvSpPr/>
          <p:nvPr/>
        </p:nvSpPr>
        <p:spPr>
          <a:xfrm>
            <a:off x="609600" y="4286250"/>
            <a:ext cx="4857750" cy="1295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07568"/>
                </a:solidFill>
                <a:latin typeface="Arial"/>
                <a:ea typeface="Arial"/>
                <a:cs typeface="Arial"/>
                <a:sym typeface="Arial"/>
              </a:rPr>
              <a:t>El esquema admite documentos</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y un campo de embeddings</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para la futura búsqueda semántica.</a:t>
            </a:r>
            <a:endParaRPr/>
          </a:p>
        </p:txBody>
      </p:sp>
      <p:sp>
        <p:nvSpPr>
          <p:cNvPr id="146" name="Google Shape;146;p12"/>
          <p:cNvSpPr/>
          <p:nvPr/>
        </p:nvSpPr>
        <p:spPr>
          <a:xfrm>
            <a:off x="6515100" y="2009775"/>
            <a:ext cx="47625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203B30"/>
                </a:solidFill>
                <a:latin typeface="Arial"/>
                <a:ea typeface="Arial"/>
                <a:cs typeface="Arial"/>
                <a:sym typeface="Arial"/>
              </a:rPr>
              <a:t>Siguiente fase</a:t>
            </a:r>
            <a:endParaRPr/>
          </a:p>
        </p:txBody>
      </p:sp>
      <p:sp>
        <p:nvSpPr>
          <p:cNvPr id="147" name="Google Shape;147;p12"/>
          <p:cNvSpPr/>
          <p:nvPr/>
        </p:nvSpPr>
        <p:spPr>
          <a:xfrm>
            <a:off x="6515100" y="2781300"/>
            <a:ext cx="4857750" cy="11144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550">
                <a:solidFill>
                  <a:srgbClr val="203B30"/>
                </a:solidFill>
                <a:latin typeface="Arial"/>
                <a:ea typeface="Arial"/>
                <a:cs typeface="Arial"/>
                <a:sym typeface="Arial"/>
              </a:rPr>
              <a:t>Extraer condiciones públicas</a:t>
            </a:r>
            <a:endParaRPr/>
          </a:p>
          <a:p>
            <a:pPr indent="0" lvl="0" marL="0" marR="0" rtl="0" algn="l">
              <a:spcBef>
                <a:spcPts val="0"/>
              </a:spcBef>
              <a:spcAft>
                <a:spcPts val="0"/>
              </a:spcAft>
              <a:buNone/>
            </a:pPr>
            <a:r>
              <a:rPr b="0" lang="en-US" sz="2550">
                <a:solidFill>
                  <a:srgbClr val="203B30"/>
                </a:solidFill>
                <a:latin typeface="Arial"/>
                <a:ea typeface="Arial"/>
                <a:cs typeface="Arial"/>
                <a:sym typeface="Arial"/>
              </a:rPr>
              <a:t>y responder con fuentes.</a:t>
            </a:r>
            <a:endParaRPr/>
          </a:p>
        </p:txBody>
      </p:sp>
      <p:sp>
        <p:nvSpPr>
          <p:cNvPr id="148" name="Google Shape;148;p12"/>
          <p:cNvSpPr/>
          <p:nvPr/>
        </p:nvSpPr>
        <p:spPr>
          <a:xfrm>
            <a:off x="6515100" y="4286250"/>
            <a:ext cx="4857750" cy="1295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07568"/>
                </a:solidFill>
                <a:latin typeface="Arial"/>
                <a:ea typeface="Arial"/>
                <a:cs typeface="Arial"/>
                <a:sym typeface="Arial"/>
              </a:rPr>
              <a:t>Revisión antes de publicar precios.</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Respuestas que citen la evidencia</a:t>
            </a:r>
            <a:endParaRPr/>
          </a:p>
          <a:p>
            <a:pPr indent="0" lvl="0" marL="0" marR="0" rtl="0" algn="l">
              <a:spcBef>
                <a:spcPts val="0"/>
              </a:spcBef>
              <a:spcAft>
                <a:spcPts val="0"/>
              </a:spcAft>
              <a:buNone/>
            </a:pPr>
            <a:r>
              <a:rPr b="0" lang="en-US" sz="1875">
                <a:solidFill>
                  <a:srgbClr val="607568"/>
                </a:solidFill>
                <a:latin typeface="Arial"/>
                <a:ea typeface="Arial"/>
                <a:cs typeface="Arial"/>
                <a:sym typeface="Arial"/>
              </a:rPr>
              <a:t>y reconozcan cuándo falta información.</a:t>
            </a:r>
            <a:endParaRPr/>
          </a:p>
        </p:txBody>
      </p:sp>
      <p:sp>
        <p:nvSpPr>
          <p:cNvPr id="149" name="Google Shape;149;p12"/>
          <p:cNvSpPr/>
          <p:nvPr/>
        </p:nvSpPr>
        <p:spPr>
          <a:xfrm>
            <a:off x="609600" y="5895975"/>
            <a:ext cx="10858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425">
                <a:solidFill>
                  <a:srgbClr val="607568"/>
                </a:solidFill>
                <a:latin typeface="Arial"/>
                <a:ea typeface="Arial"/>
                <a:cs typeface="Arial"/>
                <a:sym typeface="Arial"/>
              </a:rPr>
              <a:t>El chatbot y la ingesta automática todavía no están implementados.</a:t>
            </a:r>
            <a:endParaRPr/>
          </a:p>
        </p:txBody>
      </p:sp>
      <p:pic xmlns:p="http://schemas.openxmlformats.org/presentationml/2006/main" xmlns:a="http://schemas.openxmlformats.org/drawingml/2006/main" xmlns:r="http://schemas.openxmlformats.org/officeDocument/2006/relationships">
        <p:nvPicPr>
          <p:cNvPr id="110" name="AIImage"/>
          <p:cNvPicPr preferRelativeResize="0"/>
          <p:nvPr/>
        </p:nvPicPr>
        <p:blipFill rotWithShape="1">
          <a:blip r:embed="rId3">
            <a:alphaModFix/>
          </a:blip>
          <a:srcRect b="0" l="0" r="0" t="0"/>
          <a:stretch/>
        </p:blipFill>
        <p:spPr>
          <a:xfrm>
            <a:off x="6500000" y="1700000"/>
            <a:ext cx="5100000" cy="3600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2"/>
        </a:solidFill>
      </p:bgPr>
    </p:bg>
    <p:spTree>
      <p:nvGrpSpPr>
        <p:cNvPr id="154" name="Shape 154"/>
        <p:cNvGrpSpPr/>
        <p:nvPr/>
      </p:nvGrpSpPr>
      <p:grpSpPr>
        <a:xfrm>
          <a:off x="0" y="0"/>
          <a:ext cx="0" cy="0"/>
          <a:chOff x="0" y="0"/>
          <a:chExt cx="0" cy="0"/>
        </a:xfrm>
      </p:grpSpPr>
      <p:sp>
        <p:nvSpPr>
          <p:cNvPr id="155" name="Google Shape;155;p13"/>
          <p:cNvSpPr/>
          <p:nvPr/>
        </p:nvSpPr>
        <p:spPr>
          <a:xfrm>
            <a:off x="609600" y="571500"/>
            <a:ext cx="109347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03B30"/>
                </a:solidFill>
                <a:latin typeface="Arial"/>
                <a:ea typeface="Arial"/>
                <a:cs typeface="Arial"/>
                <a:sym typeface="Arial"/>
              </a:rPr>
              <a:t>Posibilidades más allá de la electricidad</a:t>
            </a:r>
            <a:endParaRPr/>
          </a:p>
        </p:txBody>
      </p:sp>
      <p:sp>
        <p:nvSpPr>
          <p:cNvPr id="156" name="Google Shape;156;p13"/>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607568"/>
                </a:solidFill>
                <a:latin typeface="Arial"/>
                <a:ea typeface="Arial"/>
                <a:cs typeface="Arial"/>
                <a:sym typeface="Arial"/>
              </a:rPr>
              <a:t>blindsave.</a:t>
            </a:r>
            <a:endParaRPr/>
          </a:p>
        </p:txBody>
      </p:sp>
      <p:sp>
        <p:nvSpPr>
          <p:cNvPr id="157" name="Google Shape;157;p13"/>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568"/>
                </a:solidFill>
                <a:latin typeface="Arial"/>
                <a:ea typeface="Arial"/>
                <a:cs typeface="Arial"/>
                <a:sym typeface="Arial"/>
              </a:rPr>
              <a:t>11</a:t>
            </a:r>
            <a:endParaRPr/>
          </a:p>
        </p:txBody>
      </p:sp>
      <p:graphicFrame>
        <p:nvGraphicFramePr>
          <p:cNvPr id="158" name="Google Shape;158;p13"/>
          <p:cNvGraphicFramePr/>
          <p:nvPr/>
        </p:nvGraphicFramePr>
        <p:xfrm>
          <a:off x="609600" y="1762125"/>
          <a:ext cx="3000000" cy="3000000"/>
        </p:xfrm>
        <a:graphic>
          <a:graphicData uri="http://schemas.openxmlformats.org/drawingml/2006/table">
            <a:tbl>
              <a:tblPr>
                <a:noFill/>
                <a:tableStyleId>{89026757-B4E2-4C8D-8E6D-E06A50FB6742}</a:tableStyleId>
              </a:tblPr>
              <a:tblGrid>
                <a:gridCol w="2524125"/>
                <a:gridCol w="3333750"/>
                <a:gridCol w="5095875"/>
              </a:tblGrid>
              <a:tr h="533400">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Extensión futura</a:t>
                      </a:r>
                      <a:endParaRPr/>
                    </a:p>
                  </a:txBody>
                  <a:tcPr marT="45725" marB="45725" marR="91450" marL="91450" anchor="ctr">
                    <a:solidFill>
                      <a:srgbClr val="183D30"/>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Datos mínimos</a:t>
                      </a:r>
                      <a:endParaRPr/>
                    </a:p>
                  </a:txBody>
                  <a:tcPr marT="45725" marB="45725" marR="91450" marL="91450" anchor="ctr">
                    <a:solidFill>
                      <a:srgbClr val="183D30"/>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Valor para el usuario</a:t>
                      </a:r>
                      <a:endParaRPr/>
                    </a:p>
                  </a:txBody>
                  <a:tcPr marT="45725" marB="45725" marR="91450" marL="91450" anchor="ctr">
                    <a:solidFill>
                      <a:srgbClr val="183D30"/>
                    </a:solidFill>
                  </a:tcPr>
                </a:tc>
              </a:tr>
              <a:tr h="783425">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Fibra y móvil</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Líneas, GB y velocidad</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Comparar el coste fuera de promoción</a:t>
                      </a:r>
                      <a:endParaRPr/>
                    </a:p>
                  </a:txBody>
                  <a:tcPr marT="45725" marB="45725" marR="91450" marL="91450" anchor="ctr">
                    <a:solidFill>
                      <a:srgbClr val="FFFFFF"/>
                    </a:solidFill>
                  </a:tcPr>
                </a:tc>
              </a:tr>
              <a:tr h="783425">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Gas natural</a:t>
                      </a:r>
                      <a:endParaRPr/>
                    </a:p>
                  </a:txBody>
                  <a:tcPr marT="45725" marB="45725" marR="91450" marL="91450" anchor="ctr">
                    <a:solidFill>
                      <a:srgbClr val="EEF2E8"/>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Peaje y consumo en kWh</a:t>
                      </a:r>
                      <a:endParaRPr/>
                    </a:p>
                  </a:txBody>
                  <a:tcPr marT="45725" marB="45725" marR="91450" marL="91450" anchor="ctr">
                    <a:solidFill>
                      <a:srgbClr val="EEF2E8"/>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Contrastar ofertas y costes asociados</a:t>
                      </a:r>
                      <a:endParaRPr/>
                    </a:p>
                  </a:txBody>
                  <a:tcPr marT="45725" marB="45725" marR="91450" marL="91450" anchor="ctr">
                    <a:solidFill>
                      <a:srgbClr val="EEF2E8"/>
                    </a:solidFill>
                  </a:tcPr>
                </a:tc>
              </a:tr>
              <a:tr h="783425">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Suscripciones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Servicios e importes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Identificar duplicidades y planes alternativos</a:t>
                      </a:r>
                      <a:endParaRPr/>
                    </a:p>
                  </a:txBody>
                  <a:tcPr marT="45725" marB="45725" marR="91450" marL="91450" anchor="ctr">
                    <a:solidFill>
                      <a:srgbClr val="FFFFFF"/>
                    </a:solidFill>
                  </a:tcPr>
                </a:tc>
              </a:tr>
              <a:tr h="783425">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Historial opcional</a:t>
                      </a:r>
                      <a:endParaRPr/>
                    </a:p>
                  </a:txBody>
                  <a:tcPr marT="45725" marB="45725" marR="91450" marL="91450" anchor="ctr">
                    <a:solidFill>
                      <a:srgbClr val="EEF2E8"/>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Consentimiento y cuenta</a:t>
                      </a:r>
                      <a:endParaRPr/>
                    </a:p>
                  </a:txBody>
                  <a:tcPr marT="45725" marB="45725" marR="91450" marL="91450" anchor="ctr">
                    <a:solidFill>
                      <a:srgbClr val="EEF2E8"/>
                    </a:solidFill>
                  </a:tcPr>
                </a:tc>
                <a:tc>
                  <a:txBody>
                    <a:bodyPr/>
                    <a:lstStyle/>
                    <a:p>
                      <a:pPr indent="0" lvl="0" marL="0" marR="0" rtl="0" algn="l">
                        <a:spcBef>
                          <a:spcPts val="0"/>
                        </a:spcBef>
                        <a:spcAft>
                          <a:spcPts val="0"/>
                        </a:spcAft>
                        <a:buClr>
                          <a:srgbClr val="203B30"/>
                        </a:buClr>
                        <a:buSzPts val="1725"/>
                        <a:buFont typeface="Arial"/>
                        <a:buNone/>
                      </a:pPr>
                      <a:r>
                        <a:rPr b="0" lang="en-US" sz="1725">
                          <a:solidFill>
                            <a:srgbClr val="203B30"/>
                          </a:solidFill>
                          <a:latin typeface="Arial"/>
                          <a:ea typeface="Arial"/>
                          <a:cs typeface="Arial"/>
                          <a:sym typeface="Arial"/>
                        </a:rPr>
                        <a:t>Revisar cómo cambian las alternativas</a:t>
                      </a:r>
                      <a:endParaRPr/>
                    </a:p>
                  </a:txBody>
                  <a:tcPr marT="45725" marB="45725" marR="91450" marL="91450" anchor="ctr">
                    <a:solidFill>
                      <a:srgbClr val="EEF2E8"/>
                    </a:solidFill>
                  </a:tcPr>
                </a:tc>
              </a:tr>
            </a:tbl>
          </a:graphicData>
        </a:graphic>
      </p:graphicFrame>
      <p:sp>
        <p:nvSpPr>
          <p:cNvPr id="159" name="Google Shape;159;p13"/>
          <p:cNvSpPr/>
          <p:nvPr/>
        </p:nvSpPr>
        <p:spPr>
          <a:xfrm>
            <a:off x="609600" y="5743575"/>
            <a:ext cx="108585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203B30"/>
                </a:solidFill>
                <a:latin typeface="Arial"/>
                <a:ea typeface="Arial"/>
                <a:cs typeface="Arial"/>
                <a:sym typeface="Arial"/>
              </a:rPr>
              <a:t>Cada extensión conserva el principio de pedir solo los datos necesarios.</a:t>
            </a:r>
            <a:endParaRPr/>
          </a:p>
        </p:txBody>
      </p:sp>
      <p:pic xmlns:p="http://schemas.openxmlformats.org/presentationml/2006/main" xmlns:a="http://schemas.openxmlformats.org/drawingml/2006/main" xmlns:r="http://schemas.openxmlformats.org/officeDocument/2006/relationships">
        <p:nvPicPr>
          <p:cNvPr id="111" name="EcosystemImage"/>
          <p:cNvPicPr preferRelativeResize="0"/>
          <p:nvPr/>
        </p:nvPicPr>
        <p:blipFill rotWithShape="1">
          <a:blip r:embed="rId3">
            <a:alphaModFix/>
          </a:blip>
          <a:srcRect b="0" l="0" r="0" t="0"/>
          <a:stretch/>
        </p:blipFill>
        <p:spPr>
          <a:xfrm>
            <a:off x="6800000" y="1700000"/>
            <a:ext cx="4800000" cy="3400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2"/>
        </a:solidFill>
      </p:bgPr>
    </p:bg>
    <p:spTree>
      <p:nvGrpSpPr>
        <p:cNvPr id="164" name="Shape 164"/>
        <p:cNvGrpSpPr/>
        <p:nvPr/>
      </p:nvGrpSpPr>
      <p:grpSpPr>
        <a:xfrm>
          <a:off x="0" y="0"/>
          <a:ext cx="0" cy="0"/>
          <a:chOff x="0" y="0"/>
          <a:chExt cx="0" cy="0"/>
        </a:xfrm>
      </p:grpSpPr>
      <p:sp>
        <p:nvSpPr>
          <p:cNvPr id="165" name="Google Shape;165;p14"/>
          <p:cNvSpPr/>
          <p:nvPr/>
        </p:nvSpPr>
        <p:spPr>
          <a:xfrm>
            <a:off x="609600" y="571500"/>
            <a:ext cx="109347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03B30"/>
                </a:solidFill>
                <a:latin typeface="Arial"/>
                <a:ea typeface="Arial"/>
                <a:cs typeface="Arial"/>
                <a:sym typeface="Arial"/>
              </a:rPr>
              <a:t>La primera versión ya tiene una base funcional</a:t>
            </a:r>
            <a:endParaRPr/>
          </a:p>
        </p:txBody>
      </p:sp>
      <p:sp>
        <p:nvSpPr>
          <p:cNvPr id="166" name="Google Shape;166;p14"/>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607568"/>
                </a:solidFill>
                <a:latin typeface="Arial"/>
                <a:ea typeface="Arial"/>
                <a:cs typeface="Arial"/>
                <a:sym typeface="Arial"/>
              </a:rPr>
              <a:t>blindsave.</a:t>
            </a:r>
            <a:endParaRPr/>
          </a:p>
        </p:txBody>
      </p:sp>
      <p:sp>
        <p:nvSpPr>
          <p:cNvPr id="167" name="Google Shape;167;p14"/>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568"/>
                </a:solidFill>
                <a:latin typeface="Arial"/>
                <a:ea typeface="Arial"/>
                <a:cs typeface="Arial"/>
                <a:sym typeface="Arial"/>
              </a:rPr>
              <a:t>12</a:t>
            </a:r>
            <a:endParaRPr/>
          </a:p>
        </p:txBody>
      </p:sp>
      <p:sp>
        <p:nvSpPr>
          <p:cNvPr id="168" name="Google Shape;168;p14"/>
          <p:cNvSpPr/>
          <p:nvPr/>
        </p:nvSpPr>
        <p:spPr>
          <a:xfrm>
            <a:off x="609600" y="2009775"/>
            <a:ext cx="4762500" cy="5048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50">
                <a:solidFill>
                  <a:srgbClr val="203B30"/>
                </a:solidFill>
                <a:latin typeface="Arial"/>
                <a:ea typeface="Arial"/>
                <a:cs typeface="Arial"/>
                <a:sym typeface="Arial"/>
              </a:rPr>
              <a:t>Ya funciona</a:t>
            </a:r>
            <a:endParaRPr/>
          </a:p>
        </p:txBody>
      </p:sp>
      <p:sp>
        <p:nvSpPr>
          <p:cNvPr id="169" name="Google Shape;169;p14"/>
          <p:cNvSpPr/>
          <p:nvPr/>
        </p:nvSpPr>
        <p:spPr>
          <a:xfrm>
            <a:off x="609600" y="2838450"/>
            <a:ext cx="5067300" cy="2181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203B30"/>
                </a:solidFill>
                <a:latin typeface="Arial"/>
                <a:ea typeface="Arial"/>
                <a:cs typeface="Arial"/>
                <a:sym typeface="Arial"/>
              </a:rPr>
              <a:t>Entrada manual y CSV</a:t>
            </a:r>
            <a:endParaRPr/>
          </a:p>
          <a:p>
            <a:pPr indent="0" lvl="0" marL="0" marR="0" rtl="0" algn="l">
              <a:spcBef>
                <a:spcPts val="0"/>
              </a:spcBef>
              <a:spcAft>
                <a:spcPts val="0"/>
              </a:spcAft>
              <a:buNone/>
            </a:pPr>
            <a:r>
              <a:rPr b="0" lang="en-US" sz="2100">
                <a:solidFill>
                  <a:srgbClr val="203B30"/>
                </a:solidFill>
                <a:latin typeface="Arial"/>
                <a:ea typeface="Arial"/>
                <a:cs typeface="Arial"/>
                <a:sym typeface="Arial"/>
              </a:rPr>
              <a:t>Comparación y desglose de costes</a:t>
            </a:r>
            <a:endParaRPr/>
          </a:p>
          <a:p>
            <a:pPr indent="0" lvl="0" marL="0" marR="0" rtl="0" algn="l">
              <a:spcBef>
                <a:spcPts val="0"/>
              </a:spcBef>
              <a:spcAft>
                <a:spcPts val="0"/>
              </a:spcAft>
              <a:buNone/>
            </a:pPr>
            <a:r>
              <a:rPr b="0" lang="en-US" sz="2100">
                <a:solidFill>
                  <a:srgbClr val="203B30"/>
                </a:solidFill>
                <a:latin typeface="Arial"/>
                <a:ea typeface="Arial"/>
                <a:cs typeface="Arial"/>
                <a:sym typeface="Arial"/>
              </a:rPr>
              <a:t>Gráficas y condiciones</a:t>
            </a:r>
            <a:endParaRPr/>
          </a:p>
          <a:p>
            <a:pPr indent="0" lvl="0" marL="0" marR="0" rtl="0" algn="l">
              <a:spcBef>
                <a:spcPts val="0"/>
              </a:spcBef>
              <a:spcAft>
                <a:spcPts val="0"/>
              </a:spcAft>
              <a:buNone/>
            </a:pPr>
            <a:r>
              <a:rPr b="0" lang="en-US" sz="2100">
                <a:solidFill>
                  <a:srgbClr val="203B30"/>
                </a:solidFill>
                <a:latin typeface="Arial"/>
                <a:ea typeface="Arial"/>
                <a:cs typeface="Arial"/>
                <a:sym typeface="Arial"/>
              </a:rPr>
              <a:t>Pruebas de lógica y seguridad</a:t>
            </a:r>
            <a:endParaRPr/>
          </a:p>
        </p:txBody>
      </p:sp>
      <p:sp>
        <p:nvSpPr>
          <p:cNvPr id="170" name="Google Shape;170;p14"/>
          <p:cNvSpPr/>
          <p:nvPr/>
        </p:nvSpPr>
        <p:spPr>
          <a:xfrm>
            <a:off x="6515100" y="2009775"/>
            <a:ext cx="5095875" cy="5048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50">
                <a:solidFill>
                  <a:srgbClr val="203B30"/>
                </a:solidFill>
                <a:latin typeface="Arial"/>
                <a:ea typeface="Arial"/>
                <a:cs typeface="Arial"/>
                <a:sym typeface="Arial"/>
              </a:rPr>
              <a:t>Próximo hito: servicio real</a:t>
            </a:r>
            <a:endParaRPr/>
          </a:p>
        </p:txBody>
      </p:sp>
      <p:sp>
        <p:nvSpPr>
          <p:cNvPr id="171" name="Google Shape;171;p14"/>
          <p:cNvSpPr/>
          <p:nvPr/>
        </p:nvSpPr>
        <p:spPr>
          <a:xfrm>
            <a:off x="6515100" y="2838450"/>
            <a:ext cx="5105400" cy="2181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607568"/>
                </a:solidFill>
                <a:latin typeface="Arial"/>
                <a:ea typeface="Arial"/>
                <a:cs typeface="Arial"/>
                <a:sym typeface="Arial"/>
              </a:rPr>
              <a:t>Conectar el proyecto Supabase</a:t>
            </a:r>
            <a:endParaRPr/>
          </a:p>
          <a:p>
            <a:pPr indent="0" lvl="0" marL="0" marR="0" rtl="0" algn="l">
              <a:spcBef>
                <a:spcPts val="0"/>
              </a:spcBef>
              <a:spcAft>
                <a:spcPts val="0"/>
              </a:spcAft>
              <a:buNone/>
            </a:pPr>
            <a:r>
              <a:rPr b="0" lang="en-US" sz="2100">
                <a:solidFill>
                  <a:srgbClr val="607568"/>
                </a:solidFill>
                <a:latin typeface="Arial"/>
                <a:ea typeface="Arial"/>
                <a:cs typeface="Arial"/>
                <a:sym typeface="Arial"/>
              </a:rPr>
              <a:t>Publicar tarifas verificadas</a:t>
            </a:r>
            <a:endParaRPr/>
          </a:p>
          <a:p>
            <a:pPr indent="0" lvl="0" marL="0" marR="0" rtl="0" algn="l">
              <a:spcBef>
                <a:spcPts val="0"/>
              </a:spcBef>
              <a:spcAft>
                <a:spcPts val="0"/>
              </a:spcAft>
              <a:buNone/>
            </a:pPr>
            <a:r>
              <a:rPr b="0" lang="en-US" sz="2100">
                <a:solidFill>
                  <a:srgbClr val="607568"/>
                </a:solidFill>
                <a:latin typeface="Arial"/>
                <a:ea typeface="Arial"/>
                <a:cs typeface="Arial"/>
                <a:sym typeface="Arial"/>
              </a:rPr>
              <a:t>Configurar protección y retención</a:t>
            </a:r>
            <a:endParaRPr/>
          </a:p>
          <a:p>
            <a:pPr indent="0" lvl="0" marL="0" marR="0" rtl="0" algn="l">
              <a:spcBef>
                <a:spcPts val="0"/>
              </a:spcBef>
              <a:spcAft>
                <a:spcPts val="0"/>
              </a:spcAft>
              <a:buNone/>
            </a:pPr>
            <a:r>
              <a:rPr b="0" lang="en-US" sz="2100">
                <a:solidFill>
                  <a:srgbClr val="607568"/>
                </a:solidFill>
                <a:latin typeface="Arial"/>
                <a:ea typeface="Arial"/>
                <a:cs typeface="Arial"/>
                <a:sym typeface="Arial"/>
              </a:rPr>
              <a:t>Validar el despliegue completo</a:t>
            </a:r>
            <a:endParaRPr/>
          </a:p>
        </p:txBody>
      </p:sp>
      <p:sp>
        <p:nvSpPr>
          <p:cNvPr id="172" name="Google Shape;172;p14"/>
          <p:cNvSpPr/>
          <p:nvPr/>
        </p:nvSpPr>
        <p:spPr>
          <a:xfrm>
            <a:off x="609600" y="5591175"/>
            <a:ext cx="10906125" cy="704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607568"/>
                </a:solidFill>
                <a:latin typeface="Arial"/>
                <a:ea typeface="Arial"/>
                <a:cs typeface="Arial"/>
                <a:sym typeface="Arial"/>
              </a:rPr>
              <a:t>La demostración actual usa tarifas ficticias. El lanzamiento necesita un catálogo real.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3D30"/>
        </a:solidFill>
      </p:bgPr>
    </p:bg>
    <p:spTree>
      <p:nvGrpSpPr>
        <p:cNvPr id="177" name="Shape 177"/>
        <p:cNvGrpSpPr/>
        <p:nvPr/>
      </p:nvGrpSpPr>
      <p:grpSpPr>
        <a:xfrm>
          <a:off x="0" y="0"/>
          <a:ext cx="0" cy="0"/>
          <a:chOff x="0" y="0"/>
          <a:chExt cx="0" cy="0"/>
        </a:xfrm>
      </p:grpSpPr>
      <p:sp>
        <p:nvSpPr>
          <p:cNvPr id="178" name="Google Shape;178;p15"/>
          <p:cNvSpPr/>
          <p:nvPr/>
        </p:nvSpPr>
        <p:spPr>
          <a:xfrm>
            <a:off x="609600" y="6429375"/>
            <a:ext cx="190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D8EEA4"/>
                </a:solidFill>
                <a:latin typeface="Arial"/>
                <a:ea typeface="Arial"/>
                <a:cs typeface="Arial"/>
                <a:sym typeface="Arial"/>
              </a:rPr>
              <a:t>blindsave.</a:t>
            </a:r>
            <a:endParaRPr/>
          </a:p>
        </p:txBody>
      </p:sp>
      <p:sp>
        <p:nvSpPr>
          <p:cNvPr id="179" name="Google Shape;179;p15"/>
          <p:cNvSpPr/>
          <p:nvPr/>
        </p:nvSpPr>
        <p:spPr>
          <a:xfrm>
            <a:off x="11144250" y="6429375"/>
            <a:ext cx="457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D8EEA4"/>
                </a:solidFill>
                <a:latin typeface="Arial"/>
                <a:ea typeface="Arial"/>
                <a:cs typeface="Arial"/>
                <a:sym typeface="Arial"/>
              </a:rPr>
              <a:t>13</a:t>
            </a:r>
            <a:endParaRPr/>
          </a:p>
        </p:txBody>
      </p:sp>
      <p:sp>
        <p:nvSpPr>
          <p:cNvPr id="180" name="Google Shape;180;p15"/>
          <p:cNvSpPr/>
          <p:nvPr/>
        </p:nvSpPr>
        <p:spPr>
          <a:xfrm>
            <a:off x="609600" y="857250"/>
            <a:ext cx="1076325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D8EEA4"/>
                </a:solidFill>
                <a:latin typeface="Arial"/>
                <a:ea typeface="Arial"/>
                <a:cs typeface="Arial"/>
                <a:sym typeface="Arial"/>
              </a:rPr>
              <a:t>El valor de BlindSave</a:t>
            </a:r>
            <a:endParaRPr/>
          </a:p>
        </p:txBody>
      </p:sp>
      <p:sp>
        <p:nvSpPr>
          <p:cNvPr id="181" name="Google Shape;181;p15"/>
          <p:cNvSpPr/>
          <p:nvPr/>
        </p:nvSpPr>
        <p:spPr>
          <a:xfrm>
            <a:off x="609600" y="2247900"/>
            <a:ext cx="10858500" cy="2362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575">
                <a:solidFill>
                  <a:srgbClr val="FFFFFF"/>
                </a:solidFill>
                <a:latin typeface="Arial"/>
                <a:ea typeface="Arial"/>
                <a:cs typeface="Arial"/>
                <a:sym typeface="Arial"/>
              </a:rPr>
              <a:t>Entender lo que pago.</a:t>
            </a:r>
            <a:endParaRPr/>
          </a:p>
          <a:p>
            <a:pPr indent="0" lvl="0" marL="0" marR="0" rtl="0" algn="l">
              <a:spcBef>
                <a:spcPts val="0"/>
              </a:spcBef>
              <a:spcAft>
                <a:spcPts val="0"/>
              </a:spcAft>
              <a:buNone/>
            </a:pPr>
            <a:r>
              <a:rPr b="1" lang="en-US" sz="4575">
                <a:solidFill>
                  <a:srgbClr val="FFFFFF"/>
                </a:solidFill>
                <a:latin typeface="Arial"/>
                <a:ea typeface="Arial"/>
                <a:cs typeface="Arial"/>
                <a:sym typeface="Arial"/>
              </a:rPr>
              <a:t>Comparar con criterio.</a:t>
            </a:r>
            <a:endParaRPr/>
          </a:p>
          <a:p>
            <a:pPr indent="0" lvl="0" marL="0" marR="0" rtl="0" algn="l">
              <a:spcBef>
                <a:spcPts val="0"/>
              </a:spcBef>
              <a:spcAft>
                <a:spcPts val="0"/>
              </a:spcAft>
              <a:buNone/>
            </a:pPr>
            <a:r>
              <a:rPr b="1" lang="en-US" sz="4575">
                <a:solidFill>
                  <a:srgbClr val="FFFFFF"/>
                </a:solidFill>
                <a:latin typeface="Arial"/>
                <a:ea typeface="Arial"/>
                <a:cs typeface="Arial"/>
                <a:sym typeface="Arial"/>
              </a:rPr>
              <a:t>Compartir menos datos.</a:t>
            </a:r>
            <a:endParaRPr/>
          </a:p>
        </p:txBody>
      </p:sp>
      <p:sp>
        <p:nvSpPr>
          <p:cNvPr id="182" name="Google Shape;182;p15"/>
          <p:cNvSpPr/>
          <p:nvPr/>
        </p:nvSpPr>
        <p:spPr>
          <a:xfrm>
            <a:off x="609600" y="5181600"/>
            <a:ext cx="10858500" cy="9239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C1D1C5"/>
                </a:solidFill>
                <a:latin typeface="Arial"/>
                <a:ea typeface="Arial"/>
                <a:cs typeface="Arial"/>
                <a:sym typeface="Arial"/>
              </a:rPr>
              <a:t>Una primera aplicación eléctrica con una visión más amplia:</a:t>
            </a:r>
            <a:endParaRPr/>
          </a:p>
          <a:p>
            <a:pPr indent="0" lvl="0" marL="0" marR="0" rtl="0" algn="l">
              <a:spcBef>
                <a:spcPts val="0"/>
              </a:spcBef>
              <a:spcAft>
                <a:spcPts val="0"/>
              </a:spcAft>
              <a:buNone/>
            </a:pPr>
            <a:r>
              <a:rPr b="0" lang="en-US" sz="2175">
                <a:solidFill>
                  <a:srgbClr val="C1D1C5"/>
                </a:solidFill>
                <a:latin typeface="Arial"/>
                <a:ea typeface="Arial"/>
                <a:cs typeface="Arial"/>
                <a:sym typeface="Arial"/>
              </a:rPr>
              <a:t>ayudar a decidir sobre los gastos fijos.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